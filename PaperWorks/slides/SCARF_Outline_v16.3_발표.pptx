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31217E1E-92EA-41FE-9F74-8245E758A21D}">
          <p14:sldIdLst>
            <p14:sldId id="256"/>
            <p14:sldId id="257"/>
            <p14:sldId id="258"/>
          </p14:sldIdLst>
        </p14:section>
        <p14:section name="01 문제 정의" id="{878B4D1C-378D-4382-A657-A110F9E8ED67}">
          <p14:sldIdLst>
            <p14:sldId id="259"/>
            <p14:sldId id="260"/>
            <p14:sldId id="261"/>
            <p14:sldId id="262"/>
          </p14:sldIdLst>
        </p14:section>
        <p14:section name="02 방법" id="{0AAC8E61-193E-46C4-8F1C-D18769696294}">
          <p14:sldIdLst>
            <p14:sldId id="263"/>
            <p14:sldId id="264"/>
            <p14:sldId id="265"/>
            <p14:sldId id="266"/>
            <p14:sldId id="267"/>
          </p14:sldIdLst>
        </p14:section>
        <p14:section name="03 실험 결과" id="{A7988662-55AC-4A7A-AD98-94F6B2FAE25C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4 Ablation" id="{7700132C-B2B1-45B2-BC6D-3F5A7A9F8004}">
          <p14:sldIdLst>
            <p14:sldId id="274"/>
            <p14:sldId id="275"/>
            <p14:sldId id="276"/>
            <p14:sldId id="277"/>
            <p14:sldId id="278"/>
          </p14:sldIdLst>
        </p14:section>
        <p14:section name="05 논의" id="{AA3E5CBC-6846-4F6F-A569-1E8B1BEDEE3D}">
          <p14:sldIdLst>
            <p14:sldId id="279"/>
            <p14:sldId id="280"/>
            <p14:sldId id="281"/>
          </p14:sldIdLst>
        </p14:section>
        <p14:section name="Appendix A" id="{F5673FA0-5D92-4448-9837-A9390BCE3414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문서: PaperWorks/outlines/Outline_v16.3.md (CVPR/WACV 제출용 아웃라인). 발표자 이름·소속 표기는 확인 후 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용어: Support = 제품별 정상 이미지 1–16장(라벨 없음), Query = 검사할 이미지, Bank = support 패치 특징 저장소, pAUROC@0.05 = 같은 FPR 구간의 픽셀 단위 ROC 면적.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요구 사항: 정상 수준 신호는 점수 누적을 막고, 정상 범위를 명백히 넘는 반응만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선형합 z_d + λ·z5와 달리 정상 변동을 0으로 잘라내 가중치 탐색이 필요 없음. z5 ≤ τ5 → S = z_d, z5 &gt; τ5 → S = z_d + (z5 − τ5).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Support-Calibrated Asymmetric Residual Fusion</a:t>
            </a:r>
          </a:p>
        </p:txBody>
      </p:sp>
      <p:sp>
        <p:nvSpPr>
          <p:cNvPr id="5" name="Subtitle2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소수 정상 이미지 기반 산업 결함 국소화를 위한 척도 보정·비대칭 잔차 결합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v16.3 발표  ·  2026-10-03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흐름 │ 문제 → 방법 → 주 결과 → 소거·분석 → 남은 검증 순으로 진행한다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01 문제 정의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왜 "큰 거리 = 결함"이 아닌가, 관측을 늘리면 무엇이 문제인가 (4–7쪽)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02 방법 SCARF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척도 보정과 비대칭 잔차 결합의 계산과 실제 맵 (8–12쪽)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few-shot 주 비교, 공식 private, 조명·합성 손상 변화 (13–18쪽)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04 Ablation · 분석: 어느 장치가 이득을 만드는가, 비용은? (19–23쪽)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05 논의와 향후 계획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한계와 아직 비어 있는 검증 (24–26쪽)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Appendix 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결과 표 원본, 비교군 설정, 고정 사양 (A-1–A-9)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Shallow를 "초과분만" 더하는 규칙으로 AD2 저-FPR 국소화에서 가장 높은 성능을 얻었다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5248656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큰 거리는 결함인가?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변동도 큰 거리를 내 저-FPR 오경보를 유발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5·6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층·해상도 점수를 어떻게 합칠까?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q95로 단위 통일 + Shallow는 q99 초과분만 가산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10·11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few-shot에서 경쟁력은?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AUPRO@0.05 1위, 16-shot SuperAD +4.47pp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조명·손상 변화에서는?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Shift 1–3·밝기·대비는 안정, Gaussian noise는 약함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17·18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소거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보정 + 게이트가 함께 있어야 Deep-only 초과 (+0.47pp)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저샷 순이득 불안정, 선형 가중·Hard Gate·q/β 민감도 미완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20·25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배경: 정상 몇 장으로 결함 위치 찾기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목적 │ 재학습 없이 정상 1–16장만으로, 오경보가 적은 구간에서 결함 영역을 짚는다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동결 DINOv2 패치를 정상 패치 뱅크와 비교 → 가장 가까운 정상 패치와의 거리 = 결함 점수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왜 저-FPR인가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공정에서 오경보는 라인 정지 비용 → 낮은 FPR 구간 성능이 실사용 성능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hazelnut, SCARF 결함 맵 (그림 M3에서 발췌). 출처: PaperWorks/outlines/Outline_v16.3.md §1.1, 표 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363" y="2660904"/>
            <a:ext cx="672336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①: 큰 거리가 항상 결함은 아니다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원인 │ 정상 16장은 조명·자세·반사 변화를 다 담지 못해 처음 보는 정상도 멀게 나온다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맑은 날 사진만 본 검사원은 흐린 날 찍힌 정상품도 "처음 보는 모습"이라 의심함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관측의 한계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거리값 하나로는 결함인지, support에 없던 정상 변동인지 가릴 수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저-FPR에 치명적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임계값은 정상 점수의 상위 꼬리로 정해짐 → 튀는 정상이 임계값을 끌어올림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High-Score Ambiguity. 출처: PaperWorks/outlines/Outline_v16.3.md §1.1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②: 얕은 층을 그냥 더하면 손해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딜레마 │ 얕은 층은 미세 결함을 잡지만 정상 질감에도 반응해, 그대로 더하면 결함이 묻힌다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Shallow(Layer 5): 컵 테두리·젤리 경계 같은 정상 구조에도 강하게 반응 (세 번째 열)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전체 가산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점수가 함께 올라 임계값 상승 → 이 결함의 적중 98% → 20% (네 번째 열)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근거 (AD2 16-shot): q95로 단위를 맞춘 뒤에도 전체 가산은 AUPRO@0.05 58.67 → 54.02%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그림: PaperWorks/figures/fig_rsg4_mech_fusion_ad2.png (fruit_jelly, 16-shot). 녹색 = 시각화용 1%-FPR 임계값 초과 픽셀 (해당 클래스 정상 test 이미지로 설정한 진단값, 방법에는 미사용). 수치 근거: 표 8.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pic>
        <p:nvPicPr>
          <p:cNvPr id="9" name="ContentFigure" descr="fig_rsg4_mech_fusion_ad2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104" y="2660904"/>
            <a:ext cx="822988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해법의 틀: 단위와 기여량을 따로 푼다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핵심 │ 점수 결합을 "척도 보정"과 "기여 제어" 두 축으로 나누고 둘 다 정상 support 통계로 정한다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보정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층·해상도마다 거리 눈금이 다름 → 정상 상위 5% 값으로 나눔 (cm·inch 환산처럼)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기여 제어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단위를 맞춰도 Shallow 정상 반응은 남음 → 상위 1%를 넘는 만큼만 (초과 성과급처럼)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미리보기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척도 보정만 54.02%, 둘 다 59.15% — Deep-only 58.67%를 넘는 유일한 구성 (19쪽)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Q_q = 정상 support 거리 분포(Leave-Source-Out)의 q 분위수. 출처: PaperWorks/outlines/Outline_v16.3.md §1.2–1.3, §3.3–3.4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pic>
        <p:nvPicPr>
          <p:cNvPr id="9" name="ContentFigure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43784"/>
            <a:ext cx="10917936" cy="2324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 전체 흐름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구조 │ 정상 support로 기준값을 한 번 계산하고(A), query마다 같은 규칙으로 결합한다(B)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 피팅 (1회)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층 3 × 해상도 4 × bag 4 = 48개 뱅크 → 정상끼리 매칭(LSO)해 c_m, τ5 계산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B 추론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 = d / c → S = z_d + 초과분 → bag·4개 해상도 평균 → CQ 후처리 → 최종 맵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그림: fig_scarf_overview에서 v16.3에 없는 Noise reference·Resolution route 상자를 잘라낸 것 (walnuts, r = 672 예시). 고정 사양 A-9. 출처: PaperWorks/outlines/Outline_v16.3.md §3.1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overview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373" y="2316480"/>
            <a:ext cx="7777349" cy="3855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구성: 4개 해상도 × 4개 bag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설계 │ 형태(저해상도)와 미세 결함(고해상도)을 함께 보고, bag 평균으로 표본 우연성을 줄인다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해상도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px 토큰 1개 = 짧은 변 3.1% (형태) ↔ 1120 px = 1.25% (미세 결함) → 4개 모두 사용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Bag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이미지당 256토큰을 다른 시드로 4번 추출 → bag 간 픽셀 표준편차 평균 0.038, 평균으로 완화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같은 query의 해상도별 점수 맵 (fig_rsg4_mech_resolution 윗줄). 아래: 그림 M1, bag별 맵과 평균·표준편차 (hazelnut 1120 px). 출처: PaperWorks/outlines/Outline_v16.3.md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116" y="2316480"/>
            <a:ext cx="8787862" cy="1831599"/>
          </a:xfrm>
          <a:prstGeom prst="rect">
            <a:avLst/>
          </a:prstGeom>
        </p:spPr>
      </p:pic>
      <p:pic>
        <p:nvPicPr>
          <p:cNvPr id="10" name="ContentFigure" descr="fig_rsg4_mech_bagging_no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116" y="4239519"/>
            <a:ext cx="8787862" cy="1905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Calibration: 거리 단위 통일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방법 │ 각 거리를 정상 support 거리의 95% 분위수 c_m으로 나눠 z = 1을 공통 경계로 만든다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같은 거리, 다른 뜻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 = 0.178은 Layer 5 기준(0.123)은 넘고 Layer 23 기준(0.232)은 못 넘음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환산 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 = 1.44 &gt; 1, z23 = 0.76 &lt; 1 → 두 층을 같은 눈금에서 비교 (오른쪽 아래)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c_m = Q0.95(D_m^LSO), z_m = d_m / c_m. 그림 M2: hazelnut 1120 px, bag 평균, d*는 예시값. 출처: PaperWorks/outlines/Outline_v16.3.md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920" y="2316480"/>
            <a:ext cx="7516254" cy="3855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Asymmetric Residual Fusion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방법 │ S = z_d + max(0, z5 − τ5): 정상 범위 안의 Shallow 반응은 0, 넘은 부분만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Deep만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미세 스크래치(0.85)가 정상 질감(0.65)과 거의 구분되지 않음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전체 가산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 면까지 1.90으로 올라가 오경보 위험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SCARF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질감은 0.65 그대로, 스크래치만 2.35로 올라가 둘이 확실히 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τ5 = Q0.99/Q0.95 (Layer 5 정상 거리) ≥ 1. 막대 값은 설명용 예시(실측 아님). 출처: PaperWorks/outlines/Outline_v16.3.md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pic>
        <p:nvPicPr>
          <p:cNvPr id="9" name="ContentFigure" descr="fusion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60904"/>
            <a:ext cx="10917936" cy="31266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실제 맵에서 본 잔차 결합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확인 │ 정상 껍질에서 초과분은 0이고, 균열 테두리에서만 켜져 Deep 맵에 더해진다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Shallow 전체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균열 테두리와 함께 정상 껍질 윤곽에도 반응 (z5 &gt; 1인 픽셀 8.8%)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초과분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τ5 = 1.44 이하를 잘라내면 0.05 넘는 픽셀이 4.9%로 줄고 균열 쪽에 남음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SCARF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 기준선은 그대로 두고 균열 테두리 반응만 보태 결함 경계를 보강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M3: hazelnut 1120 px, bag 평균, 같은 색 범위. 하늘색 윤곽 = GT(표시용). 출처: PaperWorks/outlines/Outline_v16.3.md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pic>
        <p:nvPicPr>
          <p:cNvPr id="9" name="ContentFigure" descr="fig_rsg4_mech_fusion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19908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설정 │ 주 비교는 조명 변화가 섞인 MVTec AD 2 test_public 8클래스, 1–16 shot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 조명 train/good에서 선택 → Shift 1–3 조명은 support에 없던 변화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Seed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SCARF·SuperAD·PatchCore는 2·16-shot만 seed 0–2 평균, 1·4·8-shot은 seed 0 단일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지표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AUPRO@0.05(주), pAUROC@0.05, I-AUROC — 연속 점수 맵에서 계산, 임계값 불필요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PaperWorks/outlines/Outline_v16.3.md §4.1 표 1–3. AnomalyDINO·FastRecon·RAD·SubspaceAD·RegAD는 모든 shot seed 0–2 평균. 비교군 설정 A-3.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2486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라벨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정상, regular 조명 (support 선택 원천)</a:t>
                      </a:r>
                    </a:p>
                  </a:txBody>
                  <a:tcPr anchor="ctr" marL="109728" marR="109728" marT="27432" marB="27432"/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(정상 379 / 결함 705)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조명, 라벨 공개 → 개발 평가</a:t>
                      </a:r>
                    </a:p>
                  </a:txBody>
                  <a:tcPr anchor="ctr" marL="109728" marR="109728" marT="27432" marB="27432"/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조명, GT는 서버 비공개</a:t>
                      </a:r>
                    </a:p>
                  </a:txBody>
                  <a:tcPr anchor="ctr" marL="109728" marR="109728" marT="27432" marB="27432"/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seen/unseen 조명 무작위 구성 (별도 split)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(AD2 test_public)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1–16 shot 모두 AUPRO@0.05 1위, 16-shot에서 SuperAD 대비 +4.47pp (59.63 vs 55.16)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격차 유지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shot에서 2위 SuperAD보다 3.67–5.06pp 높음 (차트 위 숫자)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보조 지표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pAUROC@0.05 전 shot 1위, I-AUROC는 2-shot만 SuperAD가 앞섬 (A-2)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8-class macro 평균값. 2·16-shot은 seed 0–2 평균, SCARF·SuperAD·PatchCore의 1·4·8-shot은 seed 0 단일. 각 방법은 자기 백본·입력 설정을 유지한 전체 파이프라인 비교. 표 원본 A-1. 출처: PaperWorks/outlines/Outline_v16.3.md §4.2 표 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pic>
        <p:nvPicPr>
          <p:cNvPr id="9" name="ContentFigure" descr="mai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3912"/>
            <a:ext cx="10917936" cy="38107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few-shot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한계 │ P-AUROC는 상위권과 비슷하지만 I-AUROC는 SuperAD보다 낮다 — 강점은 AD2 저-FPR 국소화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I-AUROC (1·3번째 패널): 두 데이터셋 모든 조건에서 SuperAD보다 1.2–5.0pp 낮음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P-AUROC (2·4번째 패널): 최고값과 0.33pp 이내, VisA 8·16-shot은 최고 (98.34, 98.56)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FPR 구간 지표, seed 0, MVTec AD 15·VisA 12 클래스 macro, support hash 일치. FastRecon = DINOv2 기반 프로젝트 변형. 16-shot은 VisA만 완료. 표 원본 A-4. 출처: PaperWorks/outlines/Outline_v16.3.md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pic>
        <p:nvPicPr>
          <p:cNvPr id="9" name="ContentFigure" descr="mvtec_vi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72512"/>
            <a:ext cx="10917936" cy="3509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2 공식 private 평가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정상 16장으로 AU-PRO 64.80 / 62.49% — full-data 방법과는 예산이 달라 순위를 매기지 않음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SegF1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34.84%로 SuperAD·RoBiS·SuperADD(47–57%)보다 낮음 → 고정 임계값 설계가 다음 과제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임계값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support를 뺀 train/good의 8번째 간격 샘플 픽셀 p95 × 1.421, private GT 미사용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● TESTpriv, ○ TESTpriv,mix. AU-PRO는 연속 점수 맵, SegF1은 임계값 적용. Full-data 행은 원 논문·리더보드 수치. ClassF1 포함 전체 표 A-5. 출처: PaperWorks/outlines/Outline_v16.3.md §4.3.1 표 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pic>
        <p:nvPicPr>
          <p:cNvPr id="9" name="ContentFigure" descr="private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72512"/>
            <a:ext cx="10917936" cy="34954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조명 변화 (AD2 Shift 1–3)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support에 없던 3가지 조명 모두에서 1–16 shot 전 구간 SCARF 곡선이 가장 위에 있다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읽는 법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패널 = 촬영 조건, x축 = 정상 support 수, y축 = AUPRO@0.05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 seed 0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 61.26% → Shift 1 59.40% (−1.86pp,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범례 "Ours (RSG4)" = SCARF 내부 실행명. Regular·Shift 1은 8클래스, Shift 2·3은 fruit_jelly 제외 7클래스 macro. 출처: PaperWorks/outlines/Outline_v16.3.md §4.3.2 그림 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fig_acquisition_shift_by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5352"/>
            <a:ext cx="10917936" cy="29333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합성 손상 (MVTec AD corruption)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밝기·대비 변화에서는 최고지만, Gaussian noise에서는 PatchCore보다 5.02pp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Contrast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Clean 대비 하락 SCARF −2.21pp ≈ SuperAD −2.22pp, PatchCore −6.82pp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Gaussian noise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SCARF −16.35pp로 PatchCore(−9.94)·SuperAD(−13.39)보다 크게 하락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가설 (확인 필요)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고해상도·Layer 5 관측이 고주파 노이즈에 반응해 손해를 봄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15클래스, 16-shot, seed 0, severity 3, support는 깨끗한 이미지. † DINOv2 기반 프로젝트 변형. pAUROC 포함 표 원본 A-6. 출처: PaperWorks/outlines/Outline_v16.3.md §4.3.3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pic>
        <p:nvPicPr>
          <p:cNvPr id="9" name="ContentFigure" descr="corrup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765" y="2843784"/>
            <a:ext cx="9678564" cy="33284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(AD2 16-shot)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단위 보정과 게이트가 둘 다 있어야 Deep-only(점선)를 넘는다 (+0.47pp)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읽는 법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구성이 같은 Deep 기준선을 쓰고, 위에서 아래로 Shallow 처리 장치를 추가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게이트 효과가 가장 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q95 단위에서 전체 가산 → 초과분만 가산으로 +5.13pp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교환 관계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pAUROC@0.05는 Deep-only보다 0.24pp 낮음 (77.11 vs 77.35) → 이득은 영역 단위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2 test_public, 16-shot, seed 0, full8, CQ 후처리. CQ 없이도 SCARF 58.32 vs Deep-only 57.74. Linear λ*·Hard Gate는 진행 중(25쪽). 표 원본 A-7. 출처: PaperWorks/outlines/Outline_v16.3.md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pic>
        <p:nvPicPr>
          <p:cNvPr id="9" name="ContentFigure" descr="abl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31919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저샷·다른 데이터셋 진단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한계 │ 전체 가산보다는 늘 낫지만, 1–2 shot에서는 Deep-only보다 낮은 경우가 있다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안전장치는 일관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4개 조건 모두 전체 가산(×)보다 4.31–10.80pp 높음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순이득은 조건 의존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Deep-only(■) 대비 −3.10 ~ +0.08pp, VisA 1-shot 손해가 가장 큼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가설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표본이 적어 τ5 추정이 흔들림 → bank 4배(○)면 4개 조건 모두 +0.46~+5.38pp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0, 4개 해상도, bag 4, CQ. MVTec AD 15·VisA 12 클래스 macro, development/post-hoc 진단. cap1024 비용: fit 86.7 → 116.4 s/class, query 5.39 → 5.98 s/장 (A6000). 출처: PaperWorks/outlines/Outline_v16.3.md §4.4.1 표 8a, §4.5.2 표 12a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pic>
        <p:nvPicPr>
          <p:cNvPr id="9" name="ContentFigure" descr="lowshot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537" y="2889504"/>
            <a:ext cx="9749021" cy="32826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게이트 동작 확인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확인 │ 게이트는 결함 픽셀에서 정상 대비 9.8배 자주 열리고, 조명이 바뀌어도 정상 쪽은 거의 그대로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왜 약 1%인가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기준을 정상 거리 99% 분위수로 잡음 → 정상이면 100개 중 1개꼴로만 열림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역할의 범위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결함 픽셀의 약 89%에서는 게이트가 닫혀 Deep 점수만 사용 → Shallow는 보조 신호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2 test_public, 16-shot, seed 0, class macro. 활성 조건 z5 &gt; τ5 ⇔ d5 &gt; Q0.99(D5). 1-shot LTO 행은 대조군 미완으로 제외. 출처: PaperWorks/outlines/Outline_v16.3.md §4.4.2 표 9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gate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89632"/>
            <a:ext cx="10917936" cy="32829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해상도 구성의 용량 통제 비교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토큰 수를 맞춰도 4-해상도가 단일 1120 px보다 +2.52pp — 이득은 "섞는 구성"에서 온다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px 단일에 토큰을 4배(1024) 줘도 56.63%로 오히려 −0.33pp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고배율 돋보기 하나로 오래 보는 것보다 저·중·고배율을 함께 보는 편이 낫다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2 test_public, 16-shot, seed 0, full8, DINOv2 ViT-L/14. E12 resolution control (historical fusion-base provenance). 출처: PaperWorks/outlines/Outline_v16.3.md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pic>
        <p:nvPicPr>
          <p:cNvPr id="9" name="ContentFigure" descr="resolu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60" y="2572512"/>
            <a:ext cx="10328174" cy="35996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계산 비용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비용 │ 제안 연산은 장당 4.1 ms(0.21%)뿐이고, 시간 대부분은 4개 해상도 특징 추출이다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A6000 FP32에서 SCARF 5.75 s vs SuperAD 0.79 s/장, fit VRAM 10.43 vs 1.42 GiB (A-8)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시사점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속도 개선은 결합 규칙이 아니라 백본 실행 횟수(해상도 수)·정밀도에서 찾아야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로컬 RTX 4090, 16-shot, 클래스당 12 query (총 96). 출처: PaperWorks/outlines/Outline_v16.3.md §4.5.1 표 12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pic>
        <p:nvPicPr>
          <p:cNvPr id="9" name="ContentFigure" descr="cost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89632"/>
            <a:ext cx="10917936" cy="291678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논의: 관찰과 시사점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시사점 │ 저-FPR 국소화 주장은 지지되지만, 저샷·노이즈·고정 임계값은 다음 검증 대상이다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클래스 의존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can +2.91, wallplugs +1.63pp에 이득 집중 → Shallow가 필요한 결함 유형 분석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지표 교환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 +0.47 / pAUROC −0.24pp (19쪽) → 영역 단위 이득으로 명시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저샷 불안정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1–2 shot에서 Deep-only보다 낮은 조건 존재 (20쪽) → τ5 추정 안정화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고정 임계값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private SegF1 34.84% (16쪽) → 조명 변화별 임계값 보정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노이즈 취약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Gaussian noise −16.35pp (18쪽) → 고해상도·Layer 5 반응 확인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PaperWorks/outlines/Outline_v16.3.md §5.1–5.2 및 해당 표. 화살표 뒤 시사점은 초안.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569208"/>
            <a:ext cx="10917936" cy="82296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고정 다층·다해상도 관측에서, 정상 support 통계만으로 Shallow를 안전하게 더해 저-FPR 영역 국소화를 높인다. 이미지 판정·노이즈 강건성·고정 임계값 성능은 주장하지 않는다.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계획 │ 선형 가중·Hard Gate 대조와 q·β 민감도가 채워져야 "튜닝 불필요" 주장이 완성된다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진행 중 비교는 configs/benchmarks/scarf_v16_fusion_20261003/PROTOCOL.md 기준. 출처: PaperWorks/outlines/Outline_v16.3.md §4.4 표 8·11, §4.5.3, 부록 A.1–A.2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2926080"/>
                <a:gridCol w="27797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검증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결과에 따른 서술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weight λ*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최적 선형 가중 z_d + λ·z5보다 나은가?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중: 2-shot에서 λ ∈ {0, …, 2} 선택 → 16-shot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≥ λ*: 비선형 차단이 필요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≈ λ*: 라벨 없이 최적 수준 자동 달성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Hard Gate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초과량 차감이 이진 마스킹보다 나은가?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우수 시: 경계 부근 연속 가산의 안정성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 · β 민감도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기본값 근방에서 성능이 안정한가?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미측정 (표 11 비어 있음)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안정 시: 데이터셋별 튜닝 불필요 근거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정성 비교 (그림 3)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실제 맵에서 게이트가 어떻게 작동하나?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패널 사양만 확정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· Shift 1 · Noise × 7열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척도 보정과 기여 제어를 분리해 Shallow를 안전하게 더하고 AD2 저-FPR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PaperWorks/outlines/Outline_v16.3.md §6. 근거 쪽: 방법 19, 성능 14·16·15, 강건성 17·18, 효율 23.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3017520"/>
                <a:gridCol w="28712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분위수만으로 척도 보정 + 비대칭 잔차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선형 가중·Hard Gate 대조 미완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대조 완료 후 표 8 확정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1–16 shot AUPRO@0.05 1위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(16-shot SuperAD +4.47pp), private 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AD·VisA I-AUROC는 SuperAD보다 낮음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주장을 저-FPR 국소화로 한정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Shift 1–3, 밝기·대비 변화에 안정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Gaussian noise −16.35pp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노이즈 원인(해상도·층) 분리 실험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효율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제안 연산은 전체의 0.21%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전체는 SuperAD보다 약 7배 느림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해상도 수·정밀도 조정 검토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 비교 원본: AUPRO@0.05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14쪽 차트의 수치 (AD2 test_public, 8-class macro,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* = seed 0 단일, 그 외 seed 0–2 mean ± sample SD. 출처: PaperWorks/outlines/Outline_v16.3.md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3108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36.78*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39.92 ± 2.43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17.96 ± 1.21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23.32 ± 0.26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37.31 ± 1.99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49.96*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54.23*</a:t>
                      </a:r>
                    </a:p>
                  </a:txBody>
                  <a:tcPr anchor="ctr" marL="109728" marR="109728" marT="27432" marB="27432"/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40.07 ± 2.43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42.36 ± 1.24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18.93 ± 1.94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26.85 ± 1.11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38.28 ± 0.70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50.56 ± 2.37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55.62 ± 2.70</a:t>
                      </a:r>
                    </a:p>
                  </a:txBody>
                  <a:tcPr anchor="ctr" marL="109728" marR="109728" marT="27432" marB="27432"/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44.41*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43.40 ± 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20.00 ± 1.51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30.28 ± 0.83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39.22 ± 0.70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53.68*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58.36*</a:t>
                      </a:r>
                    </a:p>
                  </a:txBody>
                  <a:tcPr anchor="ctr" marL="109728" marR="109728" marT="27432" marB="27432"/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45.73*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44.28 ± 0.59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18.09 ± 0.45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32.96 ± 1.60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39.38 ± 0.42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54.73*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58.40*</a:t>
                      </a:r>
                    </a:p>
                  </a:txBody>
                  <a:tcPr anchor="ctr" marL="109728" marR="109728" marT="27432" marB="27432"/>
                </a:tc>
              </a:tr>
              <a:tr h="54498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49.16 ± 0.77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44.36 ± 0.27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17.31 ± 1.20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33.54 ± 0.98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39.54 ± 0.34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55.16 ± 0.46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59.63 ± 0.80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보조 지표: pAUROC@0.05 · I-AUROC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pAUROC@0.05는 전 shot 1위, I-AUROC는 2-shot을 제외하고 1위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8-class macro (%). * = seed 0 단일, 그 외 seed 0–2 mean ± SD. 출처: PaperWorks/outlines/Outline_v16.3.md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A-2</a:t>
            </a:r>
          </a:p>
        </p:txBody>
      </p:sp>
      <p:sp>
        <p:nvSpPr>
          <p:cNvPr id="8" name="TableLabel1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pAUROC@0.05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801368"/>
          <a:ext cx="1091793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72.28 ± 0.79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62.22 ± 0.60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62.89 ± 0.65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70.47 ± 0.72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72.18*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72.50*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67.24 ± 0.93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73.50 ± 0.42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63.03 ± 0.66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65.54 ± 0.18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± 0.34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74.51 ± 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75.64 ± 0.53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68.21*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74.59 ± 0.65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63.15 ± 0.23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67.14 ± 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71.72 ± 0.13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75.69*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76.54*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69.54*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74.85 ± 0.34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60.76 ± 0.77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69.25 ± 0.79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71.70 ± 0.18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76.26*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77.04*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70.87 ± 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75.10 ± 0.17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60.64 ± 0.97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70.03 ± 0.78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71.80 ± 0.23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76.54 ± 0.60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77.23 ± 0.29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0" name="TableLabel2"/>
          <p:cNvSpPr txBox="1"/>
          <p:nvPr/>
        </p:nvSpPr>
        <p:spPr>
          <a:xfrm>
            <a:off x="640080" y="3694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</a:t>
            </a:r>
          </a:p>
        </p:txBody>
      </p:sp>
      <p:graphicFrame>
        <p:nvGraphicFramePr>
          <p:cNvPr id="11" name="SummaryTable2"/>
          <p:cNvGraphicFramePr>
            <a:graphicFrameLocks noGrp="1"/>
          </p:cNvGraphicFramePr>
          <p:nvPr/>
        </p:nvGraphicFramePr>
        <p:xfrm>
          <a:off x="640080" y="3986784"/>
          <a:ext cx="1091793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66.32*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69.98 ± 2.10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60.33 ± 0.63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58.12 ± 0.77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68.34 ± 2.64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72.16*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73.26*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68.58 ± 2.51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72.59 ± 2.88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61.77 ± 4.06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56.01 ± 4.49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70.79 ± 1.85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74.11 ± 2.26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73.79 ± 1.80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72.98*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74.52 ± 0.22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63.05 ± 2.52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± 2.39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71.77 ± 1.32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75.36*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77.34*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70.32*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74.69 ± 0.77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59.09 ± 3.32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63.89 ± 1.16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72.34 ± 0.16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76.86*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71.33 ± 0.93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74.59 ± 1.47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59.79 ± 1.70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65.60 ± 1.64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71.39 ± 0.07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74.25 ± 0.36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76.58 ± 0.24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비교군 설정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설정 │ 같은 support·query·평가기를 쓰되, 각 방법은 자기 백본·입력·layer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FastRecon·RAD는 논문 식을 따른 독립 구현. SuperAD는 공통 support 사용(원 논문은 전체 train으로 coreset 후 16장 선택). 출처: PaperWorks/outlines/Outline_v16.3.md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017520"/>
                <a:gridCol w="27797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해상도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 (ours)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 · scale fitting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bank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672; sheet_metal 448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gradient; closed-form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368; 15% coreset; λ = 0.3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512 → crop 448; global bank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DINOv2-reg ViT-G/14; [22–28]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model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224; 2-shot bottle checkpoint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원본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15쪽 차트의 수치 (각 셀 I-AUROC / P-AUROC, 전체 FPR,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0, MVTec AD 15·VisA 12 클래스 macro, support hash 일치. FastRecon = DINOv2 기반 프로젝트 변형. 출처: PaperWorks/outlines/Outline_v16.3.md §4.2 표 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148840"/>
                <a:gridCol w="2148840"/>
                <a:gridCol w="2148840"/>
                <a:gridCol w="21488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 · 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 / 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87.57 / 96.63</a:t>
                      </a:r>
                    </a:p>
                  </a:txBody>
                  <a:tcPr anchor="ctr" marL="109728" marR="109728" marT="27432" marB="27432"/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91.93 / 97.31</a:t>
                      </a:r>
                    </a:p>
                  </a:txBody>
                  <a:tcPr anchor="ctr" marL="109728" marR="109728" marT="27432" marB="27432"/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 / 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93.83 / 97.66</a:t>
                      </a:r>
                    </a:p>
                  </a:txBody>
                  <a:tcPr anchor="ctr" marL="109728" marR="109728" marT="27432" marB="27432"/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 / 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94.69 / 97.89</a:t>
                      </a:r>
                    </a:p>
                  </a:txBody>
                  <a:tcPr anchor="ctr" marL="109728" marR="109728" marT="27432" marB="27432"/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85.29 / 96.73</a:t>
                      </a:r>
                    </a:p>
                  </a:txBody>
                  <a:tcPr anchor="ctr" marL="109728" marR="109728" marT="27432" marB="27432"/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 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92.20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89.46 / 97.46</a:t>
                      </a:r>
                    </a:p>
                  </a:txBody>
                  <a:tcPr anchor="ctr" marL="109728" marR="109728" marT="27432" marB="27432"/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 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91.77 / 97.94</a:t>
                      </a:r>
                    </a:p>
                  </a:txBody>
                  <a:tcPr anchor="ctr" marL="109728" marR="109728" marT="27432" marB="27432"/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 / 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92.81 / 98.34</a:t>
                      </a:r>
                    </a:p>
                  </a:txBody>
                  <a:tcPr anchor="ctr" marL="109728" marR="109728" marT="27432" marB="27432"/>
                </a:tc>
              </a:tr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93.10 / 98.56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전체 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참고 │ Full-data 행은 정상 데이터 예산·백본·입력·후처리가 달라 few-shot과 직접 순위화하지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 (%). Few-shot 비교군의 private 결과는 아직 없음. 출처: PaperWorks/outlines/Outline_v16.3.md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656"/>
                <a:gridCol w="2651760"/>
                <a:gridCol w="265176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 (full-data는 2행부터)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 (16-shot)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76.38 / 77.52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34.84 / 30.68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합성 손상 원본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18쪽 차트의 수치 (각 셀 AUPRO@0.05 / pAUROC@0.05,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15클래스, 16-shot, seed 0, severity 3. † DINOv2 기반 프로젝트 변형. 출처: PaperWorks/outlines/Outline_v16.3.md §4.3.3 표 7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936"/>
                <a:gridCol w="182880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74.03 / 83.66</a:t>
                      </a:r>
                    </a:p>
                  </a:txBody>
                  <a:tcPr anchor="ctr" marL="109728" marR="109728" marT="27432" marB="27432"/>
                </a:tc>
              </a:tr>
              <a:tr h="54406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85.74 / 90.82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82.35 / 88.90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anchor="ctr" marL="109728" marR="109728" marT="27432" marB="27432"/>
                </a:tc>
              </a:tr>
              <a:tr h="54406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83.68 / 88.47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82.27 / 87.86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anchor="ctr" marL="109728" marR="109728" marT="27432" marB="27432"/>
                </a:tc>
              </a:tr>
              <a:tr h="54406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85.36 / 88.92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84.42 / 88.26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83.15 / 87.44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81.92 / 86.71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69.01 / 80.58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소거·진단 원본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원본 │ 19·20쪽 차트의 수치 (AUPRO@0.05, %)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AD2 16-shot seed 0 full8, CQ. 아래: seed 0, MVTec AD 15·VisA 12 클래스 macro. 출처: PaperWorks/outlines/Outline_v16.3.md 표 8, 8a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/>
                <a:gridCol w="1280160"/>
                <a:gridCol w="1371600"/>
                <a:gridCol w="128016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L5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보정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게이트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Deep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Deep-only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단순 전체 가산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−7.51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+ q95 척도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−4.65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+ 잔차 게이트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초과분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−1.19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 (둘 다)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초과분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9" name="SummaryTable2"/>
          <p:cNvGraphicFramePr>
            <a:graphicFrameLocks noGrp="1"/>
          </p:cNvGraphicFramePr>
          <p:nvPr/>
        </p:nvGraphicFramePr>
        <p:xfrm>
          <a:off x="640080" y="3630168"/>
          <a:ext cx="10917936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2103120"/>
                <a:gridCol w="2103120"/>
                <a:gridCol w="2011680"/>
                <a:gridCol w="20482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 (cap256)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 (cap1024)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Deep-only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전체 가산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72.68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75.75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79.32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계산 비용 (A6000)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참고 │ SCARF는 48개 컴포넌트 뱅크와 4개 해상도로 SuperAD보다 fit·query 모두 무겁다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2 full8 test_public, seed 0, 16-shot, frozen DINOv2 ViT-L/14, FP32, batch 1. 출처: PaperWorks/outlines/Outline_v16.3.md §4.5.1 표 12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1828800"/>
                <a:gridCol w="1828800"/>
                <a:gridCol w="1828800"/>
                <a:gridCol w="17739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벡터/클래스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평균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평균 / p95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VRAM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87.25 ± 83.66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5,746 ± 6,107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5,521 / 18,600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10.43 / 3.44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Deep-only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131,072 (32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88.06 ± 100.45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5,697 ± 7,263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5,377 / 23,037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7.68 / 3.03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50.97 ± 53.57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3,822 ± 4,768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3,586 / 15,328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6.86 / 2.65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794 ± 154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 / 1,069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 고정 사양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사양 │ 모든 값은 사전에 고정하며, 클래스·데이터셋별 튜닝을 하지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PaperWorks/outlines/Outline_v16.3.md §3.5–3.6, 표 8 (CQ 후처리 적용 조건).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A-9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36941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값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비고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백본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(동결, 약 304M)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패치 14 × 14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층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Layer 5 (Shallow), Layer 11·23 (Deep)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Deep = 두 층 z 평균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 / 672 / 896 / 1120 (짧은 변)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모든 query에 고정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× 이미지당 256토큰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bag 점수는 같은 토큰 격자에서 평균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분위수 q / β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0.95 / 0.99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 보정 / 잔차 게이트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맵 통합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해상도별 맵을 원본 크기로 bilinear 보간 → 동일 가중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이미지 점수 = 최종 맵 최댓값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후처리 (선택)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CQ: 상위 1% 연결 성분을 그 최댓값으로 채움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8 결과에 적용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재현성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0·1·2, 고정 support manifest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역전파·파라미터 갱신·테스트 라벨 없음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