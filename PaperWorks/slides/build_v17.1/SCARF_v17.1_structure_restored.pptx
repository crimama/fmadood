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와 요약" id="{BE5A22D7-67A1-4986-B2F7-886027771A38}">
          <p14:sldIdLst>
            <p14:sldId id="256"/>
            <p14:sldId id="257"/>
            <p14:sldId id="258"/>
          </p14:sldIdLst>
        </p14:section>
        <p14:section name="01. 문제 정의" id="{3DB12BDF-2035-46F9-97F1-8EF781AC77A4}">
          <p14:sldIdLst>
            <p14:sldId id="259"/>
            <p14:sldId id="260"/>
            <p14:sldId id="261"/>
            <p14:sldId id="262"/>
          </p14:sldIdLst>
        </p14:section>
        <p14:section name="02. 방법: SCARF" id="{EC2277B4-F286-440D-BF7D-858698848E21}">
          <p14:sldIdLst>
            <p14:sldId id="263"/>
            <p14:sldId id="264"/>
            <p14:sldId id="265"/>
            <p14:sldId id="266"/>
            <p14:sldId id="267"/>
          </p14:sldIdLst>
        </p14:section>
        <p14:section name="03. 실험 결과" id="{ABF4B9B7-8D0B-475A-AA80-16B688501582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4. Ablation · 분석" id="{8EB1F5CA-9983-449C-A319-019EB8F5BD89}">
          <p14:sldIdLst>
            <p14:sldId id="274"/>
            <p14:sldId id="275"/>
            <p14:sldId id="276"/>
            <p14:sldId id="277"/>
            <p14:sldId id="278"/>
          </p14:sldIdLst>
        </p14:section>
        <p14:section name="05. 논의와 향후 계획" id="{F4878CD1-CB8E-4A16-ADF3-A2283CFCC7D9}">
          <p14:sldIdLst>
            <p14:sldId id="279"/>
            <p14:sldId id="280"/>
            <p14:sldId id="281"/>
          </p14:sldIdLst>
        </p14:section>
        <p14:section name="Appendix A. 상세 표" id="{DC6D06B0-0927-42E7-ADD1-0251C2530C60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2-shot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0.125</c:v>
                </c:pt>
                <c:pt idx="1">
                  <c:v>0.25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59.33</c:v>
                </c:pt>
                <c:pt idx="1">
                  <c:v>58.43</c:v>
                </c:pt>
                <c:pt idx="2">
                  <c:v>54.92</c:v>
                </c:pt>
                <c:pt idx="3">
                  <c:v>48.39</c:v>
                </c:pt>
                <c:pt idx="4">
                  <c:v>40.48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16-shot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0.125</c:v>
                </c:pt>
                <c:pt idx="1">
                  <c:v>0.25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59.57</c:v>
                </c:pt>
                <c:pt idx="1">
                  <c:v>59.48</c:v>
                </c:pt>
                <c:pt idx="2">
                  <c:v>58.21</c:v>
                </c:pt>
                <c:pt idx="3">
                  <c:v>54.02</c:v>
                </c:pt>
                <c:pt idx="4">
                  <c:v>47.33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.0"/>
          <c:min val="35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z_d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cat>
            <c:strRef>
              <c:f>Sheet1!$A$2:$A$5</c:f>
              <c:strCache>
                <c:ptCount val="4"/>
                <c:pt idx="0">
                  <c:v>정상 평탄</c:v>
                </c:pt>
                <c:pt idx="1">
                  <c:v>정상 질감</c:v>
                </c:pt>
                <c:pt idx="2">
                  <c:v>미세 스크래치</c:v>
                </c:pt>
                <c:pt idx="3">
                  <c:v>큰 파손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</c:v>
                </c:pt>
                <c:pt idx="1">
                  <c:v>0.65</c:v>
                </c:pt>
                <c:pt idx="2">
                  <c:v>0.85</c:v>
                </c:pt>
                <c:pt idx="3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0.125 z₅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cat>
            <c:strRef>
              <c:f>Sheet1!$A$2:$A$5</c:f>
              <c:strCache>
                <c:ptCount val="4"/>
                <c:pt idx="0">
                  <c:v>정상 평탄</c:v>
                </c:pt>
                <c:pt idx="1">
                  <c:v>정상 질감</c:v>
                </c:pt>
                <c:pt idx="2">
                  <c:v>미세 스크래치</c:v>
                </c:pt>
                <c:pt idx="3">
                  <c:v>큰 파손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</c:v>
                </c:pt>
                <c:pt idx="1">
                  <c:v>0.15625</c:v>
                </c:pt>
                <c:pt idx="2">
                  <c:v>0.35</c:v>
                </c:pt>
                <c:pt idx="3">
                  <c:v>0.375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설명용 점수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54.81</c:v>
                </c:pt>
                <c:pt idx="1">
                  <c:v>56.03</c:v>
                </c:pt>
                <c:pt idx="2">
                  <c:v>58.69</c:v>
                </c:pt>
                <c:pt idx="3">
                  <c:v>58.68</c:v>
                </c:pt>
                <c:pt idx="4">
                  <c:v>60.06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46.31</c:v>
                </c:pt>
                <c:pt idx="1">
                  <c:v>49.8</c:v>
                </c:pt>
                <c:pt idx="2">
                  <c:v>54.25</c:v>
                </c:pt>
                <c:pt idx="3">
                  <c:v>55.44</c:v>
                </c:pt>
                <c:pt idx="4">
                  <c:v>55.89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PatchCore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38.45</c:v>
                </c:pt>
                <c:pt idx="1">
                  <c:v>42.25</c:v>
                </c:pt>
                <c:pt idx="2">
                  <c:v>46.94</c:v>
                </c:pt>
                <c:pt idx="3">
                  <c:v>49.98</c:v>
                </c:pt>
                <c:pt idx="4">
                  <c:v>52.73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SubspaceAD</c:v>
                </c:pt>
              </c:strCache>
            </c:strRef>
          </c:tx>
          <c:spPr>
            <a:solidFill>
              <a:srgbClr val="7D729A"/>
            </a:solidFill>
            <a:ln w="22225">
              <a:solidFill>
                <a:srgbClr val="7D729A"/>
              </a:solidFill>
            </a:ln>
          </c:spPr>
          <c:marker>
            <c:symbol val="circle"/>
            <c:size val="6"/>
            <c:spPr>
              <a:solidFill>
                <a:srgbClr val="7D729A"/>
              </a:solidFill>
              <a:ln>
                <a:solidFill>
                  <a:srgbClr val="7D729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44.87</c:v>
                </c:pt>
                <c:pt idx="1">
                  <c:v>45.9</c:v>
                </c:pt>
                <c:pt idx="2">
                  <c:v>47.14</c:v>
                </c:pt>
                <c:pt idx="3">
                  <c:v>47.28</c:v>
                </c:pt>
                <c:pt idx="4">
                  <c:v>47.63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AnomalyDINO</c:v>
                </c:pt>
              </c:strCache>
            </c:strRef>
          </c:tx>
          <c:spPr>
            <a:solidFill>
              <a:srgbClr val="8593A4"/>
            </a:solidFill>
            <a:ln w="22225">
              <a:solidFill>
                <a:srgbClr val="8593A4"/>
              </a:solidFill>
            </a:ln>
          </c:spPr>
          <c:marker>
            <c:symbol val="circle"/>
            <c:size val="6"/>
            <c:spPr>
              <a:solidFill>
                <a:srgbClr val="8593A4"/>
              </a:solidFill>
              <a:ln>
                <a:solidFill>
                  <a:srgbClr val="8593A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35.95</c:v>
                </c:pt>
                <c:pt idx="1">
                  <c:v>38.2</c:v>
                </c:pt>
                <c:pt idx="2">
                  <c:v>40.32</c:v>
                </c:pt>
                <c:pt idx="3">
                  <c:v>41.64</c:v>
                </c:pt>
                <c:pt idx="4">
                  <c:v>42.3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.0"/>
          <c:min val="30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92.76</c:v>
                </c:pt>
                <c:pt idx="1">
                  <c:v>96.13</c:v>
                </c:pt>
                <c:pt idx="2">
                  <c:v>96.99</c:v>
                </c:pt>
                <c:pt idx="3">
                  <c:v>97.6</c:v>
                </c:pt>
                <c:pt idx="4">
                  <c:v>98.74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92.54</c:v>
                </c:pt>
                <c:pt idx="1">
                  <c:v>95.43</c:v>
                </c:pt>
                <c:pt idx="2">
                  <c:v>96.65</c:v>
                </c:pt>
                <c:pt idx="3">
                  <c:v>97.39</c:v>
                </c:pt>
                <c:pt idx="4">
                  <c:v>98.94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PatchCore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88.12</c:v>
                </c:pt>
                <c:pt idx="1">
                  <c:v>92.67</c:v>
                </c:pt>
                <c:pt idx="2">
                  <c:v>95.06</c:v>
                </c:pt>
                <c:pt idx="3">
                  <c:v>96.13</c:v>
                </c:pt>
                <c:pt idx="4">
                  <c:v>98.15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5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96.77</c:v>
                </c:pt>
                <c:pt idx="1">
                  <c:v>97.39</c:v>
                </c:pt>
                <c:pt idx="2">
                  <c:v>97.68</c:v>
                </c:pt>
                <c:pt idx="3">
                  <c:v>97.93</c:v>
                </c:pt>
                <c:pt idx="4">
                  <c:v>98.05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96.93</c:v>
                </c:pt>
                <c:pt idx="1">
                  <c:v>97.36</c:v>
                </c:pt>
                <c:pt idx="2">
                  <c:v>97.7</c:v>
                </c:pt>
                <c:pt idx="3">
                  <c:v>97.95</c:v>
                </c:pt>
                <c:pt idx="4">
                  <c:v>98.09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PatchCore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96.22</c:v>
                </c:pt>
                <c:pt idx="1">
                  <c:v>96.97</c:v>
                </c:pt>
                <c:pt idx="2">
                  <c:v>97.37</c:v>
                </c:pt>
                <c:pt idx="3">
                  <c:v>97.8</c:v>
                </c:pt>
                <c:pt idx="4">
                  <c:v>97.99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95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89.88</c:v>
                </c:pt>
                <c:pt idx="1">
                  <c:v>92.15</c:v>
                </c:pt>
                <c:pt idx="2">
                  <c:v>94.19</c:v>
                </c:pt>
                <c:pt idx="3">
                  <c:v>95.01</c:v>
                </c:pt>
                <c:pt idx="4">
                  <c:v>95.99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90.29</c:v>
                </c:pt>
                <c:pt idx="1">
                  <c:v>92.2</c:v>
                </c:pt>
                <c:pt idx="2">
                  <c:v>92.94</c:v>
                </c:pt>
                <c:pt idx="3">
                  <c:v>94.5</c:v>
                </c:pt>
                <c:pt idx="4">
                  <c:v>95.19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PatchCore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86.09</c:v>
                </c:pt>
                <c:pt idx="1">
                  <c:v>87.87</c:v>
                </c:pt>
                <c:pt idx="2">
                  <c:v>89.52</c:v>
                </c:pt>
                <c:pt idx="3">
                  <c:v>92.36</c:v>
                </c:pt>
                <c:pt idx="4">
                  <c:v>93.64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0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96.73</c:v>
                </c:pt>
                <c:pt idx="1">
                  <c:v>97.32</c:v>
                </c:pt>
                <c:pt idx="2">
                  <c:v>97.82</c:v>
                </c:pt>
                <c:pt idx="3">
                  <c:v>98.25</c:v>
                </c:pt>
                <c:pt idx="4">
                  <c:v>98.49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97.06</c:v>
                </c:pt>
                <c:pt idx="1">
                  <c:v>97.68</c:v>
                </c:pt>
                <c:pt idx="2">
                  <c:v>98.02</c:v>
                </c:pt>
                <c:pt idx="3">
                  <c:v>98.29</c:v>
                </c:pt>
                <c:pt idx="4">
                  <c:v>98.43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PatchCore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95.56</c:v>
                </c:pt>
                <c:pt idx="1">
                  <c:v>96.29</c:v>
                </c:pt>
                <c:pt idx="2">
                  <c:v>96.92</c:v>
                </c:pt>
                <c:pt idx="3">
                  <c:v>97.18</c:v>
                </c:pt>
                <c:pt idx="4">
                  <c:v>97.3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94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AUPRO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cat>
            <c:strRef>
              <c:f>Sheet1!$A$2:$A$7</c:f>
              <c:strCache>
                <c:ptCount val="6"/>
                <c:pt idx="0">
                  <c:v>Full</c:v>
                </c:pt>
                <c:pt idx="1">
                  <c:v>none</c:v>
                </c:pt>
                <c:pt idx="2">
                  <c:v>Equal mean</c:v>
                </c:pt>
                <c:pt idx="3">
                  <c:v>Concat</c:v>
                </c:pt>
                <c:pt idx="4">
                  <c:v>MAD</c:v>
                </c:pt>
                <c:pt idx="5">
                  <c:v>448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59.57</c:v>
                </c:pt>
                <c:pt idx="1">
                  <c:v>59.17</c:v>
                </c:pt>
                <c:pt idx="2">
                  <c:v>58.21</c:v>
                </c:pt>
                <c:pt idx="3">
                  <c:v>57.48</c:v>
                </c:pt>
                <c:pt idx="4">
                  <c:v>58.52</c:v>
                </c:pt>
                <c:pt idx="5">
                  <c:v>52.01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  <c:min val="48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54.81</c:v>
                </c:pt>
                <c:pt idx="1">
                  <c:v>59.33</c:v>
                </c:pt>
                <c:pt idx="2">
                  <c:v>58.69</c:v>
                </c:pt>
                <c:pt idx="3">
                  <c:v>58.68</c:v>
                </c:pt>
                <c:pt idx="4">
                  <c:v>59.57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55.06</c:v>
                </c:pt>
                <c:pt idx="1">
                  <c:v>59.06</c:v>
                </c:pt>
                <c:pt idx="2">
                  <c:v>59.02</c:v>
                </c:pt>
                <c:pt idx="3">
                  <c:v>58.68</c:v>
                </c:pt>
                <c:pt idx="4">
                  <c:v>59.17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Concat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46.75</c:v>
                </c:pt>
                <c:pt idx="1">
                  <c:v>52.12</c:v>
                </c:pt>
                <c:pt idx="2">
                  <c:v>54.6</c:v>
                </c:pt>
                <c:pt idx="3">
                  <c:v>55.85</c:v>
                </c:pt>
                <c:pt idx="4">
                  <c:v>57.48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.0"/>
          <c:min val="40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92.76</c:v>
                </c:pt>
                <c:pt idx="1">
                  <c:v>96.13</c:v>
                </c:pt>
                <c:pt idx="2">
                  <c:v>96.99</c:v>
                </c:pt>
                <c:pt idx="3">
                  <c:v>97.6</c:v>
                </c:pt>
                <c:pt idx="4">
                  <c:v>98.74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93.22</c:v>
                </c:pt>
                <c:pt idx="1">
                  <c:v>96.53</c:v>
                </c:pt>
                <c:pt idx="2">
                  <c:v>97.24</c:v>
                </c:pt>
                <c:pt idx="3">
                  <c:v>97.89</c:v>
                </c:pt>
                <c:pt idx="4">
                  <c:v>98.81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Concat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89.63</c:v>
                </c:pt>
                <c:pt idx="1">
                  <c:v>93.08</c:v>
                </c:pt>
                <c:pt idx="2">
                  <c:v>95.33</c:v>
                </c:pt>
                <c:pt idx="3">
                  <c:v>96.56</c:v>
                </c:pt>
                <c:pt idx="4">
                  <c:v>98.19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5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89.88</c:v>
                </c:pt>
                <c:pt idx="1">
                  <c:v>92.15</c:v>
                </c:pt>
                <c:pt idx="2">
                  <c:v>94.19</c:v>
                </c:pt>
                <c:pt idx="3">
                  <c:v>95.01</c:v>
                </c:pt>
                <c:pt idx="4">
                  <c:v>95.99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90.94</c:v>
                </c:pt>
                <c:pt idx="1">
                  <c:v>93.06</c:v>
                </c:pt>
                <c:pt idx="2">
                  <c:v>94.57</c:v>
                </c:pt>
                <c:pt idx="3">
                  <c:v>95.17</c:v>
                </c:pt>
                <c:pt idx="4">
                  <c:v>96.18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Concat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86.55</c:v>
                </c:pt>
                <c:pt idx="1">
                  <c:v>89.09</c:v>
                </c:pt>
                <c:pt idx="2">
                  <c:v>91.08</c:v>
                </c:pt>
                <c:pt idx="3">
                  <c:v>93.49</c:v>
                </c:pt>
                <c:pt idx="4">
                  <c:v>94.09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0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q95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54.81</c:v>
                </c:pt>
                <c:pt idx="1">
                  <c:v>59.33</c:v>
                </c:pt>
                <c:pt idx="2">
                  <c:v>58.69</c:v>
                </c:pt>
                <c:pt idx="3">
                  <c:v>58.68</c:v>
                </c:pt>
                <c:pt idx="4">
                  <c:v>59.57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55.06</c:v>
                </c:pt>
                <c:pt idx="1">
                  <c:v>59.06</c:v>
                </c:pt>
                <c:pt idx="2">
                  <c:v>59.02</c:v>
                </c:pt>
                <c:pt idx="3">
                  <c:v>58.69</c:v>
                </c:pt>
                <c:pt idx="4">
                  <c:v>59.17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MAD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53.59</c:v>
                </c:pt>
                <c:pt idx="1">
                  <c:v>58.57</c:v>
                </c:pt>
                <c:pt idx="2">
                  <c:v>57.0</c:v>
                </c:pt>
                <c:pt idx="3">
                  <c:v>57.28</c:v>
                </c:pt>
                <c:pt idx="4">
                  <c:v>58.52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1.0"/>
          <c:min val="52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2-shot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448</c:v>
                </c:pt>
                <c:pt idx="1">
                  <c:v>672</c:v>
                </c:pt>
                <c:pt idx="2">
                  <c:v>896</c:v>
                </c:pt>
                <c:pt idx="3">
                  <c:v>1120</c:v>
                </c:pt>
                <c:pt idx="4">
                  <c:v>4-scale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51.14</c:v>
                </c:pt>
                <c:pt idx="1">
                  <c:v>54.38</c:v>
                </c:pt>
                <c:pt idx="2">
                  <c:v>52.65</c:v>
                </c:pt>
                <c:pt idx="3">
                  <c:v>54.27</c:v>
                </c:pt>
                <c:pt idx="4">
                  <c:v>59.33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16-shot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448</c:v>
                </c:pt>
                <c:pt idx="1">
                  <c:v>672</c:v>
                </c:pt>
                <c:pt idx="2">
                  <c:v>896</c:v>
                </c:pt>
                <c:pt idx="3">
                  <c:v>1120</c:v>
                </c:pt>
                <c:pt idx="4">
                  <c:v>4-scale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52.01</c:v>
                </c:pt>
                <c:pt idx="1">
                  <c:v>55.01</c:v>
                </c:pt>
                <c:pt idx="2">
                  <c:v>55.12</c:v>
                </c:pt>
                <c:pt idx="3">
                  <c:v>57.47</c:v>
                </c:pt>
                <c:pt idx="4">
                  <c:v>59.57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2.0"/>
          <c:min val="48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Outline_v17.1.md 기준. SCARF의 기존 Asymmetric Residual Fusion 확장명은 변경된 선형 결합에 맞지 않아 재검토 중. v16.3의 표지·35장 구성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배경: 정상 몇 장으로 결함 위치 찾기</a:t>
            </a:r>
          </a:p>
          <a:p>
            <a:r>
              <a:t>목적 │ 정상 1–16장으로, 오경보가 적은 구간에서 결함 영역을 찾는다</a:t>
            </a:r>
          </a:p>
          <a:p>
            <a:r>
              <a:t>동결 DINOv2 패치를 정상 bank와 비교하고, 가장 가까운 정상 패치와의 거리를 계산한다.</a:t>
            </a:r>
          </a:p>
          <a:p>
            <a:r>
              <a:t>다해상도·다계층은 같은 이미지의 관측 축을 늘리며, 새로운 정상 사례를 추가하지는 않는다.</a:t>
            </a:r>
          </a:p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문제 ①: 큰 거리가 항상 결함은 아니다</a:t>
            </a:r>
          </a:p>
          <a:p>
            <a:r>
              <a:t>원인 │ 소수 정상 support는 조명·자세·반사 등 정상 변동을 모두 담지 못한다</a:t>
            </a:r>
          </a:p>
          <a:p>
            <a:r>
              <a:t>처음 보는 정상 조건과 결함이 모두 높은 거리 점수를 만들 수 있다.</a:t>
            </a:r>
          </a:p>
          <a:p>
            <a:r>
              <a:t>관측별 점수를 결합하려면, 각 bank에서 거리 크기가 갖는 의미부터 정렬해야 한다.</a:t>
            </a:r>
          </a:p>
          <a:p>
            <a:r>
              <a:t>가상 분포 개념도이며 실측 결과가 아님 · v16.3 개념 그림 유지 · Outline_v17.1 §1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Linear Fusion: Shallow를 0.125만큼 더한다</a:t>
            </a:r>
          </a:p>
          <a:p>
            <a:r>
              <a:t>방법 │ S = z_d + 0.125 z₅,  z_d = (z₁₁ + z₂₃) / 2</a:t>
            </a:r>
          </a:p>
          <a:p>
            <a:r>
              <a:t>약한 양의 가중치로 shallow 관측을 추가하며, 정상 질감 반응도 함께 더해진다.</a:t>
            </a:r>
          </a:p>
          <a:p>
            <a:r>
              <a:t>0.125는 AD2 public 2-shot seed 0 개발 평가에서 선택한 post-hoc 값이다.</a:t>
            </a:r>
          </a:p>
          <a:p>
            <a:r>
              <a:t>설명용 예시값, 실측 아님 · Outline_v17.1 §3.4 · 임계값 기반 절단 없음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발표 순서</a:t>
            </a:r>
          </a:p>
          <a:p>
            <a:r>
              <a:t>흐름 │ 문제 → 방법 → 주 결과 → 소거·분석 → 남은 검증 순으로 진행한다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한 장 요약</a:t>
            </a:r>
          </a:p>
          <a:p>
            <a:r>
              <a:t>결론 │ 관측별 bank와 다해상도 결합의 근거는 확보했고, 보정 기여는 추가 검증한다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큰 shallow 가중치는 AD2 성능을 낮춘다</a:t>
            </a:r>
          </a:p>
          <a:p>
            <a:r>
              <a:t>민감도 │ λ=0.125를 개발 평가로 선택하고 다른 데이터셋에도 고정했다</a:t>
            </a:r>
          </a:p>
          <a:p>
            <a:r>
              <a:t>2-shot seed 0의 AUPRO로 선택한 post-hoc 설정이며, 일반적 최적값으로 주장하지 않는다.</a:t>
            </a:r>
          </a:p>
          <a:p>
            <a:r>
              <a:t>표 8b · q95 · FP16 · seed 0 · 양의 가중치 조건 · 후보 전체는 발표자 노트에 기록</a:t>
            </a:r>
          </a:p>
          <a:p>
            <a:r>
              <a:t>λ 후보: {0, 0.125, 0.25, 0.5, 1, 2}. 표에는 양의 가중치만 표시. AD2 public 2-shot에서 선택 후 동결.</a:t>
            </a:r>
          </a:p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해법의 틀: 단위와 기여량을 따로 정한다</a:t>
            </a:r>
          </a:p>
          <a:p>
            <a:r>
              <a:t>핵심 │ 관측별 점수를 정상 support 척도로 정렬하고, shallow 기여는 고정 가중치로 더한다</a:t>
            </a:r>
          </a:p>
          <a:p>
            <a:r>
              <a:t>척도 보정: 각 bank의 정상 거리 q95를 기준으로 서로 다른 거리 눈금을 맞춘다.</a:t>
            </a:r>
          </a:p>
          <a:p>
            <a:r>
              <a:t>기여량: shallow 가중치 0.125는 AD2 개발 평가로 선택하고 다른 데이터셋에도 고정한다.</a:t>
            </a:r>
          </a:p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SCARF 전체 흐름</a:t>
            </a:r>
          </a:p>
          <a:p>
            <a:r>
              <a:t>구조 │ 정상 support로 bank와 기준값을 한 번 만들고(A), query마다 같은 규칙으로 결합한다</a:t>
            </a:r>
          </a:p>
          <a:p>
            <a:r>
              <a:t>A 피팅: 계층 3 × 해상도 4 × bag 4 = 48개 bank와 정상 거리 척도를 구성한다.</a:t>
            </a:r>
          </a:p>
          <a:p>
            <a:r>
              <a:t>B 추론: 거리 → q95 보정 → 선형 결합 → bag·해상도 평균 순으로 최종 맵을 만든다.</a:t>
            </a:r>
          </a:p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관측 구성: 4개 해상도 × 4개 bag</a:t>
            </a:r>
          </a:p>
          <a:p>
            <a:r>
              <a:t>설계 │ 해상도·계층별 bank를 유지하고, 같은 해상도의 bag 점수는 평균한다</a:t>
            </a:r>
          </a:p>
          <a:p>
            <a:r>
              <a:t>해상도: 448 / 672 / 896 / 1120을 모두 사용해 공간 관측을 확장한다.</a:t>
            </a:r>
          </a:p>
          <a:p>
            <a:r>
              <a:t>Bag: 이미지당 256개 위치를 4번 추출하며, 계층 간에는 같은 위치를 공유한다.</a:t>
            </a:r>
          </a:p>
          <a:p>
            <a:r>
              <a:t>관측 구성 도식 · 실제 anomaly map 아님 · FP16 · Layer 5/11/23 · Outline_v17.1 §3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Scale Calibration: 거리 단위 통일</a:t>
            </a:r>
          </a:p>
          <a:p>
            <a:r>
              <a:t>방법 │ 각 거리를 정상 support 거리의 95% 분위수 cₘ으로 나눈다</a:t>
            </a:r>
          </a:p>
          <a:p>
            <a:r>
              <a:t>같은 거리도 bank별 정상 분포가 다르면 다른 크기의 이탈을 뜻한다.</a:t>
            </a:r>
          </a:p>
          <a:p>
            <a:r>
              <a:t>z = 1은 support 척도의 기준점이며, query의 FPR이나 결함 확률을 보장하지 않는다.</a:t>
            </a:r>
          </a:p>
          <a:p>
            <a:r>
              <a:t>기존 pre-fusion 척도 설명 그림: hazelnut 1120 px · 현재 전체 방법의 성능 증거가 아님 · §3.3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실제 맵에서 본 선형 결합: 후속 확인</a:t>
            </a:r>
          </a:p>
          <a:p>
            <a:r>
              <a:t>상태 │ 현재 설정의 검증된 정성 맵은 미확보이며, 같은 위치에 비교 패널을 유지한다</a:t>
            </a:r>
          </a:p>
          <a:p>
            <a:r>
              <a:t>동일 query·동일 색 범위에서 shallow 항이 최종 맵에 추가하는 위치를 확인한다.</a:t>
            </a:r>
          </a:p>
          <a:p>
            <a:r>
              <a:t>정성 패널은 linear0125·4-scale·cap256 조건의 결과로 갱신한다.</a:t>
            </a:r>
          </a:p>
          <a:p>
            <a:r>
              <a:t>정성 맵 미확보 · 아래는 패널 배치 안내이며 anomaly map이 아님 · Outline_v17.1 §3–4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AD2 저-FPR 국소화를 주 평가로 둔다</a:t>
            </a:r>
          </a:p>
          <a:p>
            <a:r>
              <a:t>평가 │ 데이터셋별 지표와 seed 범위를 구분해 읽는다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AD2 16-shot AUPRO는 60.06 ± 0.88이다</a:t>
            </a:r>
          </a:p>
          <a:p>
            <a:r>
              <a:t>주 결과 │ SuperAD 3-seed 평균 55.89 대비 +4.17pp</a:t>
            </a:r>
          </a:p>
          <a:p>
            <a:r>
              <a:t>2-shot도 3-seed 평균 56.03 ± 2.99이며, SuperAD 대비 +6.23pp다.</a:t>
            </a:r>
          </a:p>
          <a:p>
            <a:r>
              <a:t>AUPRO@0.05 (%) · Ours 2·16-shot만 3-seed, 나머지는 seed 0 · 비교군 3-seed · 표 4</a:t>
            </a:r>
          </a:p>
          <a:p>
            <a:r>
              <a:t>표 4. Ours FP16 4-scale, 비교군 FP32. Backbone·관측 수·계산량이 다른 전체 파이프라인 비교다.</a:t>
            </a:r>
          </a:p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MVTec AD · VisA few-shot</a:t>
            </a:r>
          </a:p>
          <a:p>
            <a:r>
              <a:t>범위 │ 우위는 지표·shot별로 다르며, AD2 저-FPR 국소화가 주 평가다</a:t>
            </a:r>
          </a:p>
          <a:p>
            <a:r>
              <a:t>VisA 16-shot Ours I/P-AUROC는 95.99 / 98.49로 표의 최고값이다.</a:t>
            </a:r>
          </a:p>
          <a:p>
            <a:r>
              <a:t>MVTec AD 고-shot pixel 지표와 VisA 저-shot 일부에서는 비교군이 앞선다.</a:t>
            </a:r>
          </a:p>
          <a:p>
            <a:r>
              <a:t>표 5 · seed 0 · P-AUROC 전체 FPR · 비교군 설정 혼재 · support hash 재감사 필요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  <a:p>
            <a:r>
              <a:t>표 5b, Ours 3-seed: MVTec AD 2-shot 96.04±0.30 /97.38±0.04, 16-shot98.52±0.20 /98.05±0.00. VisA 2-shot92.38±1.04 /97.40±0.08,16-shot95.78±0.18 /98.50±0.02. 추가 seed는 외부 비교군과 paired support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MVTec AD 2 공식 private 평가</a:t>
            </a:r>
          </a:p>
          <a:p>
            <a:r>
              <a:t>상태 │ linear0125의 공식 private 결과와 threshold 평가는 아직 없다</a:t>
            </a:r>
          </a:p>
          <a:p>
            <a:r>
              <a:t>공식 평가의 AU-PRO·ClassF1·SegF1을 함께 보고할 예정이다.</a:t>
            </a:r>
          </a:p>
          <a:p>
            <a:r>
              <a:t>Full-data 참고값은 데이터 예산이 달라 few-shot 방법과 직접 순위화하지 않는다.</a:t>
            </a:r>
          </a:p>
          <a:p>
            <a:r>
              <a:t>linear0125 현재 결과 미확보 · 기존 구성과 평가 항목 유지 · 표 6 · 상세 A-5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조명 변화 (AD2 Shift 1–3)</a:t>
            </a:r>
          </a:p>
          <a:p>
            <a:r>
              <a:t>상태 │ 현재 방법의 조명별 분해 결과는 미확보다</a:t>
            </a:r>
          </a:p>
          <a:p>
            <a:r>
              <a:t>정상 regular support를 기준으로 Regular와 Shift 1–3을 구분한다.</a:t>
            </a:r>
          </a:p>
          <a:p>
            <a:r>
              <a:t>조명별 클래스 구성과 macro 범위를 명시한 후 동일 shot 곡선으로 비교한다.</a:t>
            </a:r>
          </a:p>
          <a:p>
            <a:r>
              <a:t>linear0125 현재 결과 미확보 · 기존 구성과 평가 항목 유지 · §4.3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합성 손상 (MVTec AD corruption)</a:t>
            </a:r>
          </a:p>
          <a:p>
            <a:r>
              <a:t>상태 │ 현재 방법의 corruption 결과는 미확보다</a:t>
            </a:r>
          </a:p>
          <a:p>
            <a:r>
              <a:t>16-shot·seed 0·severity 3, 정상 support는 clean 조건을 유지한다.</a:t>
            </a:r>
          </a:p>
          <a:p>
            <a:r>
              <a:t>Clean 대비 저하량을 비교해 밝기·대비·흐림·노이즈 강건성을 평가한다.</a:t>
            </a:r>
          </a:p>
          <a:p>
            <a:r>
              <a:t>linear0125 현재 결과 미확보 · 기존 구성과 평가 항목 유지 · 표 7 · 상세 A-6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구성 요소 소거 (AD2 16-shot)</a:t>
            </a:r>
          </a:p>
          <a:p>
            <a:r>
              <a:t>결과 │ 계층 concat 대비 +2.09pp이며, q95의 none 대비 차이는 +0.40pp다</a:t>
            </a:r>
          </a:p>
          <a:p>
            <a:r>
              <a:t>Full과 concat은 같은 nominal float 수·cosine 거리의 bank 구조 대조다.</a:t>
            </a:r>
          </a:p>
          <a:p>
            <a:r>
              <a:t>보정의 기여는 모든 shot에서 일관되지 않으므로 이 한 조건으로 일반화하지 않는다.</a:t>
            </a:r>
          </a:p>
          <a:p>
            <a:r>
              <a:t>표 8 · AD2 test_public full8 · seed 0 · AUPRO@0.05 (%) · 상세 A-7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저샷·다른 데이터셋 진단</a:t>
            </a:r>
          </a:p>
          <a:p>
            <a:r>
              <a:t>관찰 │ 별도 bank는 concat보다 높지만, q95 보정은 none보다 일관되게 높지 않다</a:t>
            </a:r>
          </a:p>
          <a:p>
            <a:r>
              <a:t>세 데이터셋의 전 shot에서 Full이 layer concat보다 높다.</a:t>
            </a:r>
          </a:p>
          <a:p>
            <a:r>
              <a:t>MVTec AD·VisA I-AUROC에서는 none이 Full보다 높아 구조와 보정의 효과를 분리한다.</a:t>
            </a:r>
          </a:p>
          <a:p>
            <a:r>
              <a:t>표 8a · seed 0 · AD2 AUPRO@.05, MVTec AD/VisA I-AUROC (%) · 상세 A-7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q95의 none 대비 성능 기여는 확인되지 않았다</a:t>
            </a:r>
          </a:p>
          <a:p>
            <a:r>
              <a:t>보정 │ AD2 AUPRO 차이는 −0.33~+0.40pp로 방향이 엇갈린다</a:t>
            </a:r>
          </a:p>
          <a:p>
            <a:r>
              <a:t>q95는 MAD보다 높지만, 보정을 제거한 none보다 일관되게 높지는 않다.</a:t>
            </a:r>
          </a:p>
          <a:p>
            <a:r>
              <a:t>MVTec AD·VisA의 I-AUROC도 q95가 none보다 0.07~1.06pp 낮다.</a:t>
            </a:r>
          </a:p>
          <a:p>
            <a:r>
              <a:t>표 8d · 전체 방법에서 normalization만 변경 · seed 0 · AUPRO@0.05 (%)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  <a:p>
            <a:r>
              <a:t>표 11 보정 변형(2-shot;16-shot AUPRO/pAUROC):</a:t>
            </a:r>
          </a:p>
          <a:p>
            <a:r>
              <a:t>0.50 | 58.22 / 75.47 | 59.03 / 77.15</a:t>
            </a:r>
          </a:p>
          <a:p>
            <a:r>
              <a:t>0.80 | 59.11 / 76.29 | 59.56 / 77.53</a:t>
            </a:r>
          </a:p>
          <a:p>
            <a:r>
              <a:t>0.90 | 59.29 / 76.42 | 59.60 / 77.49</a:t>
            </a:r>
          </a:p>
          <a:p>
            <a:r>
              <a:t>0.95 (Default) | 59.33 / 76.48 | 59.57 / 77.46</a:t>
            </a:r>
          </a:p>
          <a:p>
            <a:r>
              <a:t>0.99 | 59.37 / 76.52 | 59.55 / 77.39</a:t>
            </a:r>
          </a:p>
          <a:p>
            <a:r>
              <a:t>0.999 | 59.20 / 76.22 | 59.55 / 77.26</a:t>
            </a:r>
          </a:p>
          <a:p>
            <a:r>
              <a:t>꼬리 확률 변환(−log 생존확률), q=0.95 | 59.11 / 76.65 | 59.25 / 77.14</a:t>
            </a:r>
          </a:p>
          <a:p>
            <a:r>
              <a:t>토큰별 로컬 척도(local_reliability=scale) | 52.34 / 75.33 | 57.46 / 78.03</a:t>
            </a:r>
          </a:p>
          <a:p>
            <a:r>
              <a:t>컴포넌트 q95 최대/최소 평균 약1.8배. Local-center 최종 결과는 원고 기준 미확정.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다해상도는 최선 단일보다 AUPRO가 높았다</a:t>
            </a:r>
          </a:p>
          <a:p>
            <a:r>
              <a:t>AD2 │ 2-shot +4.95pp · 16-shot +2.10pp</a:t>
            </a:r>
          </a:p>
          <a:p>
            <a:r>
              <a:t>각 bank의 cap은 같지만 총 bank 용량은 달라, 용량 효과를 분리한 비교는 아니다.</a:t>
            </a:r>
          </a:p>
          <a:p>
            <a:r>
              <a:t>표 10 · linear0125 · q95 · FP16 · seed 0 · AUPRO@0.05 (%)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계산 비용</a:t>
            </a:r>
          </a:p>
          <a:p>
            <a:r>
              <a:t>상태 │ linear0125의 전체 비용과 구성 요소별 비용은 아직 계측하지 않았다</a:t>
            </a:r>
          </a:p>
          <a:p>
            <a:r>
              <a:t>Fit·query 시간과 VRAM을 같은 장비·정밀도·입력 조건에서 계측해야 한다.</a:t>
            </a:r>
          </a:p>
          <a:p>
            <a:r>
              <a:t>특징 추출·거리 탐색·보정·결합의 절대 시간과 비율을 함께 보고한다.</a:t>
            </a:r>
          </a:p>
          <a:p>
            <a:r>
              <a:t>linear0125 현재 결과 미확보 · 기존 구성과 평가 항목 유지 · 표 12·12a · 상세 A-8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논의: 관찰과 시사점</a:t>
            </a:r>
          </a:p>
          <a:p>
            <a:r>
              <a:t>시사점 │ 전체 성능·bank 구조·관측 확장은 근거가 있으나, 보정의 기여는 아직 남아 있다</a:t>
            </a:r>
          </a:p>
          <a:p>
            <a:r>
              <a:t>성능: AD2 16-shot 3-seed AUPRO 60.06 ± 0.88 → 주 평가의 경쟁력 확보.</a:t>
            </a:r>
          </a:p>
          <a:p>
            <a:r>
              <a:t>구조: concat 대조와 단일 해상도 대조의 이득 → 관측별 bank 유지의 근거.</a:t>
            </a:r>
          </a:p>
          <a:p>
            <a:r>
              <a:t>보정: none 대비 일관된 이득 없음 → 국소 정상 거리 수준을 다루는 후속 비교.</a:t>
            </a:r>
          </a:p>
          <a:p>
            <a:r>
              <a:t>검증: 나머지 shot 다중 seed·private·shift·corruption·비용은 추가 확보 필요.</a:t>
            </a:r>
          </a:p>
          <a:p>
            <a:r>
              <a:t>Outline_v17.1 §5 · 모든 근거는 반복 사용한 개발 평가 · 다해상도 총 용량 차이 포함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보정 검증 이후 남은 평가를 마무리한다</a:t>
            </a:r>
          </a:p>
          <a:p>
            <a:r>
              <a:t>계획 │ 현재 방법 설정으로 확보하지 않은 결과는 비워 둔다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결론 및 향후 진행 방향</a:t>
            </a:r>
          </a:p>
          <a:p>
            <a:r>
              <a:t>결론 │ AD2 중심 성능과 관측별 bank 구조를 근거로 삼고, 보정 기여를 다음으로 검증한다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주 비교 원본: AUPRO@0.05</a:t>
            </a:r>
          </a:p>
          <a:p>
            <a:r>
              <a:t>원본 │ 14쪽 차트의 수치 (AD2 test_public, 8-class macro, %)</a:t>
            </a:r>
          </a:p>
          <a:p/>
          <a:p>
            <a:r>
              <a:t>표 4 · 비교군 3-seed · Ours 2·16-shot 3-seed, 1·4·8-shot seed 0 · mean ± sample SD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보조 지표: pAUROC@0.05 · I-AUROC</a:t>
            </a:r>
          </a:p>
          <a:p>
            <a:r>
              <a:t>원본 │ AD2 보조 지표도 같은 seed 범위와 방법 조건으로 해석한다</a:t>
            </a:r>
          </a:p>
          <a:p/>
          <a:p>
            <a:r>
              <a:t>표 4 · 비교군 3-seed · Ours 2·16-shot 3-seed, 나머지 seed 0 · 단위 %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AD2 비교군은 최대 입력을 맞춘 설정이다</a:t>
            </a:r>
          </a:p>
          <a:p>
            <a:r>
              <a:t>표 3 │ Backbone·관측 수·정밀도는 달라 전체 파이프라인 비교로 해석한다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  <a:p>
            <a:r>
              <a:t>FastRecon/RAD 독립 재구현. SuperAD는 원 논문 reference 선택과 달리 공통 support 사용. 표 5의 E9 FastRecon DINOv2 변형과 표 4의 ResNet-50 설정을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MVTec AD · VisA 원본</a:t>
            </a:r>
          </a:p>
          <a:p>
            <a:r>
              <a:t>원본 │ 15쪽 차트의 수치 (각 셀 I-AUROC / P-AUROC, 전체 FPR, %)</a:t>
            </a:r>
          </a:p>
          <a:p/>
          <a:p>
            <a:r>
              <a:t>표 5 발췌 · seed 0 · 비교군 설정 혼재 · FastRecon DINOv2 프로젝트 변형 · support hash 재감사 필요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공식 private 평가 전체 표</a:t>
            </a:r>
          </a:p>
          <a:p>
            <a:r>
              <a:t>참고 │ Full-data 참고값과 few-shot 현재 방법은 데이터 예산이 달라 직접 순위화하지 않는다</a:t>
            </a:r>
          </a:p>
          <a:p/>
          <a:p>
            <a:r>
              <a:t>표 6 · 각 셀 TESTpriv / TESTpriv,mix (%) · current linear0125 결과 미확보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  <a:p>
            <a:r>
              <a:t>Full-data 참조값은 원고 표 6의 출판/리더보드 값 인용. 이번 편집에서 외부 최신 순위를 재조사한 것은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합성 손상 원본</a:t>
            </a:r>
          </a:p>
          <a:p>
            <a:r>
              <a:t>원본 │ 각 셀 AUPRO@0.05 / pAUROC@0.05 (%) · 현재 방법은 미확보</a:t>
            </a:r>
          </a:p>
          <a:p/>
          <a:p>
            <a:r>
              <a:t>표 7 · MVTec AD 15 classes · 16-shot seed 0 · severity 3 · 비교군 역사적 설정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소거·진단 원본</a:t>
            </a:r>
          </a:p>
          <a:p>
            <a:r>
              <a:t>원본 │ 19·20쪽의 구성 소거와 보정 대조 (seed 0, %)</a:t>
            </a:r>
          </a:p>
          <a:p/>
          <a:p>
            <a:r>
              <a:t>표 8·8a · 아래: AD2 AUPRO/pAUROC, MVTec AD·VisA I/P-AUROC · 2·16-shot, seed 0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비교군 계산 비용 (A6000)</a:t>
            </a:r>
          </a:p>
          <a:p>
            <a:r>
              <a:t>상태 │ 현재 방법은 미계측이며, SuperAD 기존 비용은 참고값으로 유지한다</a:t>
            </a:r>
          </a:p>
          <a:p/>
          <a:p>
            <a:r>
              <a:t>표 12·12a · SuperAD 역사적 FP32 조건 · Ours FP16 비용 및 정밀도 일치 비교 필요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PaperWorks/outlines/Outline_v17.1.md</a:t>
            </a:r>
          </a:p>
          <a:p>
            <a:r>
              <a:t>재현 설정과 결과의 경계를 고정한다</a:t>
            </a:r>
          </a:p>
          <a:p>
            <a:r>
              <a:t>규격 │ 같은 설정의 linear0125 결과만 현재 방법의 근거로 사용한다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개발에 반복 사용한 평가 모집단이며 untouched holdout 주장이 아니다. 이전 gated SCARF 결과를 현재 linear0125 결과로 재사용하지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Relationship Id="rId5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0.png"/><Relationship Id="rId5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4.xml"/><Relationship Id="rId5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5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Relationship Id="rId8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9.xml"/><Relationship Id="rId5" Type="http://schemas.openxmlformats.org/officeDocument/2006/relationships/chart" Target="../charts/char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0.xml"/><Relationship Id="rId5" Type="http://schemas.openxmlformats.org/officeDocument/2006/relationships/chart" Target="../charts/chart9.xml"/><Relationship Id="rId6" Type="http://schemas.openxmlformats.org/officeDocument/2006/relationships/chart" Target="../charts/chart10.xml"/><Relationship Id="rId7" Type="http://schemas.openxmlformats.org/officeDocument/2006/relationships/chart" Target="../charts/char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1.xml"/><Relationship Id="rId5" Type="http://schemas.openxmlformats.org/officeDocument/2006/relationships/chart" Target="../charts/char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22.xml"/><Relationship Id="rId5" Type="http://schemas.openxmlformats.org/officeDocument/2006/relationships/chart" Target="../charts/char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관측별 Memory Bank와 Support 기반 점수 정렬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 기반 산업 결함 국소화 · linear0125 설정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v17.1 발표  ·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흐름 │ 문제 → 방법 → 주 결과 → 소거·분석 → 남은 검증 순으로 진행한다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01  문제 정의: 소수 정상 관측과 점수 단위의 차이 (4–7쪽)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02  방법 SCARF: 별도 bank·척도 보정·선형 결합 (8–12쪽)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03  주 결과: AD2·MVTec AD·VisA와 미확보 평가 (13–18쪽)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570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04  소거·분석: 구조·보정·해상도·계산 비용 (19–23쪽)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78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05  논의와 향후 계획: 근거의 범위와 남은 검증 (24–26쪽)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Appendix A  상세 수치와 고정 설정 (A-1–A-9)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관측별 bank와 다해상도 결합의 근거는 확보했고, 보정 기여는 추가 검증한다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5888736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관측을 어떻게 보완하나?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같은 이미지의 해상도·계층 관측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4–7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서로 다른 점수를 어떻게 합치나?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별도 bank → q95 → +0.125 shallow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8–12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성능은 어느 수준인가?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 AUPRO 60.06 ± 0.88 (3-seed)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13–18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소거·분석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어떤 구조가 성능을 뒷받침하나?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Concat·단일 해상도 대비 이득; q95는 미확정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19–23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다음 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보완해야 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보정 개선·다중 seed·외부 평가·비용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24–26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배경: 정상 몇 장으로 결함 위치 찾기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목적 │ 정상 1–16장으로, 오경보가 적은 구간에서 결함 영역을 찾는다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동결 DINOv2 패치를 정상 bank와 비교하고, 가장 가까운 정상 패치와의 거리를 계산한다.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다해상도·다계층은 같은 이미지의 관측 축을 늘리며, 새로운 정상 사례를 추가하지는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2926080" cy="128016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75304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정상 1–16장
해상도·계층별 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검사 이미지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429000"/>
            <a:ext cx="2926080" cy="128016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575304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동결 특징 추출
관측별 거리 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결함 국소화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429000"/>
            <a:ext cx="2926080" cy="128016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75304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보정·선형 결합
최종 anomaly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822191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822191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지표: AUPRO@0.05 — 낮은 FPR 구간의 결함 영역 국소화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①: 큰 거리가 항상 결함은 아니다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원인 │ 소수 정상 support는 조명·자세·반사 등 정상 변동을 모두 담지 못한다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가상 분포 개념도이며 실측 결과가 아님 · v16.3 개념 그림 유지 · Outline_v17.1 §1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처음 보는 정상 조건과 결함이 모두 높은 거리 점수를 만들 수 있다.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관측별 점수를 결합하려면, 각 bank에서 거리 크기가 갖는 의미부터 정렬해야 한다.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②: 얕은 층의 기여량을 조절해야 한다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민감도 │ λ=0.125를 개발 평가로 선택하고 다른 데이터셋에도 고정했다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8b · q95 · FP16 · seed 0 · 양의 가중치 조건 · 후보 전체는 발표자 노트에 기록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2-shot seed 0의 AUPRO로 선택한 post-hoc 설정이며, 일반적 최적값으로 주장하지 않는다.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331720"/>
          <a:ext cx="10698480" cy="3520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해법의 틀: 단위와 기여량을 따로 정한다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핵심 │ 관측별 점수를 정상 support 척도로 정렬하고, shallow 기여는 고정 가중치로 더한다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척도 보정: 각 bank의 정상 거리 q95를 기준으로 서로 다른 거리 눈금을 맞춘다.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기여량: shallow 가중치 0.125는 AD2 개발 평가로 선택하고 다른 데이터셋에도 고정한다.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① 관측별 단위 정렬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② 계층별 점수 결합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zₘ = dₘ / Q₀.₉₅(Dₘ)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661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 = z_d + 0.125 z₅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q95의 단위 정렬 역할과 실제 성능 기여는 구분한다.
none 대비 일관된 성능 향상은 아직 확인되지 않았다.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 전체 흐름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│ 정상 support로 bank와 기준값을 한 번 만들고(A), query마다 같은 규칙으로 결합한다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A 피팅: 계층 3 × 해상도 4 × bag 4 = 48개 bank와 정상 거리 척도를 구성한다.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B 추론: 거리 → q95 보정 → 선형 결합 → bag·해상도 평균 순으로 최종 맵을 만든다.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  피팅 (1회)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44952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9125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정상 support
동결 특징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3192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3044952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319125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관측별 bank
cap256 × 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33192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3" y="3044952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319125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정상끼리 매칭
LSO 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33192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3044952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319125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척도 고정
cₘ = q95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  Query 추론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28031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7433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4 해상도
3 계층 특징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51023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2152" y="4828031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497433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bank별 거리
zₘ = dₘ / cₘ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51023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2783" y="4828031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3" y="497433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선형 결합
z_d + 0.125 z₅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51023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3416" y="4828031"/>
            <a:ext cx="2423160" cy="950976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34856" y="4974336"/>
            <a:ext cx="22402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bag·scale 평균
상위 1% 점수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구성: 4개 해상도 × 4개 bag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설계 │ 해상도·계층별 bank를 유지하고, 같은 해상도의 bag 점수는 평균한다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관측 구성 도식 · 실제 anomaly map 아님 · FP16 · Layer 5/11/23 · Outline_v17.1 §3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해상도: 448 / 672 / 896 / 1120을 모두 사용해 공간 관측을 확장한다.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Bag: 이미지당 256개 위치를 4번 추출하며, 계층 간에는 같은 위치를 공유한다.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448 px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44168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99616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55064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10512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65960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21408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76856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32304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87752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44168" y="301752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44168" y="317753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44168" y="333756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44168" y="349757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44168" y="365760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44168" y="381762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44168" y="397763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4041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짧은 변 32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2514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672 px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87368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42816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98264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53712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59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64608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20056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75504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30952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87368" y="301752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87368" y="317753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87368" y="333756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7368" y="349757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87368" y="365760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087368" y="381762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087368" y="397763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20440" y="4041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짧은 변 48 tokens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514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896 px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30568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986016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41464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296912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452360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07808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63256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18704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074152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830568" y="301752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30568" y="317753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30568" y="333756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30568" y="349757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30568" y="365760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830568" y="3817620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830568" y="3977639"/>
            <a:ext cx="1243584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63640" y="4041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짧은 변 64 tokens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2514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1120 px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573767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29215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84663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040111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195559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351007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506455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661903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817351" y="3017520"/>
            <a:ext cx="0" cy="960119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573767" y="3017520"/>
            <a:ext cx="1243585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573767" y="3177539"/>
            <a:ext cx="1243585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573767" y="3337560"/>
            <a:ext cx="1243585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573767" y="3497579"/>
            <a:ext cx="1243585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573767" y="3657600"/>
            <a:ext cx="1243585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573767" y="3817620"/>
            <a:ext cx="1243585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573767" y="3977639"/>
            <a:ext cx="1243585" cy="0"/>
          </a:xfrm>
          <a:prstGeom prst="line">
            <a:avLst/>
          </a:prstGeom>
          <a:ln>
            <a:solidFill>
              <a:srgbClr val="AD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006840" y="4041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짧은 변 80 tokens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7240" y="4800600"/>
            <a:ext cx="1737360" cy="64008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8680" y="4946904"/>
            <a:ext cx="15544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Bag 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880360" y="4800600"/>
            <a:ext cx="1737360" cy="64008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71800" y="4946904"/>
            <a:ext cx="15544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Bag 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83479" y="4800600"/>
            <a:ext cx="1737360" cy="64008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74919" y="4946904"/>
            <a:ext cx="15544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Bag 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86599" y="4800600"/>
            <a:ext cx="1737360" cy="64008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78039" y="4946904"/>
            <a:ext cx="15544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Bag 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0" y="49651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→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55480" y="49194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평균 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Calibration: 거리 단위 통일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각 거리를 정상 support 거리의 95% 분위수 cₘ으로 나눈다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pre-fusion 척도 설명 그림: hazelnut 1120 px · 현재 전체 방법의 성능 증거가 아님 ·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같은 거리도 bank별 정상 분포가 다르면 다른 크기의 이탈을 뜻한다.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z = 1은 support 척도의 기준점이며, query의 FPR이나 결함 확률을 보장하지 않는다.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920" y="2316480"/>
            <a:ext cx="7516254" cy="3855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Linear Fusion: Shallow를 0.125만큼 더한다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S = z_d + 0.125 z₅,  z_d = (z₁₁ + z₂₃) / 2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설명용 예시값, 실측 아님 · Outline_v17.1 §3.4 · 임계값 기반 절단 없음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약한 양의 가중치로 shallow 관측을 추가하며, 정상 질감 반응도 함께 더해진다.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0.125는 AD2 public 2-shot seed 0 개발 평가에서 선택한 post-hoc 값이다.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651760"/>
          <a:ext cx="10698480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실제 맵에서 본 선형 결합: 후속 확인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상태 │ 현재 설정의 검증된 정성 맵은 미확보이며, 같은 위치에 비교 패널을 유지한다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정성 맵 미확보 · 아래는 패널 배치 안내이며 anomaly map이 아님 · Outline_v17.1 §3–4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동일 query·동일 색 범위에서 shallow 항이 최종 맵에 추가하는 위치를 확인한다.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정성 패널은 linear0125·4-scale·cap256 조건의 결과로 갱신한다.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Query / GT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2011680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92424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미확보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z_d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7792" y="3246120"/>
            <a:ext cx="2011680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3392424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미확보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9784" y="3246120"/>
            <a:ext cx="2011680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3392424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미확보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0.125 z₅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51776" y="3246120"/>
            <a:ext cx="2011680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6" y="3392424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미확보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최종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3768" y="3246120"/>
            <a:ext cx="2011680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3392424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미확보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최종 출력: bag 평균 → 원본 좌표 보간 → 해상도 평균
이미지 점수: 최종 맵 상위 1% 픽셀 평균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평가 │ 데이터셋별 지표와 seed 범위를 구분해 읽는다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874519"/>
          <a:ext cx="10917936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114800"/>
                <a:gridCol w="3968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평가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지표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 public · 8 classes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AUPRO@.05 / pAUROC@.05 / I-AUROC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 / 2 / 4 / 8 / 16-shot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15 classes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 / P-AUROC 전체 구간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 / 2 / 4 / 8 / 16-shot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12 classes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 / P-AUROC 전체 구간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 / 2 / 4 / 8 / 16-shot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seed 범위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2·16-shot: 3-seed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1·4·8-shot: seed 0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평가 해석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 macro · 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모두 반복 사용한 개발 모집단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(AD2 test_public)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결과 │ SuperAD 3-seed 평균 55.89 대비 +4.17pp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 (%) · Ours 2·16-shot만 3-seed, 나머지는 seed 0 · 비교군 3-seed · 표 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2-shot도 3-seed 평균 56.03 ± 2.99이며, SuperAD 대비 +6.23pp다.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331720"/>
          <a:ext cx="10698480" cy="3520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few-shot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범위 │ 우위는 지표·shot별로 다르며, AD2 저-FPR 국소화가 주 평가다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5 · seed 0 · P-AUROC 전체 FPR · 비교군 설정 혼재 · support hash 재감사 필요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VisA 16-shot Ours I/P-AUROC는 95.99 / 98.49로 표의 최고값이다.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MVTec AD 고-shot pixel 지표와 VisA 저-shot 일부에서는 비교군이 앞선다.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68880"/>
            <a:ext cx="2679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MVTec AD · I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58368" y="2834640"/>
          <a:ext cx="2679192" cy="31821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410711" y="2468880"/>
            <a:ext cx="2679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MVTec AD · P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410711" y="2834640"/>
          <a:ext cx="2679192" cy="318211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63055" y="2468880"/>
            <a:ext cx="2679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VisA · I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163055" y="2834640"/>
          <a:ext cx="2679192" cy="318211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915400" y="2468880"/>
            <a:ext cx="2679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VisA · P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915400" y="2834640"/>
          <a:ext cx="2679192" cy="3182112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2 공식 private 평가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상태 │ linear0125의 공식 private 결과와 threshold 평가는 아직 없다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 현재 결과 미확보 · 기존 구성과 평가 항목 유지 · 표 6 · 상세 A-5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공식 평가의 AU-PRO·ClassF1·SegF1을 함께 보고할 예정이다.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Full-data 참고값은 데이터 예산이 달라 few-shot 방법과 직접 순위화하지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371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AU-PRO@0.05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3371088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83864"/>
            <a:ext cx="3188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5216" y="2788920"/>
            <a:ext cx="3371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ClassF1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5216" y="3337560"/>
            <a:ext cx="3371088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3483864"/>
            <a:ext cx="3188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7472" y="2788920"/>
            <a:ext cx="3371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SegF1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7472" y="3337560"/>
            <a:ext cx="3371088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8912" y="3483864"/>
            <a:ext cx="3188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현재 방법의 실측 결과 확보 후 동일 위치에 차트를 반영한다.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조명 변화 (AD2 Shift 1–3)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상태 │ 현재 방법의 조명별 분해 결과는 미확보다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 현재 결과 미확보 · 기존 구성과 평가 항목 유지 · §4.3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정상 regular support를 기준으로 Regular와 Shift 1–3을 구분한다.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조명별 클래스 구성과 macro 범위를 명시한 후 동일 shot 곡선으로 비교한다.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Regular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2478024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83864"/>
            <a:ext cx="2295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78892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Shift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3337560"/>
            <a:ext cx="2478024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3483864"/>
            <a:ext cx="2295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78892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Shift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3337560"/>
            <a:ext cx="2478024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3483864"/>
            <a:ext cx="2295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278892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Shift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0536" y="3337560"/>
            <a:ext cx="2478024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1976" y="3483864"/>
            <a:ext cx="2295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현재 방법의 실측 결과 확보 후 동일 위치에 차트를 반영한다.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합성 손상 (MVTec AD corruption)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상태 │ 현재 방법의 corruption 결과는 미확보다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 현재 결과 미확보 · 기존 구성과 평가 항목 유지 · 표 7 · 상세 A-6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16-shot·seed 0·severity 3, 정상 support는 clean 조건을 유지한다.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Clean 대비 저하량을 비교해 밝기·대비·흐림·노이즈 강건성을 평가한다.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94218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1942185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83864"/>
            <a:ext cx="175930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6313" y="2788920"/>
            <a:ext cx="194218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Brightness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6313" y="3337560"/>
            <a:ext cx="1942185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7753" y="3483864"/>
            <a:ext cx="175930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9667" y="2788920"/>
            <a:ext cx="194218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Contrast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9667" y="3337560"/>
            <a:ext cx="1942185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1107" y="3483864"/>
            <a:ext cx="175930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3020" y="2788920"/>
            <a:ext cx="194218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53020" y="3337560"/>
            <a:ext cx="1942185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4460" y="3483864"/>
            <a:ext cx="175930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6374" y="2788920"/>
            <a:ext cx="194218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Gaussian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96374" y="3337560"/>
            <a:ext cx="1942185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7814" y="3483864"/>
            <a:ext cx="175930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현재 방법의 실측 결과 확보 후 동일 위치에 차트를 반영한다.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(AD2 16-shot)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계층 concat 대비 +2.09pp이며, q95의 none 대비 차이는 +0.40pp다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 · AD2 test_public full8 · seed 0 · AUPRO@0.05 (%) · 상세 A-7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Full과 concat은 같은 nominal float 수·cosine 거리의 bank 구조 대조다.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보정의 기여는 모든 shot에서 일관되지 않으므로 이 한 조건으로 일반화하지 않는다.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저샷·다른 데이터셋 진단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관찰 │ 별도 bank는 concat보다 높지만, q95 보정은 none보다 일관되게 높지 않다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8a · seed 0 · AD2 AUPRO@.05, MVTec AD/VisA I-AUROC (%) · 상세 A-7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세 데이터셋의 전 shot에서 Full이 layer concat보다 높다.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MVTec AD·VisA I-AUROC에서는 none이 Full보다 높아 구조와 보정의 효과를 분리한다.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85800" y="2852928"/>
          <a:ext cx="3520440" cy="3154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343400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MVTec AD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43400" y="2852928"/>
          <a:ext cx="3520440" cy="31546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001000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VisA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001000" y="2852928"/>
          <a:ext cx="3520440" cy="315468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Score Calibration 동작·성능 진단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보정 │ AD2 AUPRO 차이는 −0.33~+0.40pp로 방향이 엇갈린다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8d · 전체 방법에서 normalization만 변경 · seed 0 · AUPRO@0.05 (%)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q95는 MAD보다 높지만, 보정을 제거한 none보다 일관되게 높지는 않다.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MVTec AD·VisA의 I-AUROC도 q95가 none보다 0.07~1.06pp 낮다.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697480"/>
          <a:ext cx="10698480" cy="3154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해상도 구성 비교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 │ 2-shot +4.95pp · 16-shot +2.10pp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10 · linear0125 · q95 · FP16 · seed 0 · AUPRO@0.05 (%)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각 bank의 cap은 같지만 총 bank 용량은 달라, 용량 효과를 분리한 비교는 아니다.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331720"/>
          <a:ext cx="10698480" cy="3520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계산 비용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상태 │ linear0125의 전체 비용과 구성 요소별 비용은 아직 계측하지 않았다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 현재 결과 미확보 · 기존 구성과 평가 항목 유지 · 표 12·12a · 상세 A-8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Fit·query 시간과 VRAM을 같은 장비·정밀도·입력 조건에서 계측해야 한다.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특징 추출·거리 탐색·보정·결합의 절대 시간과 비율을 함께 보고한다.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371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fit /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3371088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83864"/>
            <a:ext cx="3188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5216" y="2788920"/>
            <a:ext cx="3371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Backbone / 탐색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5216" y="3337560"/>
            <a:ext cx="3371088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3483864"/>
            <a:ext cx="3188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7472" y="2788920"/>
            <a:ext cx="3371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보정 / 결합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7472" y="3337560"/>
            <a:ext cx="3371088" cy="1463040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8912" y="3483864"/>
            <a:ext cx="31882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—
현재 설정 결과 미확보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현재 방법의 실측 결과 확보 후 동일 위치에 차트를 반영한다.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논의: 관찰과 시사점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시사점 │ 전체 성능·bank 구조·관측 확장은 근거가 있으나, 보정의 기여는 아직 남아 있다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Outline_v17.1 §5 · 모든 근거는 반복 사용한 개발 평가 · 다해상도 총 용량 차이 포함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1627632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성능: AD2 16-shot 3-seed AUPRO 60.06 ± 0.88 → 주 평가의 경쟁력 확보.</a:t>
            </a:r>
          </a:p>
        </p:txBody>
      </p:sp>
      <p:sp>
        <p:nvSpPr>
          <p:cNvPr id="10" name="Detail"/>
          <p:cNvSpPr txBox="1"/>
          <p:nvPr/>
        </p:nvSpPr>
        <p:spPr>
          <a:xfrm>
            <a:off x="731520" y="1984248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구조: concat 대조와 단일 해상도 대조의 이득 → 관측별 bank 유지의 근거.</a:t>
            </a:r>
          </a:p>
        </p:txBody>
      </p:sp>
      <p:sp>
        <p:nvSpPr>
          <p:cNvPr id="11" name="Detail"/>
          <p:cNvSpPr txBox="1"/>
          <p:nvPr/>
        </p:nvSpPr>
        <p:spPr>
          <a:xfrm>
            <a:off x="731520" y="2340864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보정: none 대비 일관된 이득 없음 → 국소 정상 거리 수준을 다루는 후속 비교.</a:t>
            </a:r>
          </a:p>
        </p:txBody>
      </p:sp>
      <p:sp>
        <p:nvSpPr>
          <p:cNvPr id="12" name="Detail"/>
          <p:cNvSpPr txBox="1"/>
          <p:nvPr/>
        </p:nvSpPr>
        <p:spPr>
          <a:xfrm>
            <a:off x="731520" y="2697480"/>
            <a:ext cx="10698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검증: 나머지 shot 다중 seed·private·shift·corruption·비용은 추가 확보 필요.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10917936" cy="1124712"/>
          </a:xfrm>
          <a:prstGeom prst="rect">
            <a:avLst/>
          </a:prstGeom>
          <a:noFill/>
          <a:ln w="10160">
            <a:solidFill>
              <a:srgbClr val="AD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4032504"/>
            <a:ext cx="107350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주장 범위  같은 이미지의 해상도·계층 관측을 별도 bank로 유지하고 점수 단계에서 결합한다.
q95가 성능에 필수라는 주장은 현재 근거로 확정하지 않는다.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계획 │ 현재 방법 설정으로 확보하지 않은 결과는 비워 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874519"/>
          <a:ext cx="10917936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800600"/>
                <a:gridCol w="4791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우선순위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남은 작업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완료 기준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보정 결과 취합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 대조에서 개선 판단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다중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AD2·MVTec AD·VisA의 통계량 통일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공식 private · shift · corruption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결과와 threshold 검증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계산 비용 · 구성 요소별 비용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동일 장비·조건에서 절대값과 비율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비교 감사 · 정성 맵 · 방법 명칭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Support pairing·조건 명시·그림 정비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AD2 중심 성능과 관측별 bank 구조를 근거로 삼고, 보정 기여를 다음으로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566160"/>
                <a:gridCol w="3127248"/>
                <a:gridCol w="312724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별도 bank + 선형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보정의 일관된 이득 미확인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vs q95 / none</a:t>
                      </a:r>
                    </a:p>
                  </a:txBody>
                  <a:tcPr anchor="ctr" marL="109728" marR="109728" marT="27432" marB="27432"/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60.06 ± 0.88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단일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 shot 다중 seed</a:t>
                      </a:r>
                    </a:p>
                  </a:txBody>
                  <a:tcPr anchor="ctr" marL="109728" marR="109728" marT="27432" marB="27432"/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일반화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AD·VisA 결과 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Private·shift·corruption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현재 설정의 외부 평가</a:t>
                      </a:r>
                    </a:p>
                  </a:txBody>
                  <a:tcPr anchor="ctr" marL="109728" marR="109728" marT="27432" marB="27432"/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효율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FP16·4-scale·cap256 고정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현재 방법의 실측 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전체·구성 요소 비용 계측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 비교 원본: AUPRO@0.05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14쪽 차트의 수치 (AD2 test_public, 8-class macro,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4 · 비교군 3-seed · Ours 2·16-shot 3-seed, 1·4·8-shot seed 0 · mean ± sample SD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/>
                <a:gridCol w="1298448"/>
                <a:gridCol w="1298448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Ours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
± 1.85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
± 2.24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
± 2.27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
± 1.71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
± 1.87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
± 3.73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
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54.81</a:t>
                      </a:r>
                    </a:p>
                  </a:txBody>
                  <a:tcPr anchor="ctr" marL="109728" marR="109728" marT="27432" marB="27432"/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
± 2.08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
± 1.90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
± 2.39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
± 1.47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
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
± 2.33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
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56.03
± 2.99</a:t>
                      </a:r>
                    </a:p>
                  </a:txBody>
                  <a:tcPr anchor="ctr" marL="109728" marR="109728" marT="27432" marB="27432"/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
± 1.00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
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
± 1.73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
± 1.02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
± 0.76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
± 0.86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
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58.69</a:t>
                      </a:r>
                    </a:p>
                  </a:txBody>
                  <a:tcPr anchor="ctr" marL="109728" marR="109728" marT="27432" marB="27432"/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
± 1.90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
± 1.01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
± 0.14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
± 0.79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
± 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
± 1.21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
± 0.64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58.68</a:t>
                      </a:r>
                    </a:p>
                  </a:txBody>
                  <a:tcPr anchor="ctr" marL="109728" marR="109728" marT="27432" marB="27432"/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
± 1.36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
± 1.25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
± 0.57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
± 1.10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
± 0.14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
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
± 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60.06
± 0.88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보조 지표: pAUROC@0.05 · I-AUROC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AD2 보조 지표도 같은 seed 범위와 방법 조건으로 해석한다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4 · 비교군 3-seed · Ours 2·16-shot 3-seed, 나머지 seed 0 · 단위 %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pAUROC@0.05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801368"/>
          <a:ext cx="10917936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/>
                <a:gridCol w="1298448"/>
                <a:gridCol w="1298448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Ours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64.19±0.68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70.67±0.69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55.70±0.67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59.57±0.35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70.56±0.56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70.13±1.14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57.76±0.30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73.32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65.43±0.38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72.26±0.56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57.14±1.03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61.78±0.15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71.53±0.18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71.52±0.58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58.76±0.49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75.86±0.59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66.90±0.22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73.09±0.91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59.26±0.80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63.84±0.41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72.45±0.20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73.59±0.13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60.36±0.48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76.87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68.22±0.53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73.71±0.20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61.74±0.50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65.62±0.69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72.56±0.21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74.31±0.38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62.02±0.32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77.35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69.36±0.51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73.97±0.23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65.63±0.43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66.62±0.89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72.78±0.07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74.60±0.52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63.46±0.76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77.61±0.37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</a:t>
            </a:r>
          </a:p>
        </p:txBody>
      </p:sp>
      <p:graphicFrame>
        <p:nvGraphicFramePr>
          <p:cNvPr id="11" name="SummaryTable"/>
          <p:cNvGraphicFramePr>
            <a:graphicFrameLocks noGrp="1"/>
          </p:cNvGraphicFramePr>
          <p:nvPr/>
        </p:nvGraphicFramePr>
        <p:xfrm>
          <a:off x="640080" y="4087368"/>
          <a:ext cx="10917936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/>
                <a:gridCol w="1298448"/>
                <a:gridCol w="1298448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Ours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65.51±1.91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66.83±1.08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58.10±4.46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58.68±3.03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67.02±2.27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67.68±0.32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57.73±1.82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74.47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67.53±1.55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68.95±3.84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57.63±6.82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59.37±2.54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70.42±1.79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70.19±2.16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60.56±3.94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74.93±1.54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68.62±2.28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70.90±0.97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59.73±4.40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62.31±4.84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71.02±0.56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70.97±2.08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63.79±2.34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75.71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69.20±0.75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71.29±1.69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63.46±4.29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65.84±0.43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70.46±1.18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70.75±0.58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64.34±1.05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75.41</a:t>
                      </a:r>
                    </a:p>
                  </a:txBody>
                  <a:tcPr anchor="ctr" marL="109728" marR="109728" marT="27432" marB="27432"/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69.00±0.53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72.07±1.27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67.45±1.16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67.60±1.35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70.46±1.07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69.79±0.52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65.64±1.34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75.92±0.82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비교군 설정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3 │ Backbone·관측 수·정밀도는 달라 전체 파이프라인 비교로 해석한다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783080"/>
          <a:ext cx="10917934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029200"/>
                <a:gridCol w="4014215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·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/ 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· 5/11/23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 · FP16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· 5/11/17/23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· 5/11/17/23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 · 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 · paper configuration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 · 독립 재구현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 · 3/6/9/11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1280 → crop1120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DINOv2-reg ViT-G/14 · 22–28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 · source checkpoint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 · 공식 고정 입력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원본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15쪽 차트의 수치 (각 셀 I-AUROC / P-AUROC, 전체 FPR,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5 발췌 · seed 0 · 비교군 설정 혼재 · FastRecon DINOv2 프로젝트 변형 · support hash 재감사 필요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94360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Ours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92.76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96.77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96.13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97.39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96.99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97.68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97.60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97.93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98.94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98.05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90.29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96.73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92.20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97.32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94.19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97.82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95.01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98.25</a:t>
                      </a:r>
                    </a:p>
                  </a:txBody>
                  <a:tcPr anchor="ctr" marL="109728" marR="109728" marT="27432" marB="27432"/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95.99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전체 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Full-data 참고값과 few-shot 현재 방법은 데이터 예산이 달라 직접 순위화하지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6 · 각 셀 TESTpriv / TESTpriv,mix (%) · current linear0125 결과 미확보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176272"/>
                <a:gridCol w="2176272"/>
                <a:gridCol w="217627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 / 데이터 예산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Few-shot: PatchCore / AnomalyDINO / SuperAD / RAD / 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(linear0125), 16-shot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RD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RD++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EfficientAD-S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MSFlow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SimpleNet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DSR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RoBiS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27432" marB="27432"/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Full-data · SuperADD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합성 손상 원본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각 셀 AUPRO@0.05 / pAUROC@0.05 (%) · 현재 방법은 미확보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7 · MVTec AD 15 classes · 16-shot seed 0 · severity 3 · 비교군 역사적 설정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16"/>
                <a:gridCol w="1792224"/>
                <a:gridCol w="1792224"/>
                <a:gridCol w="1792224"/>
                <a:gridCol w="1792224"/>
                <a:gridCol w="1792224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212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† DINOv2 기반 프로젝트 변형. 나머지 비교군의 미확보 셀은 원고 표 7에 유지한다.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소거·진단 원본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19·20쪽의 구성 소거와 보정 대조 (seed 0,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8·8a · 아래: AD2 AUPRO/pAUROC, MVTec AD·VisA I/P-AUROC · 2·16-shot, seed 0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99616"/>
                <a:gridCol w="1499616"/>
                <a:gridCol w="1499616"/>
                <a:gridCol w="1499616"/>
                <a:gridCol w="1499616"/>
                <a:gridCol w="14996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AD2 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 mean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448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AUPRO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anchor="ctr" marL="109728" marR="109728" marT="27432" marB="27432"/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pAUROC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3520440"/>
          <a:ext cx="10917934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77240"/>
                <a:gridCol w="2876702"/>
                <a:gridCol w="2877616"/>
                <a:gridCol w="28776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anchor="ctr" marL="109728" marR="109728" marT="27432" marB="27432"/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anchor="ctr" marL="109728" marR="109728" marT="27432" marB="27432"/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anchor="ctr" marL="109728" marR="109728" marT="27432" marB="27432"/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anchor="ctr" marL="109728" marR="109728" marT="27432" marB="27432"/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anchor="ctr" marL="109728" marR="109728" marT="27432" marB="27432"/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계산 비용 (A6000)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상태 │ 현재 방법은 미계측이며, SuperAD 기존 비용은 참고값으로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12·12a · SuperAD 역사적 FP32 조건 · Ours FP16 비용 및 정밀도 일치 비교 필요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828800"/>
                <a:gridCol w="1920240"/>
                <a:gridCol w="2322576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VRAM fit / query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linear0125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linear0125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(기존 FP32)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 GiB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983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추가 계측: cap256 / cap1024 paired 비용, 전체 시간과 구성 요소별 절대값·비율.
과거 fusion 설정의 시간을 현재 linear0125 비용으로 치환하지 않는다.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 고정 사양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규격 │ 같은 설정의 linear0125 결과만 현재 방법의 근거로 사용한다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A-9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783080"/>
          <a:ext cx="10917936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40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고정 설정 / 기록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Backbone / precision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 DINOv2 ViT-L/14 · FP16 autocast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/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Layers 5/11/23 · 448/672/896/1120 · cap256 · 4 bags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거리 /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L2-normalized features · 1-NN cosine · support q95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(z11 + z23)/2 + 0.125 × z5 · bag/scale 평균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평가 옵션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CQ99 · noise guard k9 · image score = top-1% mean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선택 기록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λ: AD2 public 2-shot seed 0 post-hoc 선택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미확보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현재 방법의 private · shift · corruption · 계산 비용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원본 추적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Outline_v17.1.md 표 4/5/5b/8a/8d/10/10b/11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SCARF · Outline v17.1 · v16.3 구성 유지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