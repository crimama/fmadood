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10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</p:sldIdLst>
  <p:sldSz cx="12192000" cy="6858000"/>
  <p:notesSz cx="6858000" cy="9144000"/>
  <p:embeddedFontLst>
    <p:embeddedFont>
      <p:font typeface="NanumSquareOTF_ac" panose="020B0600000101010101" pitchFamily="34" charset="-127"/>
      <p:regular r:id="rId111"/>
    </p:embeddedFont>
    <p:embeddedFont>
      <p:font typeface="NanumSquareOTF_ac Bold" panose="020B0600000101010101" pitchFamily="34" charset="-127"/>
      <p:bold r:id="rId112"/>
    </p:embeddedFont>
    <p:embeddedFont>
      <p:font typeface="NanumSquareOTF_ac ExtraBold" panose="020B0600000101010101" pitchFamily="34" charset="-127"/>
      <p:bold r:id="rId113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요약" id="{FF7F0749-0802-4030-94E2-9B3B4228CFF9}">
          <p14:sldIdLst>
            <p14:sldId id="256"/>
            <p14:sldId id="257"/>
            <p14:sldId id="258"/>
          </p14:sldIdLst>
        </p14:section>
        <p14:section name="01 문제 정의" id="{4BA2552F-A693-4DA5-B998-7FEAB7F916D9}">
          <p14:sldIdLst>
            <p14:sldId id="259"/>
            <p14:sldId id="260"/>
            <p14:sldId id="261"/>
            <p14:sldId id="262"/>
          </p14:sldIdLst>
        </p14:section>
        <p14:section name="02 방법" id="{A4E51A97-C63E-4AFD-8EEA-D5A1F9F336DE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03 실험 결과" id="{BCA0A01A-B0FB-4F4C-B90D-34AABB720CD4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04 Ablation" id="{24C48BD5-AB2F-49EB-AB43-8EAE347C095B}">
          <p14:sldIdLst>
            <p14:sldId id="275"/>
            <p14:sldId id="276"/>
            <p14:sldId id="277"/>
            <p14:sldId id="278"/>
            <p14:sldId id="279"/>
          </p14:sldIdLst>
        </p14:section>
        <p14:section name="05 논의" id="{FF3CF3EC-AC64-43C6-951F-8A9A60273B70}">
          <p14:sldIdLst>
            <p14:sldId id="280"/>
            <p14:sldId id="281"/>
            <p14:sldId id="282"/>
          </p14:sldIdLst>
        </p14:section>
        <p14:section name="Appendix A" id="{C9887648-6AFD-4A12-A4B5-EB279ADDAE53}">
          <p14:sldIdLst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3" autoAdjust="0"/>
    <p:restoredTop sz="89795" autoAdjust="0"/>
  </p:normalViewPr>
  <p:slideViewPr>
    <p:cSldViewPr snapToGrid="0" snapToObjects="1">
      <p:cViewPr varScale="1">
        <p:scale>
          <a:sx n="99" d="100"/>
          <a:sy n="99" d="100"/>
        </p:scale>
        <p:origin x="184" y="392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110" Type="http://schemas.openxmlformats.org/officeDocument/2006/relationships/notesMaster" Target="notesMasters/notesMaster1.xml"/><Relationship Id="rId111" Type="http://schemas.openxmlformats.org/officeDocument/2006/relationships/font" Target="fonts/font1.fntdata"/><Relationship Id="rId112" Type="http://schemas.openxmlformats.org/officeDocument/2006/relationships/font" Target="fonts/font2.fntdata"/><Relationship Id="rId113" Type="http://schemas.openxmlformats.org/officeDocument/2006/relationships/font" Target="fonts/font3.fntdata"/><Relationship Id="rId114" Type="http://schemas.openxmlformats.org/officeDocument/2006/relationships/commentAuthors" Target="commentAuthors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Relationship Id="rId1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 문서: PaperWorks/Outline_v16.3.md (CVPR/WACV 제출용 아웃라인). 발표자 이름·소속 표기는 확인 후 추가.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High-Score Ambiguity: 큰 최근접 거리의 원인이 실제 결함인지, support에 없는 정상 변동인지 관측만으로 확정할 수 없다는 문제. 요구 사항: 정상 수준 신호는 누적을 막고, 정상 범위를 명백히 넘는 반응만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1단계는 클래스마다 1회. 2단계는 query마다 수행하며 support 통계는 고정(test-time update 없음). Layer 5 기준 τ5 = Q0.99/Q0.95 ≥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조건 1: z5 ≤ τ5 이면 e5 = 0, S = z_d (정상 질감 변동 차단). 조건 2: z5 &gt; τ5 이면 S = z_d + (z5 − τ5) (정상 한계를 넘은 고주파 결함 신호만 가산). 선형합 z_d + λ·z5와 달리 정상 변동은 0으로 잘라냄.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SCARF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Support-Calibrated Asymmetric Residual Fusion</a:t>
            </a:r>
          </a:p>
        </p:txBody>
      </p:sp>
      <p:sp>
        <p:nvSpPr>
          <p:cNvPr id="5" name="Subtitle2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소수 정상 이미지 기반 산업 결함 국소화를 위한 척도 보정·비대칭 잔차 결합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10515600" cy="0"/>
          </a:xfrm>
          <a:prstGeom prst="line">
            <a:avLst/>
          </a:prstGeom>
          <a:ln w="13716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연구 아웃라인 v16.3 발표  ·  2026-10-03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발표 순서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흐름 │ 문제 → 방법 → 주 결과 → 소거·분석 → 남은 검증 순으로 진행한다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</a:t>
            </a:r>
          </a:p>
        </p:txBody>
      </p:sp>
      <p:graphicFrame>
        <p:nvGraphicFramePr>
          <p:cNvPr id="7" name="SummaryTable"/>
          <p:cNvGraphicFramePr>
            <a:graphicFrameLocks noGrp="1"/>
          </p:cNvGraphicFramePr>
          <p:nvPr/>
        </p:nvGraphicFramePr>
        <p:xfrm>
          <a:off x="640080" y="1645920"/>
          <a:ext cx="1091793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6437376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순서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파트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다루는 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문제 정의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왜 "큰 거리 = 결함"이 아닌가, 관측을 늘리면 무엇이 문제인가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4–7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방법: SCARF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척도 보정과 비대칭 잔차 결합은 어떻게 계산되는가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8–13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실험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few-shot·공식 private·조명/손상 변화에서 성능은?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14–19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Ablation · 분석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어느 장치가 이득을 만드는가, 비용은?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20–24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논의와 향후 계획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한계와 아직 비어 있는 검증은?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25–27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Appendix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보조 지표·비교군 설정·전체 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A-1–A-4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한 장 요약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결론 │ Shallow를 "초과분만" 더하는 규칙으로 AD2 저-FPR 국소화에서 가장 높은 성능을 얻었다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</a:t>
            </a:r>
          </a:p>
        </p:txBody>
      </p:sp>
      <p:graphicFrame>
        <p:nvGraphicFramePr>
          <p:cNvPr id="7" name="SummaryTable"/>
          <p:cNvGraphicFramePr>
            <a:graphicFrameLocks noGrp="1"/>
          </p:cNvGraphicFramePr>
          <p:nvPr/>
        </p:nvGraphicFramePr>
        <p:xfrm>
          <a:off x="640080" y="1600200"/>
          <a:ext cx="10917936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40"/>
                <a:gridCol w="5248656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섹션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문제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소수 정상 support에서 큰 거리는 결함인가?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변동도 큰 거리를 내 저-FPR 오경보를 유발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층·해상도 점수를 어떻게 합칠까?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q95로 단위 통일 + Shallow는 q99 초과분만 가산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10·11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few-shot에서 경쟁력은?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1–16 shot AUPRO@0.05 1위, 16-shot SuperAD +4.47pp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조명·손상 변화에서는?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Shift 1–3·밝기·대비는 안정, Gaussian noise는 약함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18·19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소거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이득은 어디서 오나?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단위 보정 + 게이트가 함께 있어야 Deep-only 초과 (+0.47pp)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한계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아직 확인 안 된 것은?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저샷 순이득 불안정, 선형 가중·Hard Gate·q/β 민감도 미완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21·26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배경: 정상 몇 장으로 결함 위치 찾기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목적 │ 재학습 없이 정상 1–16장만으로, 오경보가 적은 구간에서 결함 영역을 짚는다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동결 DINOv2 패치를 정상 패치 뱅크와 비교 → 가장 가까운 정상 패치와의 거리 = 결함 점수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왜 저-FPR인가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공정에서 오경보는 곧 라인 정지 비용 → FPR 5% 이하 구간 성능이 실사용 성능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PaperWorks/Outline_v16.3.md §1.1, 표 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375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747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용어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뜻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1847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Support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제품별 정상 이미지 1–16장 (결함 이미지·라벨 없음)</a:t>
                      </a:r>
                    </a:p>
                  </a:txBody>
                  <a:tcPr anchor="ctr" marL="109728" marR="109728" marT="27432" marB="27432"/>
                </a:tc>
              </a:tr>
              <a:tr h="561847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Query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검사할 테스트 이미지</a:t>
                      </a:r>
                    </a:p>
                  </a:txBody>
                  <a:tcPr anchor="ctr" marL="109728" marR="109728" marT="27432" marB="27432"/>
                </a:tc>
              </a:tr>
              <a:tr h="561847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support 패치 특징을 모아 둔 정상 참조 저장소</a:t>
                      </a:r>
                    </a:p>
                  </a:txBody>
                  <a:tcPr anchor="ctr" marL="109728" marR="109728" marT="27432" marB="27432"/>
                </a:tc>
              </a:tr>
              <a:tr h="561847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1-NN 거리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query 패치와 가장 가까운 정상 패치 사이의 코사인 거리</a:t>
                      </a:r>
                    </a:p>
                  </a:txBody>
                  <a:tcPr anchor="ctr" marL="109728" marR="109728" marT="27432" marB="27432"/>
                </a:tc>
              </a:tr>
              <a:tr h="561847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AUPRO@0.05 (주 지표)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오경보율 5% 이하에서 결함 영역을 얼마나 덮는지 (영역 단위)</a:t>
                      </a:r>
                    </a:p>
                  </a:txBody>
                  <a:tcPr anchor="ctr" marL="109728" marR="109728" marT="27432" marB="27432"/>
                </a:tc>
              </a:tr>
              <a:tr h="561847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pAUROC@0.05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같은 FPR 구간의 픽셀 단위 ROC 면적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①: 큰 거리가 항상 결함은 아니다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원인 │ 정상 16장은 조명·자세·반사 변화를 다 담지 못해 처음 보는 정상도 멀게 나온다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비유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맑은 날 사진만 본 검사원은 흐린 날 찍힌 정상품도 "처음 보는 모습"이라 의심함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관측의 한계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거리값 하나로는 결함인지, support에 없던 정상 변동인지 가릴 수 없음 (High-Score Ambiguity)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저-FPR에 치명적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임계값은 정상 점수 상위 1–5% 꼬리로 정해짐 → 튀는 정상 몇 개가 임계값을 끌어올림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PaperWorks/Outline_v16.3.md §1.1. 아래 표는 개념 설명용 예시(실측 아님).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52344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3291840"/>
                <a:gridCol w="30540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관측 (예시)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거리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실제 원인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평소 조명의 정상 표면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작음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문제없음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조명이 바뀐 정상 표면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(support에 없던 변동)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오경보 → 임계값 상승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미세 스크래치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잡아야 할 대상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②: 관측을 늘릴 때의 딜레마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딜레마 │ 얕은 층·고해상도는 미세 결함을 잡지만 정상 질감·노이즈에도 반응한다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q95로 단위를 맞춘 뒤에도 Shallow를 전부 더하면 AUPRO@0.05 58.67 → 54.02% (−4.65pp)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그래서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관측은 늘리되, 각 관측이 점수에 "얼마나" 들어갈지를 따로 제어해야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PaperWorks/Outline_v16.3.md §1.2, §3.2 해상도 표, 표 8. 토큰 1개가 덮는 길이 = 14 px / 짧은 변.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2743200"/>
                <a:gridCol w="26883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관측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잘 잡는 것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약점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SCARF에서의 역할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Deep (Layer 11·23)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형태·의미 이상, 조명 변화에 둔감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미세 윤곽·질감에 둔감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기본 탐지선 (항상 사용)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Shallow (Layer 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미세 스크래치·국소 결함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질감·외관 변화에도 과민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상한 초과분만 가산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저해상도 448 px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거시 형태 (토큰 1개 = 짧은 변 3.1%)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작은 결함을 놓침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해상도 평균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고해상도 1120 px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미세 결함 (토큰 1개 = 짧은 변 1.25%)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센서 노이즈에 반응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해상도 평균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문제 정의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해법의 틀: 단위와 기여량을 따로 푼다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핵심 │ 점수 결합을 "척도 보정"과 "기여 제어" 두 축으로 나누고 둘 다 정상 support 통계로 정한다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미리보기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척도 보정만 하면 54.02%, 둘 다 하면 59.15% — Deep-only 58.67%를 넘는 유일한 구성 (20쪽)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PaperWorks/Outline_v16.3.md §1.2–1.3. 비유 열은 이해를 돕기 위한 설명.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072640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3291840"/>
                <a:gridCol w="25968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문제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비유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Scale Calibration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(척도 보정)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층·해상도마다 거리 단위가 다름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거리의 상위 5% 값(q = 0.95)으로 나눔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→ z = 1이 공통 경계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cm와 inch를 같은 단위로 환산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Contribution Control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(기여 제어)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Shallow의 정상 반응이 점수에 누적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Deep 점수 + Shallow가 정상 상위 1%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(β = 0.99)를 넘는 만큼만 가산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기본급 + 목표 초과분만 성과급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통합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거시 안정성 vs 미세 탐지력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고정 4개 해상도 맵을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배율 돋보기 결과를 종합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SCARF 전체 흐름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구조 │ 학습 없이, support에서 미리 잰 두 분위수(q·β)로 모든 결합 규칙이 정해진다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PaperWorks/Outline_v16.3.md §3.1. 컴포넌트 m = (층 l, 해상도 r, bag b). LSO = Leave-Source-Out.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120640"/>
                <a:gridCol w="3145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하는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결과물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피팅 1 · 뱅크 구축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층 3 × 해상도 4 × bag 4 = 48개 컴포넌트별 정상 패치 저장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뱅크 B_m (16-shot: 각 4,096토큰)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피팅 2 · 정상 거리 측정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이미지 1장씩 빼고 나머지 support와 매칭 (LSO)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거리 분포 D_m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피팅 3 · 기준값 계산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D_m의 95% 분위수 c_m, Layer 5의 99%/95% 비율 τ5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고정 상수 c_m, τ5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추론 1 · 거리 → z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query의 1-NN 코사인 거리 d_m을 c_m으로 나눔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z_m (1 = 정상 상위 5% 경계)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추론 2 · 층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z_d = (z11 + z23) / 2,  S = z_d + max(0, z5 − τ5)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 점수 S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추론 3 · 맵 통합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bag 4개 평균 → 4개 해상도를 원본 크기로 보간 후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결함 맵 A, 이미지 점수 = max A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정상 뱅크: 4개 해상도 × 4개 bag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설계 │ 이미지당 256토큰을 4번 다르게 뽑아 메모리를 줄이고, 평균으로 표본 우연성을 상쇄한다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Bag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이미지당 256토큰 무작위 비복원 추출 × 시드 4개, 세 층은 같은 위치 토큰을 공유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효과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hazelnut 예시에서 bag 간 픽셀 표준편차 평균 0.038 → 4-bag 평균으로 완화 (아래 그림 M1)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PaperWorks/Outline_v16.3.md §3.2. 패치 크기 14 × 14 px 고정, 해상도 = 짧은 변 길이. 그림 M1: hazelnut 1120 px, 오른쪽 = 픽셀별 bag 간 표준편차.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5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743200"/>
                <a:gridCol w="3785615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(px)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짧은 변 토큰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 1개가 덮는 길이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관측 특성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3.1%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거시 형태 안정성, 노이즈에 둔감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2.1%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중간 수준 구조 정보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1.6%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국소 결함 표본 밀도 강화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약 1.25%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미세 결함 표본 밀도 최대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pic>
        <p:nvPicPr>
          <p:cNvPr id="10" name="ContentFigure" descr="fig_rsg4_mech_bagg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349" y="3934968"/>
            <a:ext cx="9047397" cy="22372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Calibration: 거리 단위 통일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방법 │ 각 거리를 정상 support 거리의 95% 분위수 c_m으로 나눠 z = 1을 공통 경계로 만든다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같은 거리, 다른 뜻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 = 0.178은 Layer 5 기준(0.123)은 넘고 Layer 23 기준(0.232)은 못 넘음 (오른쪽 위)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환산 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z5 = 1.44 &gt; 1, z23 = 0.76 &lt; 1 → 두 층을 같은 눈금에서 비교 (오른쪽 아래)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비유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키(cm)와 몸무게(kg)를 더하기 전에 각자 "정상 상위 5%의 몇 배"로 바꾸는 것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c_m = Q0.95(D_m^LSO), z_m = d_m / c_m. 그림 M2: hazelnut 1120 px, bag 평균, d*는 예시값. 출처: PaperWorks/Outline_v16.3.md §3.3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pic>
        <p:nvPicPr>
          <p:cNvPr id="9" name="ContentFigure" descr="fig_rsg4_mech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988" y="2633472"/>
            <a:ext cx="6494118" cy="35387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Asymmetric Residual Fusion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방법 │ S = z_d + max(0, z5 − τ5): Shallow는 정상 상위 1% 경계 τ5를 넘은 만큼만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τ5 = Q0.99 / Q0.95 (Layer 5 정상 거리) ≥ 1 → 정상 픽셀 약 99%는 가산 0, 가중치 탐색 불필요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비유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기본급(Deep)은 항상, 성과급(Shallow)은 목표를 넘긴 만큼만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전체 가산은 정상 질감 면(1.90)을 스크래치의 Deep 점수(0.85)보다 높게 매기지만, SCARF는 0.65 vs 2.35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값은 설명용 예시(실측 아님). z_d = (z11 + z23)/2. 출처: PaperWorks/Outline_v16.3.md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6"/>
                <a:gridCol w="1234440"/>
                <a:gridCol w="1234440"/>
                <a:gridCol w="1234440"/>
                <a:gridCol w="1463040"/>
                <a:gridCol w="16916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픽셀 (예시)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Deep z_d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Shallow z5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τ5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초과분 e5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전체 가산 z_d+z5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 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정상 매끈한 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0.55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정상 질감 변화 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0.65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미세 스크래치 결함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2.35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대형 파손 결함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4.10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실제 맵에서 본 잔차 결합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확인 │ 정상 껍질에서 초과분은 0이고, 균열 테두리에서만 켜져 Deep 맵에 더해진다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Shallow 전체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균열 테두리와 함께 정상 껍질 윤곽에도 반응 (z5 &gt; 1인 픽셀 8.8%)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초과분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τ5 = 1.44 이하를 잘라내면 0.05 넘는 픽셀이 4.9%로 줄고 균열 쪽에 남음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SCARF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 기준선은 그대로 두고 균열 테두리 반응만 보태 결함 경계를 보강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M3: hazelnut 1120 px, bag 평균, 같은 색 범위. 하늘색 윤곽 = GT(표시용). 출처: PaperWorks/Outline_v16.3.md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pic>
        <p:nvPicPr>
          <p:cNvPr id="9" name="ContentFigure" descr="fig_rsg4_mech_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25905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방법: SCARF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맵 통합과 고정 사양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사양 │ bag 평균 → 4개 해상도 보간 평균으로 최종 맵을 만들고, 모든 값은 사전에 고정한다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PaperWorks/Outline_v16.3.md §3.5–3.6, 표 8 (CQ 후처리 적용 조건).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120640"/>
                <a:gridCol w="36941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값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비고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백본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 (동결, 약 304M)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패치 14 × 14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층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Layer 5 (Shallow), Layer 11·23 (Deep)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Deep = 두 층 z 평균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 / 672 / 896 / 1120 (짧은 변)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모든 query에 고정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Bag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× 이미지당 256토큰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bag 점수는 같은 토큰 격자에서 평균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분위수 q / β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0.95 / 0.99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척도 보정 / 잔차 게이트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맵 통합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해상도별 맵을 원본 크기로 bilinear 보간 → 동일 가중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이미지 점수 = 최종 맵 최댓값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후처리 (선택)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CQ: 상위 1% 연결 성분을 그 최댓값으로 채움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8 결과에 적용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재현성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0·1·2, 고정 support manifest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역전파·파라미터 갱신·테스트 라벨 없음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설정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설정 │ 주 비교는 조명 변화가 섞인 MVTec AD 2 test_public 8클래스, 1–16 shot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Support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 조명 train/good에서 선택 → Shift 1–3 조명은 support에 없던 변화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Seed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SCARF·SuperAD·PatchCore는 2·16-shot만 seed 0–2 평균, 1·4·8-shot은 seed 0 단일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지표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AUPRO@0.05(주), pAUROC@0.05, I-AUROC — 모두 연속 점수 맵에서 계산, 임계값 불필요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PaperWorks/Outline_v16.3.md §4.1 표 1–3. 다른 방법(AnomalyDINO·FastRecon·RAD·SubspaceAD·RegAD)은 모든 shot seed 0–2 평균.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2486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Split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이미지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조명 · 라벨 범위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train/good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2,528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정상, regular 조명 (support 선택 원천)</a:t>
                      </a:r>
                    </a:p>
                  </a:txBody>
                  <a:tcPr anchor="ctr" marL="109728" marR="109728" marT="27432" marB="27432"/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test_public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1,084 (정상 379 / 결함 705)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조명, 라벨 공개 → 개발 평가</a:t>
                      </a:r>
                    </a:p>
                  </a:txBody>
                  <a:tcPr anchor="ctr" marL="109728" marR="109728" marT="27432" marB="27432"/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조명, GT는 서버 비공개</a:t>
                      </a:r>
                    </a:p>
                  </a:txBody>
                  <a:tcPr anchor="ctr" marL="109728" marR="109728" marT="27432" marB="27432"/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test_private,mix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seen/unseen 조명 무작위 구성 (별도 split)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Few-shot 주 비교 (AD2 test_public)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1–16 shot 전부 AUPRO@0.05 1위, 16-shot에서 SuperAD 대비 +4.47pp (59.63 vs 55.16)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격차 유지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2위 SuperAD와 차이가 1-shot 4.27pp, 16-shot 4.47pp로 shot 수와 무관하게 유지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보조 지표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pAUROC@0.05는 전 shot 1위, I-AUROC는 2-shot만 SuperAD가 앞섬 (74.11 vs 73.79, A-1)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해석 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각 방법은 자기 백본·입력·layer 설정을 유지한 "전체 파이프라인" 비교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AUPRO@0.05 (%), 8-class macro. * = seed 0 단일, 그 외 seed 0–2 mean ± SD. 비교군 설정은 A-2. 출처: PaperWorks/Outline_v16.3.md §4.2 표 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36.78*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39.92 ± 2.43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17.96 ± 1.21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23.32 ± 0.26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37.31 ± 1.99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49.96*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 ± 0.38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54.23*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40.07 ± 2.43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42.36 ± 1.24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18.93 ± 1.94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26.85 ± 1.11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38.28 ± 0.70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50.56 ± 2.37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 ± 0.30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55.62 ± 2.70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44.41*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43.40 ± 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20.00 ± 1.51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30.28 ± 0.83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39.22 ± 0.70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53.68*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 ± 1.07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58.36*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45.73*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44.28 ± 0.59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18.09 ± 0.45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32.96 ± 1.60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39.38 ± 0.42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54.73*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 ± 0.64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58.40*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49.16 ± 0.77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44.36 ± 0.27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17.31 ± 1.20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33.54 ± 0.98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39.54 ± 0.34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55.16 ± 0.46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 ± 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59.63 ± 0.80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few-shot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한계 │ P-AUROC는 상위권과 비슷하지만 I-AUROC는 SuperAD보다 낮다 — 강점은 AD2 저-FPR 국소화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P-AUROC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VisA 8·16-shot 최고(98.34, 98.56), 나머지 조건은 최고값보다 0.05–0.33pp 낮음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두 데이터셋 모든 조건에서 SuperAD보다 1.2–5.0pp 낮음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포화된 전체-FPR 지표에서는 차이가 작음 → 이미지 판정은 주장 범위 밖으로 분리 보고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I-AUROC / P-AUROC (전체 FPR, %), seed 0, MVTec AD 15·VisA 12 클래스 macro, support hash 일치. FastRecon = DINOv2 기반 프로젝트 변형. 16-shot은 VisA만 완료. 출처: PaperWorks/Outline_v16.3.md §4.2 표 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660904"/>
          <a:ext cx="10917936" cy="3483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148840"/>
                <a:gridCol w="2148840"/>
                <a:gridCol w="2148840"/>
                <a:gridCol w="21488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 · 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 / 96.22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 / 96.60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92.54 / 96.93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87.57 / 96.63</a:t>
                      </a:r>
                    </a:p>
                  </a:txBody>
                  <a:tcPr anchor="ctr" marL="109728" marR="109728" marT="27432" marB="27432"/>
                </a:tc>
              </a:tr>
              <a:tr h="3444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 / 97.29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 / 97.36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91.93 / 97.31</a:t>
                      </a:r>
                    </a:p>
                  </a:txBody>
                  <a:tcPr anchor="ctr" marL="109728" marR="109728" marT="27432" marB="27432"/>
                </a:tc>
              </a:tr>
              <a:tr h="3444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 / 97.37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95.61 / 97.87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 / 97.70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93.83 / 97.66</a:t>
                      </a:r>
                    </a:p>
                  </a:txBody>
                  <a:tcPr anchor="ctr" marL="109728" marR="109728" marT="27432" marB="27432"/>
                </a:tc>
              </a:tr>
              <a:tr h="3444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· 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96.76 / 98.16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94.69 / 97.89</a:t>
                      </a:r>
                    </a:p>
                  </a:txBody>
                  <a:tcPr anchor="ctr" marL="109728" marR="109728" marT="27432" marB="27432"/>
                </a:tc>
              </a:tr>
              <a:tr h="3444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 / 96.75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97.06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85.29 / 96.73</a:t>
                      </a:r>
                    </a:p>
                  </a:txBody>
                  <a:tcPr anchor="ctr" marL="109728" marR="109728" marT="27432" marB="27432"/>
                </a:tc>
              </a:tr>
              <a:tr h="3444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 / 96.29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 / 97.43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92.20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89.46 / 97.46</a:t>
                      </a:r>
                    </a:p>
                  </a:txBody>
                  <a:tcPr anchor="ctr" marL="109728" marR="109728" marT="27432" marB="27432"/>
                </a:tc>
              </a:tr>
              <a:tr h="3444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 / 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 / 97.91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98.02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91.77 / 97.94</a:t>
                      </a:r>
                    </a:p>
                  </a:txBody>
                  <a:tcPr anchor="ctr" marL="109728" marR="109728" marT="27432" marB="27432"/>
                </a:tc>
              </a:tr>
              <a:tr h="3444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 / 97.18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 / 98.11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94.50 / 98.29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92.81 / 98.34</a:t>
                      </a:r>
                    </a:p>
                  </a:txBody>
                  <a:tcPr anchor="ctr" marL="109728" marR="109728" marT="27432" marB="27432"/>
                </a:tc>
              </a:tr>
              <a:tr h="34442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 · 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 / 97.30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 / 98.32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93.10 / 98.56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2 공식 private 평가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정상 16장으로 AU-PRO 64.80 / 62.49% — full-data 방법과는 예산이 달라 순위를 매기지 않음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SegF1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34.84%로 SuperAD·RoBiS·SuperADD(47–57%)보다 낮음 → 고정 임계값 설계가 다음 과제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임계값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support를 뺀 train/good의 8번째 간격 샘플 픽셀 p95 × 1.421, private GT 미사용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TESTpriv / TESTpriv,mix (%). AU-PRO는 연속 점수 맵, ClassF1·SegF1은 임계값 적용. Full-data 행은 원 논문·리더보드 수치. 전체 표 A-3. 출처: PaperWorks/Outline_v16.3.md §4.3.1 표 6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3462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2359152"/>
                <a:gridCol w="2359152"/>
                <a:gridCol w="235915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정상 데이터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13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 (ours)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64.80 / 62.49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76.38 / 77.52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34.84 / 30.68</a:t>
                      </a:r>
                    </a:p>
                  </a:txBody>
                  <a:tcPr anchor="ctr" marL="109728" marR="109728" marT="27432" marB="27432"/>
                </a:tc>
              </a:tr>
              <a:tr h="513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full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anchor="ctr" marL="109728" marR="109728" marT="27432" marB="27432"/>
                </a:tc>
              </a:tr>
              <a:tr h="513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RoBiS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full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anchor="ctr" marL="109728" marR="109728" marT="27432" marB="27432"/>
                </a:tc>
              </a:tr>
              <a:tr h="513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full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anchor="ctr" marL="109728" marR="109728" marT="27432" marB="27432"/>
                </a:tc>
              </a:tr>
              <a:tr h="513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EfficientAD-S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full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anchor="ctr" marL="109728" marR="109728" marT="27432" marB="27432"/>
                </a:tc>
              </a:tr>
              <a:tr h="51308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full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조명 변화 (AD2 Shift 1–3)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support에 없던 3가지 조명 모두에서 1–16 shot 전 구간 SCARF 곡선이 가장 위에 있다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읽는 법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패널 = 촬영 조건, x축 = 정상 support 수, y축 = AUPRO@0.05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16-shot seed 0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 61.26% → Shift 1 59.40% (−1.86pp, 표 10)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범례 "Ours (RSG4)" = SCARF 내부 실행명. Regular·Shift 1은 8클래스, Shift 2·3은 fruit_jelly 제외 7클래스 macro. 출처: PaperWorks/Outline_v16.3.md §4.3.2 그림 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pic>
        <p:nvPicPr>
          <p:cNvPr id="9" name="ContentFigure" descr="fig_acquisition_shift_by_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35352"/>
            <a:ext cx="10917936" cy="29333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합성 손상 (MVTec AD corruption)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밝기·대비 변화에서는 최고지만, Gaussian noise에서는 PatchCore보다 5.02pp 낮다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Contrast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Clean 대비 하락 SCARF −2.21pp ≈ SuperAD −2.22pp, PatchCore −6.82pp, FastRecon −16.02pp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Gaussian noise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SCARF −16.35pp로 PatchCore(−9.94)·SuperAD(−13.39)보다 크게 하락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가설 (확인 필요)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고해상도·Layer 5 관측이 고주파 노이즈에 반응해 손해를 봄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 (%). MVTec AD 15클래스, 16-shot, seed 0, severity 3, support는 깨끗한 이미지. † DINOv2 기반 프로젝트 변형. 출처: PaperWorks/Outline_v16.3.md §4.3.3 표 7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3023616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936"/>
                <a:gridCol w="182880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Brightness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Contrast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Defocus blur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Gaussian noise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83.97 / 88.80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83.43 / 88.38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77.15 / 85.27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81.58 / 87.41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74.03 / 83.66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85.74 / 90.82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77.53 / 86.35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69.72 / 84.47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82.35 / 88.90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57.70 / 77.37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84.49 / 89.15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83.68 / 88.47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82.27 / 87.86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82.17 / 87.74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/ 82.45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85.36 / 88.92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84.42 / 88.26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83.15 / 87.44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81.92 / 86.71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69.01 / 80.58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구성 요소 소거 (AD2 16-shot)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단위 보정과 게이트가 둘 다 있어야 Deep-only를 넘는다 (+0.47pp)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읽는 법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모든 행이 같은 Deep 기준선 사용, 아래로 갈수록 Shallow 처리 장치가 추가됨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게이트 효과가 가장 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전체 가산 → 초과분만 가산으로 +5.13pp (q95 기준), +6.32pp (MAD 기준)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교환 관계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pAUROC@0.05는 Deep-only보다 0.24pp 낮음 → 이득은 영역 단위(AUPRO)에 한정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2 test_public, 16-shot, seed 0, full8, CQ 후처리. CQ 없이도 SCARF 58.32 vs Deep-only 57.74. Linear λ*·Hard Gate 행은 진행 중(26쪽). 출처: PaperWorks/Outline_v16.3.md §4.4.1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6"/>
                <a:gridCol w="1280160"/>
                <a:gridCol w="1371600"/>
                <a:gridCol w="1280160"/>
                <a:gridCol w="146304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Shallow L5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척도 보정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게이트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vs Deep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Deep-only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단순 전체 가산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전체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−7.51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+ q95 척도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전체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−4.65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+ 잔차 게이트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초과분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−1.19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 (둘 다)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초과분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+0.47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저샷·다른 데이터셋 진단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한계 │ 전체 가산보다는 늘 낫지만, 1–2 shot에서는 Deep-only보다 낮은 경우가 있다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안전장치는 일관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4개 조건 모두 전체 가산보다 4.31–10.80pp 높음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순이득은 조건 의존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Deep-only 대비 −3.10 ~ +0.08pp (VisA 1-shot이 가장 큰 손해)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가설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표본이 적으면 τ5 추정이 흔들림 → bank를 4배(cap1024)로 키우면 4개 조건 모두 +0.46~+5.38pp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비용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cap1024는 fit 86.7 → 116.4 s/class, query 5.39 → 5.98 s/장 (A6000, 표 12a)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AUPRO@0.05 (%), seed 0, 4개 해상도, bag 4, CQ. MVTec AD 15·VisA 12 클래스 macro. development/post-hoc 진단. 출처: PaperWorks/Outline_v16.3.md §4.4.1 표 8a, §4.5.2 표 12a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3023616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2103120"/>
                <a:gridCol w="2103120"/>
                <a:gridCol w="2011680"/>
                <a:gridCol w="20482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 (cap256)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 (cap1024)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Deep-only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전체 가산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72.68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75.75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84.10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79.32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게이트 동작 확인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확인 │ 게이트는 결함 픽셀에서 정상 대비 9.8배 자주 열리고, 조명이 바뀌어도 정상 쪽은 +0.27pp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왜 약 1%인가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기준을 정상 거리 99% 분위수로 잡음 → 정상이면 100개 중 1개꼴로만 열림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역할의 범위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결함 픽셀의 약 89%에서는 게이트가 닫혀 Deep 점수만 사용 → Shallow는 보조 신호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2 test_public, 16-shot, seed 0, class macro. 활성 조건 z5 &gt; τ5 ⇔ d5 &gt; Q0.99(D5). 1-shot LTO 행은 대조군 미완으로 제외. 출처: PaperWorks/Outline_v16.3.md §4.4.2 표 9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194560"/>
                <a:gridCol w="1828800"/>
                <a:gridCol w="44256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관측 대상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조건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게이트 열린 픽셀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의미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정상 픽셀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전체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1.15%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설계값 β = 0.99 (≈ 1%)와 일치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결함 픽셀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전체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11.22%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대비 약 9.8배 → 결함에 선택적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정상 픽셀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1.00%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기준 조명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정상 픽셀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Shift 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1.34%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변화에도 소폭 증가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같은 장면 정상 쌍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Shift 1 − Regular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+0.27pp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변화로 인한 오경보 증가 억제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해상도 구성의 용량 통제 비교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토큰 수를 맞춰도 4-해상도가 단일 1120 px보다 +2.52pp — 이득은 "섞는 구성"에서 온다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용량 통제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1120 px 단일에 토큰을 4배(1024) 줘도 56.63%로 오히려 −0.33pp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비유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고배율 돋보기 하나로 오래 보는 것보다 저·중·고배율을 함께 보는 편이 낫다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조명 변화(Shift 1)에서도 같은 순서: 59.40 vs 56.89 / 56.16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2 test_public, 16-shot, seed 0, full8, DINOv2 ViT-L/14. E12 resolution control (historical fusion-base provenance). 출처: PaperWorks/Outline_v16.3.md §4.4.3 표 10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896"/>
                <a:gridCol w="1188720"/>
                <a:gridCol w="1371600"/>
                <a:gridCol w="1188720"/>
                <a:gridCol w="1371600"/>
                <a:gridCol w="1600200"/>
                <a:gridCol w="1600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토큰/bag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Regular (AU/pA)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Shift 1 (AU/pA)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4-해상도 (448–1120)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+2.19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61.26 / 77.94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59.40 / 77.34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단일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59.16 / 75.28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56.89 / 74.98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단일 (용량 일치)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56.16 / 75.57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계산 비용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비용 │ 제안 연산은 장당 4.09 ms(0.21%)뿐이지만, 4개 해상도 특징 추출로 전체는 느리다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병목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RTX 4090에서 장당 1.98초 중 1.52초(76%)가 DINOv2 특징 추출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비교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A6000 FP32에서 SCARF 5.75 s vs SuperAD 0.79 s/장, fit VRAM 10.43 vs 1.42 GiB (A-4)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시사점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속도 개선은 결합 규칙이 아니라 백본 실행 횟수(해상도 수)·정밀도에서 찾아야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로컬 RTX 4090, 16-shot, 클래스당 12 query (총 96). 읽기·전처리·정리 = 이미지 읽기 + 입력 전처리 + 특징 정리. 출처: PaperWorks/Outline_v16.3.md §4.5.1 표 12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645920" y="2706624"/>
          <a:ext cx="8906256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7136"/>
                <a:gridCol w="2194560"/>
                <a:gridCol w="21945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(ms/장)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비율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73761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DINOv2 특징 추출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1,516.7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76.47%</a:t>
                      </a:r>
                    </a:p>
                  </a:txBody>
                  <a:tcPr anchor="ctr" marL="109728" marR="109728" marT="27432" marB="27432"/>
                </a:tc>
              </a:tr>
              <a:tr h="373761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이미지 읽기 · 전처리 · 특징 정리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238.3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12.01%</a:t>
                      </a:r>
                    </a:p>
                  </a:txBody>
                  <a:tcPr anchor="ctr" marL="109728" marR="109728" marT="27432" marB="27432"/>
                </a:tc>
              </a:tr>
              <a:tr h="373761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최근접 검색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4.68%</a:t>
                      </a:r>
                    </a:p>
                  </a:txBody>
                  <a:tcPr anchor="ctr" marL="109728" marR="109728" marT="27432" marB="27432"/>
                </a:tc>
              </a:tr>
              <a:tr h="373761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공간 보간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4.62%</a:t>
                      </a:r>
                    </a:p>
                  </a:txBody>
                  <a:tcPr anchor="ctr" marL="109728" marR="109728" marT="27432" marB="27432"/>
                </a:tc>
              </a:tr>
              <a:tr h="373761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CQ 후처리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1.82%</a:t>
                      </a:r>
                    </a:p>
                  </a:txBody>
                  <a:tcPr anchor="ctr" marL="109728" marR="109728" marT="27432" marB="27432"/>
                </a:tc>
              </a:tr>
              <a:tr h="373761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척도 보정 · bag 결합 · 잔차 결합 (제안)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4.1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0.21%</a:t>
                      </a:r>
                    </a:p>
                  </a:txBody>
                  <a:tcPr anchor="ctr" marL="109728" marR="109728" marT="27432" marB="27432"/>
                </a:tc>
              </a:tr>
              <a:tr h="373761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기타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0.19%</a:t>
                      </a:r>
                    </a:p>
                  </a:txBody>
                  <a:tcPr anchor="ctr" marL="109728" marR="109728" marT="27432" marB="27432"/>
                </a:tc>
              </a:tr>
              <a:tr h="373761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전체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1,983.4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100%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논의: 관찰과 시사점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시사점 │ 저-FPR 국소화 주장은 지지되지만, 저샷·노이즈·고정 임계값은 다음 검증 대상이다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PaperWorks/Outline_v16.3.md §5.1–5.2 및 해당 표. 시사점 열은 초안.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206240"/>
                <a:gridCol w="38770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관찰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근거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시사점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이득이 일부 클래스에 집중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can +2.91, wallplugs +1.63pp (Deep-only 대비)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단서가 필요한 결함 유형 분석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AUPRO↑ · pAUROC↓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+0.47 / −0.24pp (20쪽)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영역 단위 이득으로 명시, 픽셀 지표와 분리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저샷 순이득 불안정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1·2-shot, VisA 1-shot &lt; Deep-only (21쪽)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저샷 τ5 추정 안정화 (bank 확대 등)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고정 임계값 성능 낮음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private SegF1 34.84% (17쪽)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변화별 임계값 보정·검증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Gaussian noise 취약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Clean 대비 −16.35pp (19쪽)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고해상도·Layer 5의 노이즈 반응 확인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남은 검증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계획 │ 선형 가중·Hard Gate 대조와 q·β 민감도가 채워져야 "튜닝 불필요" 주장이 완성된다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진행 중 비교는 configs/benchmarks/scarf_v16_fusion_20261003/PROTOCOL.md 기준. 출처: PaperWorks/Outline_v16.3.md §4.4 표 8·11, §4.5.3, 부록 A.1–A.2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2926080"/>
                <a:gridCol w="27797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검증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결과에 따른 서술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 weight λ*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최적 선형 가중 z_d + λ·z5보다 나은가?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중: 2-shot에서 λ ∈ {0, …, 2} 선택 → 16-shot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≥ λ*: 비선형 차단이 필요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≈ λ*: 라벨 없이 최적 수준 자동 달성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Hard Gate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초과량 차감이 이진 마스킹보다 나은가?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우수 시: 경계 부근 연속 가산의 안정성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 · β 민감도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기본값 근방에서 성능이 안정한가?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미측정 (표 11 비어 있음)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안정 시: 데이터셋별 튜닝 불필요 근거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정성 비교 (그림 3)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실제 맵에서 게이트가 어떻게 작동하나?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패널 사양만 확정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· Shift 1 · Noise × 7열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결론 및 향후 진행 방향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결론 │ 척도 보정과 기여 제어를 분리해 Shallow를 안전하게 더하고 AD2 저-FPR 국소화 1위를 얻었다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PaperWorks/Outline_v16.3.md §6. 각 행 근거 쪽: 방법 20, 성능 15·17·16, 강건성 18·19, 효율 24.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27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3017520"/>
                <a:gridCol w="28712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Summary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문제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향후 진행 방향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support 분위수만으로 척도 보정 + 비대칭 잔차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선형 가중·Hard Gate 대조 미완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대조 완료 후 표 8 확정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1–16 shot AUPRO@0.05 1위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(16-shot SuperAD +4.47pp), private 64.80 / 62.49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AD·VisA I-AUROC는 SuperAD보다 낮음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주장을 저-FPR 국소화로 한정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Shift 1–3, 밝기·대비 변화에 안정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Gaussian noise −16.35pp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노이즈 원인(해상도·층) 분리 실험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효율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제안 연산은 전체의 0.21%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전체는 SuperAD보다 약 7배 느림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해상도 수·정밀도 조정 검토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보조 지표: pAUROC@0.05 · I-AUROC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결과 │ pAUROC@0.05는 전 shot 1위, I-AUROC는 2-shot을 제외하고 1위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 8-class macro (%). * = seed 0 단일, 그 외 seed 0–2 mean ± SD. 출처: PaperWorks/Outline_v16.3.md §4.2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sp>
        <p:nvSpPr>
          <p:cNvPr id="8" name="TableLabel1"/>
          <p:cNvSpPr txBox="1"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pAUROC@0.05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801368"/>
          <a:ext cx="10917936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64.38*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72.28 ± 0.79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62.22 ± 0.60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62.89 ± 0.65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70.47 ± 0.72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72.18*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 ± 0.30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72.50*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67.24 ± 0.93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73.50 ± 0.42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63.03 ± 0.66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65.54 ± 0.18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± 0.34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74.51 ± 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 ± 0.49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75.64 ± 0.53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68.21*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74.59 ± 0.65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63.15 ± 0.23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67.14 ± 0.56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71.72 ± 0.13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75.69*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 ± 0.48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76.54*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69.54*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74.85 ± 0.34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60.76 ± 0.77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69.25 ± 0.79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71.70 ± 0.18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76.26*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 ± 0.32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77.04*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70.87 ± 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75.10 ± 0.17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60.64 ± 0.97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70.03 ± 0.78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71.80 ± 0.23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76.54 ± 0.60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0.76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77.23 ± 0.29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sp>
        <p:nvSpPr>
          <p:cNvPr id="10" name="TableLabel2"/>
          <p:cNvSpPr txBox="1"/>
          <p:nvPr/>
        </p:nvSpPr>
        <p:spPr>
          <a:xfrm>
            <a:off x="640080" y="36941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I-AUROC</a:t>
            </a:r>
          </a:p>
        </p:txBody>
      </p:sp>
      <p:graphicFrame>
        <p:nvGraphicFramePr>
          <p:cNvPr id="11" name="SummaryTable2"/>
          <p:cNvGraphicFramePr>
            <a:graphicFrameLocks noGrp="1"/>
          </p:cNvGraphicFramePr>
          <p:nvPr/>
        </p:nvGraphicFramePr>
        <p:xfrm>
          <a:off x="640080" y="3986784"/>
          <a:ext cx="10917936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SCARF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66.32*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69.98 ± 2.10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60.33 ± 0.63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58.12 ± 0.77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68.34 ± 2.64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72.16*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 ± 1.82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73.26*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68.58 ± 2.51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72.59 ± 2.88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61.77 ± 4.06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56.01 ± 4.49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70.79 ± 1.85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74.11 ± 2.26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 ± 3.94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73.79 ± 1.80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72.98*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74.52 ± 0.22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63.05 ± 2.52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± 2.39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71.77 ± 1.32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75.36*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 ± 2.34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77.34*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70.32*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74.69 ± 0.77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59.09 ± 3.32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63.89 ± 1.16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72.34 ± 0.16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74.60*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 ± 1.05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76.86*</a:t>
                      </a:r>
                    </a:p>
                  </a:txBody>
                  <a:tcPr anchor="ctr" marL="109728" marR="109728" marT="27432" marB="27432"/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71.33 ± 0.93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74.59 ± 1.47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59.79 ± 1.70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65.60 ± 1.64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71.39 ± 0.07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74.25 ± 0.36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 ± 1.34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76.58 ± 0.24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AD2 비교군 설정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설정 │ 같은 support·query·평가기를 쓰되, 각 방법은 자기 백본·입력·layer 설정을 유지한다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FastRecon·RAD는 논문 식을 따른 독립 구현. SuperAD는 공통 support 사용(원 논문은 전체 train으로 coreset 후 16장 선택). 출처: PaperWorks/Outline_v16.3.md §4.1 표 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A-2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  <a:gridCol w="3017520"/>
                <a:gridCol w="27797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학습 · support fit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/ layers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· 해상도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 (ours)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bank · scale fitting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448/672/896/1120; 4-scale bank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memory / coreset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672; sheet_metal 448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(paper)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 gradient; closed-form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368; 15% coreset; λ = 0.3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retrieval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ViT-B/16; [3, 6, 9, 11]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512 → crop 448; global bank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PCA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DINOv2-reg ViT-G/14; [22–28]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</a:tr>
              <a:tr h="50063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Official source-trained model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224; 2-shot bottle checkpoint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공식 private 평가 전체 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참고 │ Full-data 행은 정상 데이터 예산·백본·입력·후처리가 달라 few-shot과 직접 순위화하지 않는다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TESTpriv / TESTpriv,mix (%). Few-shot 비교군의 private 결과는 아직 없음. 출처: PaperWorks/Outline_v16.3.md §4.3.1 표 6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A-3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2656"/>
                <a:gridCol w="2651760"/>
                <a:gridCol w="2651760"/>
                <a:gridCol w="26517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 (full-data는 2행부터)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 (16-shot)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64.80 / 62.49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76.38 / 77.52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34.84 / 30.68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 / 25.0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 / 72.9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18.1 / 16.7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RD++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27.1 / 25.2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 / 73.0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 / 16.7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EfficientAD-S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MSFlow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24.3 / 11.9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 / 72.0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 / 9.0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SimpleNet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21.1 / 13.7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 / 77.1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17.7 / 8.7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DSR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20.3 / 17.4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78.0 / 78.0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10.9 / 9.5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RoBiS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anchor="ctr" marL="109728" marR="109728" marT="27432" marB="27432"/>
                </a:tc>
              </a:tr>
              <a:tr h="378229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상세 표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비교군 계산 비용 (A6000)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참고 │ SCARF는 48개 컴포넌트 뱅크와 4개 해상도로 SuperAD보다 fit·query 모두 무겁다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MVTec AD 2 full8 test_public, seed 0, 16-shot, frozen DINOv2 ViT-L/14, FP32, batch 1. 출처: PaperWorks/Outline_v16.3.md §4.5.1 표 12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A-4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  <a:gridCol w="1828800"/>
                <a:gridCol w="1828800"/>
                <a:gridCol w="1828800"/>
                <a:gridCol w="17739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벡터/클래스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평균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평균 / p95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VRAM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SCARF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196,608 (48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87.25 ± 83.66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5,746 ± 6,107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5,521 / 18,600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10.43 / 3.44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Deep-only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131,072 (32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88.06 ± 100.45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5,697 ± 7,263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5,377 / 23,037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7.68 / 3.03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1120-only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49,152 (12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50.97 ± 53.57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3,822 ± 4,768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3,586 / 15,328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6.86 / 2.65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All tokens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10.48 ± 2.17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794 ± 154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803 / 1,069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1.42 / 1.42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82528</TotalTime>
  <Words>22384</Words>
  <Application>Microsoft Macintosh PowerPoint</Application>
  <PresentationFormat>와이드스크린</PresentationFormat>
  <Paragraphs>2621</Paragraphs>
  <Slides>108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4" baseType="lpstr">
      <vt:lpstr>NanumSquareOTF_ac ExtraBold</vt:lpstr>
      <vt:lpstr>Arial</vt:lpstr>
      <vt:lpstr>NanumSquareOTF_ac Bold</vt:lpstr>
      <vt:lpstr>Wingdings</vt:lpstr>
      <vt:lpstr>NanumSquareOTF_ac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2026-10-06 ETRI 외부회의</dc:title>
  <dc:creator>강 형원</dc:creator>
  <cp:lastModifiedBy>임훈</cp:lastModifiedBy>
  <cp:revision>3164</cp:revision>
  <cp:lastPrinted>2025-06-23T01:58:10Z</cp:lastPrinted>
  <dcterms:created xsi:type="dcterms:W3CDTF">2021-02-06T07:11:19Z</dcterms:created>
  <dcterms:modified xsi:type="dcterms:W3CDTF">2026-10-02T09:24:21Z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