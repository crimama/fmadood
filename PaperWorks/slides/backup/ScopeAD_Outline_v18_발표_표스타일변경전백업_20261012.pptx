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60" r:id="rId1"/>
  </p:sldMasterIdLst>
  <p:notesMasterIdLst>
    <p:notesMasterId r:id="rId4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0" r:id="rId45"/>
  </p:sldIdLst>
  <p:sldSz cx="12192000" cy="6858000"/>
  <p:notesSz cx="6858000" cy="9144000"/>
  <p:embeddedFontLst>
    <p:embeddedFont>
      <p:font typeface="NanumSquareOTF_ac" panose="020B0600000101010101" pitchFamily="34" charset="-127"/>
      <p:regular r:id="rId47"/>
    </p:embeddedFont>
    <p:embeddedFont>
      <p:font typeface="NanumSquareOTF_ac Bold" panose="020B0600000101010101" pitchFamily="34" charset="-127"/>
      <p:bold r:id="rId48"/>
    </p:embeddedFont>
    <p:embeddedFont>
      <p:font typeface="NanumSquareOTF_ac ExtraBold" panose="020B0600000101010101" pitchFamily="34" charset="-127"/>
      <p:bold r:id="rId49"/>
    </p:embeddedFont>
  </p:embeddedFontLst>
  <p:defaultTextStyle>
    <a:defPPr>
      <a:defRPr lang="ko-Kore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표지 · 요약" id="{18B41912-417A-4961-9CCA-19F152633573}">
          <p14:sldIdLst>
            <p14:sldId id="256"/>
            <p14:sldId id="257"/>
            <p14:sldId id="258"/>
          </p14:sldIdLst>
        </p14:section>
        <p14:section name="01 Introduction" id="{9A6C3FAC-3C6D-48D7-9536-D95A90431691}">
          <p14:sldIdLst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</p14:sldIdLst>
        </p14:section>
        <p14:section name="02 Method" id="{D78D1EE9-4649-453B-8A87-F15D657F1BB5}">
          <p14:sldIdLst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</p14:sldIdLst>
        </p14:section>
        <p14:section name="03 실험 결과" id="{B444D26D-A843-44D2-A8F7-018395E93F1F}">
          <p14:sldIdLst>
            <p14:sldId id="279"/>
            <p14:sldId id="280"/>
            <p14:sldId id="281"/>
            <p14:sldId id="282"/>
            <p14:sldId id="283"/>
            <p14:sldId id="285"/>
            <p14:sldId id="286"/>
          </p14:sldIdLst>
        </p14:section>
        <p14:section name="04 Ablation" id="{CFD519D2-0D8C-4F99-ACF1-3C6E15E790FA}">
          <p14:sldIdLst>
            <p14:sldId id="287"/>
            <p14:sldId id="288"/>
            <p14:sldId id="289"/>
            <p14:sldId id="290"/>
            <p14:sldId id="291"/>
            <p14:sldId id="292"/>
            <p14:sldId id="293"/>
            <p14:sldId id="294"/>
            <p14:sldId id="295"/>
            <p14:sldId id="296"/>
          </p14:sldIdLst>
        </p14:section>
        <p14:section name="05 논의" id="{08D964CA-69E8-4673-9D9C-59AAB6AC1C16}">
          <p14:sldIdLst>
            <p14:sldId id="297"/>
            <p14:sldId id="298"/>
            <p14:sldId id="299"/>
          </p14:sldIdLst>
        </p14:section>
        <p14:section name="Appendix A" id="{D4835E2E-37BE-42E8-B03B-4628517F1A5F}">
          <p14:sldIdLst>
            <p14:sldId id="30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387" userDrawn="1">
          <p15:clr>
            <a:srgbClr val="A4A3A4"/>
          </p15:clr>
        </p15:guide>
        <p15:guide id="2" pos="551" userDrawn="1">
          <p15:clr>
            <a:srgbClr val="A4A3A4"/>
          </p15:clr>
        </p15:guide>
        <p15:guide id="3" pos="3840" userDrawn="1">
          <p15:clr>
            <a:srgbClr val="A4A3A4"/>
          </p15:clr>
        </p15:guide>
        <p15:guide id="5" orient="horz" pos="709" userDrawn="1">
          <p15:clr>
            <a:srgbClr val="A4A3A4"/>
          </p15:clr>
        </p15:guide>
        <p15:guide id="6" pos="7015" userDrawn="1">
          <p15:clr>
            <a:srgbClr val="A4A3A4"/>
          </p15:clr>
        </p15:guide>
        <p15:guide id="8" orient="horz" pos="404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97B9623-5707-E9A7-29E6-75763768F8F7}" name="임훈" initials="임" userId="S::hun_im@seoul.ac.kr::4e4d04c6-8943-4b25-89d5-9ec986f30236" providerId="AD"/>
  <p188:author id="{291A7AA2-973B-9F66-35A6-61EB50EEF266}" name="Woojun Lee" initials="Lee" userId="Woojun Lee" providerId="None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강 형원" initials="강형" lastIdx="9" clrIdx="0">
    <p:extLst>
      <p:ext uri="{19B8F6BF-5375-455C-9EA6-DF929625EA0E}">
        <p15:presenceInfo xmlns:p15="http://schemas.microsoft.com/office/powerpoint/2012/main" userId="ed0abc089b7c38c9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63866"/>
    <a:srgbClr val="DEECF8"/>
    <a:srgbClr val="E6EFF8"/>
    <a:srgbClr val="FDEEEE"/>
    <a:srgbClr val="FFE699"/>
    <a:srgbClr val="4472C4"/>
    <a:srgbClr val="DC928E"/>
    <a:srgbClr val="262685"/>
    <a:srgbClr val="EFEFEF"/>
    <a:srgbClr val="CBCBC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571" autoAdjust="0"/>
    <p:restoredTop sz="89795" autoAdjust="0"/>
  </p:normalViewPr>
  <p:slideViewPr>
    <p:cSldViewPr snapToGrid="0" snapToObjects="1">
      <p:cViewPr varScale="1">
        <p:scale>
          <a:sx n="109" d="100"/>
          <a:sy n="109" d="100"/>
        </p:scale>
        <p:origin x="968" y="184"/>
      </p:cViewPr>
      <p:guideLst>
        <p:guide orient="horz" pos="2387"/>
        <p:guide pos="551"/>
        <p:guide pos="3840"/>
        <p:guide orient="horz" pos="709"/>
        <p:guide pos="7015"/>
        <p:guide orient="horz" pos="404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napToObjects="1" showGuides="1">
      <p:cViewPr varScale="1">
        <p:scale>
          <a:sx n="202" d="100"/>
          <a:sy n="202" d="100"/>
        </p:scale>
        <p:origin x="1664" y="18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font" Target="fonts/font1.fntdata"/><Relationship Id="rId50" Type="http://schemas.openxmlformats.org/officeDocument/2006/relationships/commentAuthors" Target="commentAuthors.xml"/><Relationship Id="rId55" Type="http://schemas.microsoft.com/office/2018/10/relationships/authors" Target="author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font" Target="fonts/font2.fntdata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ore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DF50E8-F847-8345-8E25-5FC663A75A62}" type="datetimeFigureOut">
              <a:rPr kumimoji="1" lang="ko-Kore-KR" altLang="en-US" smtClean="0"/>
              <a:t>10/12/26</a:t>
            </a:fld>
            <a:endParaRPr kumimoji="1" lang="ko-Kore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ore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ore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0CB47C-853B-2249-B0DF-5085CF81C4CC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40260435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근거 문서: PaperWorks/outlines/Outline_v18.md. ScopeAD = Support-Calibrated Observation-expanded Patch Ensemble for Anomaly Detection (이전 이름 SCARF).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 Support fitting: 동결 DINOv2, 계층 {5, 11, 23} × 4 해상도 × 4 bag = 48개 bank, LSO 1-NN 정상 거리의 q95로 c_m. B Query inference: 4 해상도 × 3 계층 1-NN 거리 → z_m = d_m / c_m. C Support-calibrated layer fusion: (r, b)마다 S = z_d + 0.125·z5 (발표 본문의 Deep-Anchored Weighting). D Map aggregation: 4-bag 평균 → bilinear 역투영 → 4-scale 평균, 이미지 점수 = 상위 1% 픽셀 평균.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0A88D12-CA99-ED47-B9E5-1BA305873C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D143524-BB80-C442-A6FD-DEF3E98FC8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/>
              <a:t>클릭하여 마스터 부제목 스타일 편집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56420EB-F1D1-4C48-9439-DDCB9D0C79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3D4F6E3-C44A-B841-92E5-AC94379036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B32FD95-674C-584B-9C80-F2E63960A3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9A64A3E8-9E61-0146-97F1-53AA5A0DE868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7996904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EAB25BB-D451-D14A-B083-6EC1C1001F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D25E710-A669-4A40-9FCD-8E0D9484B5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D8C758B-8F50-C142-97D9-22F9F00E26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0D8A6E5-6818-5748-895F-3C4A91B1C3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5D6F500-6545-AC48-8828-766D36E1B9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4A3E8-9E61-0146-97F1-53AA5A0DE868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8881286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091854-B935-BD4C-8691-ED96125579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D1381FE-6F45-B443-9F29-8CAC419468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042507F-B586-D747-B11A-9EE0682291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795400B-EE85-F94A-A16F-11DB83CD47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1F9ACBE-1826-BD4C-8A76-057794D7F9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4A3E8-9E61-0146-97F1-53AA5A0DE868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6300186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EFE03A9-0FB4-C242-BFAD-CE90C30498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42B8B3F-8085-A14A-A3F6-9001CE8279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6F1C2AD-BAB2-0F4E-9BDD-95C9E32983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F2FA9BA-CF70-334C-8ABD-D3D8409EA7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F97B4FD-4813-0942-AB4A-3B1A7636D8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A946F52-08F8-074F-BA10-7A2A7D455C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4A3E8-9E61-0146-97F1-53AA5A0DE868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5182138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8FF8C3D-4A25-264E-A270-5AD1950751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3F3BDCB-48CE-9B47-91EF-48DCA35BCA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56A8048-7CBC-7F4F-A85F-FDE479EFAD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F8B11D1-9B8F-CE45-A06D-D22BBCD9857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3002B36-B465-5C44-9DAB-4B8AA2114B0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EC0E0940-5873-3B45-8979-EBCEB51FDE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A569BC97-AA89-1D42-94A2-5007D2C67B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F89581DB-D48C-144C-B824-5102DA2FB4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4A3E8-9E61-0146-97F1-53AA5A0DE868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5491216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1F62C82-B48C-E14B-94A9-5D10576DB5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D4EA009-F278-5D48-9F45-E9577986DB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F88D8A7-36E6-AF41-B547-04789385CD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6504F53-037F-A84A-9690-662EDCA948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4A3E8-9E61-0146-97F1-53AA5A0DE868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9828729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2138B74A-7B39-1343-95C8-966CC223B9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F54FFDC4-9D70-E644-8013-460338F56D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C60E8A5-E25B-0B4C-977D-E767E290E9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4A3E8-9E61-0146-97F1-53AA5A0DE868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3352452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712070-68EF-4D4B-9C49-C9B2256910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941081F-8A6E-2B42-8F83-BB64A97AFD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075785F-668E-D241-8572-94C1E2254A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7B7F9B9-1BA8-CA4B-9B63-ADD6582F43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C9BFACE-87F5-D948-B297-723828F013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53BD7D7-271E-4D40-A696-9F85A1695C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4A3E8-9E61-0146-97F1-53AA5A0DE868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7589358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C5BB04B-CD0A-0C42-809E-627480361D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03613802-54DA-914C-9934-34A467F986B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ko-Kore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507D36A-50B7-114F-A381-04807675BF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C9A979F-1932-B340-AF12-4A76D7259F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E4CF447-BF6F-D045-880F-E6C61E46F8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6C4DD9D-C141-2C42-A0D8-79F157A3E5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4A3E8-9E61-0146-97F1-53AA5A0DE868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6671690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EF5347-86C1-8746-8699-A08B4CD12B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C5A4531-16CD-7640-8964-BDA345A002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B7108AF-CE81-924A-A553-8FF4C1C2F7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47B06F1-7A2F-5B48-8DC1-F4B628F6B1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CD634DC-6022-444C-9A84-9C8BA5E2BC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4A3E8-9E61-0146-97F1-53AA5A0DE868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0812622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EDC706A-F8DA-1D4A-9268-13F8A67877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AC1D777-8CD1-464A-AE29-F86BDD69A5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2F2795B-6C63-0943-94CD-E3CBFC224F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659A0DC-E867-8048-A067-1893C544FD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27FEBF0-AFFE-4C44-8961-FF74F87665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4A3E8-9E61-0146-97F1-53AA5A0DE868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4856443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D587034-811D-D44B-B634-92C92B5D60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0903EDA-23AE-694E-A54F-8A348232CD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22819BF-5F63-CA43-9002-B48CA153AB9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C20639C-A8A2-FF4E-9ECE-ECFB4DCB25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42BD57C-9CA7-5949-B0E1-54AEF4E4E9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48800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64A3E8-9E61-0146-97F1-53AA5A0DE868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4302869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ore-K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 descr="dsba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051560"/>
            <a:ext cx="1417320" cy="740664"/>
          </a:xfrm>
          <a:prstGeom prst="rect">
            <a:avLst/>
          </a:prstGeom>
        </p:spPr>
      </p:pic>
      <p:sp>
        <p:nvSpPr>
          <p:cNvPr id="3" name="Title"/>
          <p:cNvSpPr txBox="1"/>
          <p:nvPr/>
        </p:nvSpPr>
        <p:spPr>
          <a:xfrm>
            <a:off x="822960" y="20574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4400" b="1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ScopeAD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822960" y="283464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2000" b="1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Observation Expansion and Support-Calibrated Fusion</a:t>
            </a:r>
          </a:p>
          <a:p>
            <a:r>
              <a:rPr lang="ko-KR" sz="2000" b="1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for Few-Shot Industrial Anomaly Localization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3520440"/>
            <a:ext cx="10515600" cy="0"/>
          </a:xfrm>
          <a:prstGeom prst="line">
            <a:avLst/>
          </a:prstGeom>
          <a:ln w="13716">
            <a:solidFill>
              <a:srgbClr val="1638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"/>
          <p:cNvSpPr txBox="1"/>
          <p:nvPr/>
        </p:nvSpPr>
        <p:spPr>
          <a:xfrm>
            <a:off x="822960" y="3703320"/>
            <a:ext cx="10515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1600" b="0" dirty="0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2026-10-12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1400" b="1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목차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2800" b="1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발표 순서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lang="ko-KR" sz="1600" b="1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문제와 주장 → 방법 → 주 결과 → 구성 요소 분석 → 남은 검증 순으로 진행한다</a:t>
            </a:r>
          </a:p>
        </p:txBody>
      </p:sp>
      <p:sp>
        <p:nvSpPr>
          <p:cNvPr id="6" name="Detail"/>
          <p:cNvSpPr txBox="1"/>
          <p:nvPr/>
        </p:nvSpPr>
        <p:spPr>
          <a:xfrm>
            <a:off x="246888" y="1463040"/>
            <a:ext cx="1207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20759" lvl="2" indent="-285750">
              <a:lnSpc>
                <a:spcPct val="130000"/>
              </a:lnSpc>
              <a:buFont typeface="Arial"/>
              <a:buChar char="•"/>
            </a:pPr>
            <a:r>
              <a:rPr lang="ko-KR" sz="1600" b="0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01 Introduction: 왜 관측을 늘리고, 왜 관측별로 맞춰 결합하는가 · 기여 (4–11쪽)</a:t>
            </a:r>
          </a:p>
          <a:p>
            <a:pPr marL="920759" lvl="2" indent="-285750">
              <a:lnSpc>
                <a:spcPct val="130000"/>
              </a:lnSpc>
              <a:buFont typeface="Arial"/>
              <a:buChar char="•"/>
            </a:pPr>
            <a:r>
              <a:rPr lang="ko-KR" sz="1600" b="1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02 Method</a:t>
            </a:r>
            <a:r>
              <a:rPr lang="ko-KR" sz="1600" b="0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절차, 메모리 뱅크와 bag, Scale Calibration, Deep-Anchored Weighting, 맵 통합 (12–23쪽)</a:t>
            </a:r>
          </a:p>
          <a:p>
            <a:pPr marL="920759" lvl="2" indent="-285750">
              <a:lnSpc>
                <a:spcPct val="130000"/>
              </a:lnSpc>
              <a:buFont typeface="Arial"/>
              <a:buChar char="•"/>
            </a:pPr>
            <a:r>
              <a:rPr lang="ko-KR" sz="1600" b="1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03 실험 결과</a:t>
            </a:r>
            <a:r>
              <a:rPr lang="ko-KR" sz="1600" b="0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표 1–7 (설정, few-shot 주 비교, MVTec AD·VisA, private, 분포 변화) (24–31쪽)</a:t>
            </a:r>
          </a:p>
          <a:p>
            <a:pPr marL="920759" lvl="2" indent="-285750">
              <a:lnSpc>
                <a:spcPct val="130000"/>
              </a:lnSpc>
              <a:buFont typeface="Arial"/>
              <a:buChar char="•"/>
            </a:pPr>
            <a:r>
              <a:rPr lang="ko-KR" sz="1600" b="0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04 Ablation · 분석: 표 8–8d, 10–10b, 11, 12 (32–41쪽)</a:t>
            </a:r>
          </a:p>
          <a:p>
            <a:pPr marL="920759" lvl="2" indent="-285750">
              <a:lnSpc>
                <a:spcPct val="130000"/>
              </a:lnSpc>
              <a:buFont typeface="Arial"/>
              <a:buChar char="•"/>
            </a:pPr>
            <a:r>
              <a:rPr lang="ko-KR" sz="1600" b="1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05 논의와 향후 계획</a:t>
            </a:r>
            <a:r>
              <a:rPr lang="ko-KR" sz="1600" b="0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주장 범위와 남은 검증 (42–44쪽)</a:t>
            </a:r>
          </a:p>
          <a:p>
            <a:pPr marL="920759" lvl="2" indent="-285750">
              <a:lnSpc>
                <a:spcPct val="130000"/>
              </a:lnSpc>
              <a:buFont typeface="Arial"/>
              <a:buChar char="•"/>
            </a:pPr>
            <a:r>
              <a:rPr lang="ko-KR" sz="1600" b="1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Appendix A</a:t>
            </a:r>
            <a:r>
              <a:rPr lang="ko-KR" sz="1600" b="0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Claim–evidence–status matrix (A-1)</a:t>
            </a:r>
          </a:p>
        </p:txBody>
      </p:sp>
      <p:sp>
        <p:nvSpPr>
          <p:cNvPr id="7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sz="1000" b="0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1400" b="1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요약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2800" b="1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한 장 요약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lang="ko-KR" sz="1600" b="1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관측을 늘리고 관측별 점수를 맞춰 결합해, AD2 16-shot에서 SuperAD보다 AUPRO@0.05 +4.17pp</a:t>
            </a:r>
          </a:p>
        </p:txBody>
      </p:sp>
      <p:sp>
        <p:nvSpPr>
          <p:cNvPr id="6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sz="1000" b="0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3</a:t>
            </a:r>
          </a:p>
        </p:txBody>
      </p:sp>
      <p:graphicFrame>
        <p:nvGraphicFramePr>
          <p:cNvPr id="7" name="SummaryTable"/>
          <p:cNvGraphicFramePr>
            <a:graphicFrameLocks noGrp="1"/>
          </p:cNvGraphicFramePr>
          <p:nvPr/>
        </p:nvGraphicFramePr>
        <p:xfrm>
          <a:off x="640080" y="1600200"/>
          <a:ext cx="10917936" cy="3218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486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lang="ko-KR" sz="1300" b="1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섹션</a:t>
                      </a:r>
                    </a:p>
                  </a:txBody>
                  <a:tcPr marL="109728" marR="109728" marT="27432" marB="27432" anchor="ctr">
                    <a:solidFill>
                      <a:srgbClr val="1638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300" b="1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질문</a:t>
                      </a:r>
                    </a:p>
                  </a:txBody>
                  <a:tcPr marL="109728" marR="109728" marT="27432" marB="27432" anchor="ctr">
                    <a:solidFill>
                      <a:srgbClr val="1638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300" b="1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결론</a:t>
                      </a:r>
                    </a:p>
                  </a:txBody>
                  <a:tcPr marL="109728" marR="109728" marT="27432" marB="27432" anchor="ctr">
                    <a:solidFill>
                      <a:srgbClr val="1638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300" b="1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쪽</a:t>
                      </a:r>
                    </a:p>
                  </a:txBody>
                  <a:tcPr marL="109728" marR="109728" marT="27432" marB="27432" anchor="ctr">
                    <a:solidFill>
                      <a:srgbClr val="1638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ctr"/>
                      <a:r>
                        <a:rPr lang="ko-KR" sz="1300" b="1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문제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3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소수 정상 support에서 관측을 어떻게 늘리고 합칠까?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3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큰 거리의 원인이 모호하고, 관측을 늘리면 단위·정상 반응이 섞임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3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5–9</a:t>
                      </a:r>
                    </a:p>
                  </a:txBody>
                  <a:tcPr marL="109728" marR="109728" marT="27432" marB="27432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ctr"/>
                      <a:r>
                        <a:rPr lang="ko-KR" sz="1300" b="1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방법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3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무엇을 하나?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3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특징·해상도·bag별 48개 bank + 정상 q95 단위 정렬 + Shallow 고정 가중(λ = 0.125)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3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12–22</a:t>
                      </a:r>
                    </a:p>
                  </a:txBody>
                  <a:tcPr marL="109728" marR="109728" marT="27432" marB="27432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ctr"/>
                      <a:r>
                        <a:rPr lang="ko-KR" sz="1300" b="1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주 결과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3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AD2 few-shot 경쟁력은?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3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1–16 shot 3개 지표 모두 1위, 16-shot 3-seed 60.06 vs 55.89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3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27</a:t>
                      </a:r>
                    </a:p>
                  </a:txBody>
                  <a:tcPr marL="109728" marR="109728" marT="27432" marB="27432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ctr"/>
                      <a:r>
                        <a:rPr lang="ko-KR" sz="1300" b="1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구성 분석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3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이득은 어디서 오나?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3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다해상도 +4.95 / +2.10pp, 단일 bank 대비 +2.09pp, λ = 1 대비 +5.55pp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3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32–39</a:t>
                      </a:r>
                    </a:p>
                  </a:txBody>
                  <a:tcPr marL="109728" marR="109728" marT="27432" marB="27432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ctr"/>
                      <a:r>
                        <a:rPr lang="ko-KR" sz="1300" b="1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한계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3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아직 확인 안 된 것은?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3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q95의 정규화 생략 대비 이득 없음, linear0125 private·shift·비용 미확보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3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35·43</a:t>
                      </a:r>
                    </a:p>
                  </a:txBody>
                  <a:tcPr marL="109728" marR="109728" marT="27432" marB="27432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1400" b="1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01. Introduction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2800" b="1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연구 배경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lang="ko-KR" sz="1600" b="1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재학습 없이 정상 1–16장만으로 결함 영역을 찾는 few-shot 이상 국소화를 다룬다</a:t>
            </a:r>
          </a:p>
        </p:txBody>
      </p:sp>
      <p:sp>
        <p:nvSpPr>
          <p:cNvPr id="6" name="Detail"/>
          <p:cNvSpPr txBox="1"/>
          <p:nvPr/>
        </p:nvSpPr>
        <p:spPr>
          <a:xfrm>
            <a:off x="246888" y="1463040"/>
            <a:ext cx="1207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20759" lvl="2" indent="-285750">
              <a:lnSpc>
                <a:spcPct val="130000"/>
              </a:lnSpc>
              <a:buFont typeface="Arial"/>
              <a:buChar char="•"/>
            </a:pPr>
            <a:r>
              <a:rPr lang="ko-KR" sz="1600" b="1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동결 백본 재사용</a:t>
            </a:r>
            <a:r>
              <a:rPr lang="ko-KR" sz="1600" b="0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대규모 사전학습 표현(DINOv2)은 별도 학습 없이 여러 과제로 전이됨</a:t>
            </a:r>
          </a:p>
          <a:p>
            <a:pPr marL="920759" lvl="2" indent="-285750">
              <a:lnSpc>
                <a:spcPct val="130000"/>
              </a:lnSpc>
              <a:buFont typeface="Arial"/>
              <a:buChar char="•"/>
            </a:pPr>
            <a:r>
              <a:rPr lang="ko-KR" sz="1600" b="1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패치 매칭</a:t>
            </a:r>
            <a:r>
              <a:rPr lang="ko-KR" sz="1600" b="0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query 패치와 가장 가까운 정상 패치의 거리로 결함 위치를 찾음 → 제품별 재학습 불필요</a:t>
            </a:r>
          </a:p>
          <a:p>
            <a:pPr marL="920759" lvl="2" indent="-285750">
              <a:lnSpc>
                <a:spcPct val="130000"/>
              </a:lnSpc>
              <a:buFont typeface="Arial"/>
              <a:buChar char="•"/>
            </a:pPr>
            <a:r>
              <a:rPr lang="ko-KR" sz="1600" b="0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주 지표 AUPRO@0.05: 오경보율 5% 이하에서 결함 영역을 얼마나 덮는가</a:t>
            </a:r>
          </a:p>
        </p:txBody>
      </p:sp>
      <p:sp>
        <p:nvSpPr>
          <p:cNvPr id="7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900" b="0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예시: MVTec AD hazelnut. 맵은 캐시된 bag 평균 계층별 정규화 맵을 z_d + 0.125·z5로 재구성한 표시용 예시 (새 평가 아님). 출처: PaperWorks/outlines/Outline_v18.md §1.1 (Oquab 2023; Roth 2022; Damm 2025)</a:t>
            </a:r>
          </a:p>
        </p:txBody>
      </p:sp>
      <p:sp>
        <p:nvSpPr>
          <p:cNvPr id="8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sz="1000" b="0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4</a:t>
            </a:r>
          </a:p>
        </p:txBody>
      </p:sp>
      <p:pic>
        <p:nvPicPr>
          <p:cNvPr id="9" name="ContentFigure" descr="tas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28673" y="2660904"/>
            <a:ext cx="6740748" cy="351129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1400" b="1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01. Introduction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2800" b="1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문제 정의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lang="ko-KR" sz="1600" b="1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큰 거리는 결함에서도 support에 없던 정상 변동에서도 생겨, 소수 정상 이미지로는 원인을 가리기 어렵다</a:t>
            </a:r>
          </a:p>
        </p:txBody>
      </p:sp>
      <p:sp>
        <p:nvSpPr>
          <p:cNvPr id="6" name="Detail"/>
          <p:cNvSpPr txBox="1"/>
          <p:nvPr/>
        </p:nvSpPr>
        <p:spPr>
          <a:xfrm>
            <a:off x="246888" y="1463040"/>
            <a:ext cx="1207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20759" lvl="2" indent="-285750">
              <a:lnSpc>
                <a:spcPct val="130000"/>
              </a:lnSpc>
              <a:buFont typeface="Arial"/>
              <a:buChar char="•"/>
            </a:pPr>
            <a:r>
              <a:rPr lang="ko-KR" sz="1600" b="0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High-Score Ambiguity: "큰 거리"만으로는 결함인지 미관측 정상 변동(조명·자세·반사)인지 알 수 없음</a:t>
            </a:r>
          </a:p>
          <a:p>
            <a:pPr marL="920759" lvl="2" indent="-285750">
              <a:lnSpc>
                <a:spcPct val="130000"/>
              </a:lnSpc>
              <a:buFont typeface="Arial"/>
              <a:buChar char="•"/>
            </a:pPr>
            <a:r>
              <a:rPr lang="ko-KR" sz="1600" b="1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① 단서 부족</a:t>
            </a:r>
            <a:r>
              <a:rPr lang="ko-KR" sz="1600" b="0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정상 이미지를 늘릴 수 없어, 미세 결함과 정상 변동을 가를 시각 단서 자체가 적음</a:t>
            </a:r>
          </a:p>
          <a:p>
            <a:pPr marL="920759" lvl="2" indent="-285750">
              <a:lnSpc>
                <a:spcPct val="130000"/>
              </a:lnSpc>
              <a:buFont typeface="Arial"/>
              <a:buChar char="•"/>
            </a:pPr>
            <a:r>
              <a:rPr lang="ko-KR" sz="1600" b="1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② 결합의 어려움</a:t>
            </a:r>
            <a:r>
              <a:rPr lang="ko-KR" sz="1600" b="0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관측을 늘리면 관측마다 거리 척도가 다르고(②-a) Shallow의 정상 반응이 섞임(②-b)</a:t>
            </a:r>
          </a:p>
        </p:txBody>
      </p:sp>
      <p:sp>
        <p:nvSpPr>
          <p:cNvPr id="7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900" b="0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그림은 개념도(가상 분포)이며 실측이 아님. 일반 vision 근거: 분포 변화 아래 성능 저하(Hendrycks 2019), 점수 신뢰도 변화(Ovadia 2019). 출처: PaperWorks/outlines/Outline_v18.md §1.1–1.2</a:t>
            </a:r>
          </a:p>
        </p:txBody>
      </p:sp>
      <p:sp>
        <p:nvSpPr>
          <p:cNvPr id="8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sz="1000" b="0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5</a:t>
            </a:r>
          </a:p>
        </p:txBody>
      </p:sp>
      <p:pic>
        <p:nvPicPr>
          <p:cNvPr id="9" name="ContentFigure" descr="ambiguity_conce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9729" y="2660904"/>
            <a:ext cx="9978637" cy="351129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1400" b="1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01. Introduction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2800" b="1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문제 · 동기 · 기여의 대응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lang="ko-KR" sz="1600" b="1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각 문제에 동기와 방법 방향을 하나씩 대응시키고, ③에서 두 종류의 이득을 분리 검증한다</a:t>
            </a:r>
          </a:p>
        </p:txBody>
      </p:sp>
      <p:sp>
        <p:nvSpPr>
          <p:cNvPr id="6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900" b="0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①은 관측 단계, ②-a·②-b는 결합 단계의 문제. 근거 수치는 AD2 test_public seed 0 개발 비교(표 8, 8b, 8d, 10a)와 16-shot 3-seed 주 비교(표 4). 문제별 상세는 7–9쪽. 출처: PaperWorks/outlines/Outline_v18.md §1.1–1.3</a:t>
            </a:r>
          </a:p>
        </p:txBody>
      </p:sp>
      <p:sp>
        <p:nvSpPr>
          <p:cNvPr id="7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sz="1000" b="0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6</a:t>
            </a:r>
          </a:p>
        </p:txBody>
      </p:sp>
      <p:pic>
        <p:nvPicPr>
          <p:cNvPr id="8" name="ContentFigure" descr="alignm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024" y="1600200"/>
            <a:ext cx="10040047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1400" b="1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01. Introduction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2800" b="1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① 단서 부족 → 관측 확장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lang="ko-KR" sz="1600" b="1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정상 이미지를 늘릴 수 없으면, 같은 이미지를 여러 깊이·해상도에서 관찰해 단서를 늘린다</a:t>
            </a:r>
          </a:p>
        </p:txBody>
      </p:sp>
      <p:sp>
        <p:nvSpPr>
          <p:cNvPr id="6" name="Detail"/>
          <p:cNvSpPr txBox="1"/>
          <p:nvPr/>
        </p:nvSpPr>
        <p:spPr>
          <a:xfrm>
            <a:off x="246888" y="1463040"/>
            <a:ext cx="1207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20759" lvl="2" indent="-285750">
              <a:lnSpc>
                <a:spcPct val="130000"/>
              </a:lnSpc>
              <a:buFont typeface="Arial"/>
              <a:buChar char="•"/>
            </a:pPr>
            <a:r>
              <a:rPr lang="ko-KR" sz="1600" b="1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문제</a:t>
            </a:r>
            <a:r>
              <a:rPr lang="ko-KR" sz="1600" b="0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few-shot에서는 정상 표본이 희소해, 미세 결함을 가를 시각 단서가 부족함</a:t>
            </a:r>
          </a:p>
          <a:p>
            <a:pPr marL="920759" lvl="2" indent="-285750">
              <a:lnSpc>
                <a:spcPct val="130000"/>
              </a:lnSpc>
              <a:buFont typeface="Arial"/>
              <a:buChar char="•"/>
            </a:pPr>
            <a:r>
              <a:rPr lang="ko-KR" sz="1600" b="1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동기</a:t>
            </a:r>
            <a:r>
              <a:rPr lang="ko-KR" sz="1600" b="0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다계층(DPT, Raghu 2021)·다중 척도(FPN, S², FeatUp) 관찰이 dense prediction을 개선</a:t>
            </a:r>
          </a:p>
          <a:p>
            <a:pPr marL="920759" lvl="2" indent="-285750">
              <a:lnSpc>
                <a:spcPct val="130000"/>
              </a:lnSpc>
              <a:buFont typeface="Arial"/>
              <a:buChar char="•"/>
            </a:pPr>
            <a:r>
              <a:rPr lang="ko-KR" sz="1600" b="1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방향</a:t>
            </a:r>
            <a:r>
              <a:rPr lang="ko-KR" sz="1600" b="0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4 해상도(토큰 1개 = 짧은 변 3.1% → 1.25%) × 3 계층(Deep 11·23, Shallow 5)으로 관측 확장</a:t>
            </a:r>
          </a:p>
          <a:p>
            <a:pPr marL="920759" lvl="2" indent="-285750">
              <a:lnSpc>
                <a:spcPct val="130000"/>
              </a:lnSpc>
              <a:buFont typeface="Arial"/>
              <a:buChar char="•"/>
            </a:pPr>
            <a:r>
              <a:rPr lang="ko-KR" sz="1600" b="1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근거</a:t>
            </a:r>
            <a:r>
              <a:rPr lang="ko-KR" sz="1600" b="0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4 해상도 결합이 최선 단일 해상도보다 AUPRO@0.05 +4.95pp(2-shot), +2.10pp(16-shot) (표 10a)</a:t>
            </a:r>
          </a:p>
        </p:txBody>
      </p:sp>
      <p:sp>
        <p:nvSpPr>
          <p:cNvPr id="7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900" b="0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아래: hazelnut query의 해상도별 ScopeAD 맵. 맵은 캐시된 bag 평균 계층별 정규화 맵을 z_d + 0.125·z5로 재구성한 표시용 예시 (새 평가 아님). 높은 해상도는 기존 영상의 세밀한 표본화이며 새 정상 변동을 만들지 않음. 출처: PaperWorks/outlines/Outline_v18.md §1.2 (1)(2), §2.2, 표 10a</a:t>
            </a:r>
          </a:p>
        </p:txBody>
      </p:sp>
      <p:sp>
        <p:nvSpPr>
          <p:cNvPr id="8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sz="1000" b="0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7</a:t>
            </a:r>
          </a:p>
        </p:txBody>
      </p:sp>
      <p:pic>
        <p:nvPicPr>
          <p:cNvPr id="9" name="ContentFigure" descr="resolution_r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023616"/>
            <a:ext cx="10917936" cy="235540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1400" b="1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01. Introduction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2800" b="1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②-a 관측 간 척도 차이 → 단위 정렬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lang="ko-KR" sz="1600" b="1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관측마다 bank를 따로 두면 정상 거리 척도가 달라지므로, 결합 전에 정상 기준으로 단위를 맞춘다</a:t>
            </a:r>
          </a:p>
        </p:txBody>
      </p:sp>
      <p:sp>
        <p:nvSpPr>
          <p:cNvPr id="6" name="Detail"/>
          <p:cNvSpPr txBox="1"/>
          <p:nvPr/>
        </p:nvSpPr>
        <p:spPr>
          <a:xfrm>
            <a:off x="246888" y="1463040"/>
            <a:ext cx="1207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20759" lvl="2" indent="-285750">
              <a:lnSpc>
                <a:spcPct val="130000"/>
              </a:lnSpc>
              <a:buFont typeface="Arial"/>
              <a:buChar char="•"/>
            </a:pPr>
            <a:r>
              <a:rPr lang="ko-KR" sz="1600" b="1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문제</a:t>
            </a:r>
            <a:r>
              <a:rPr lang="ko-KR" sz="1600" b="0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계층 특징을 한 bank로 합치면 정상 변동이 섞이고, 나누면 bank마다 거리 척도가 다름 (아래 왼쪽)</a:t>
            </a:r>
          </a:p>
          <a:p>
            <a:pPr marL="920759" lvl="2" indent="-285750">
              <a:lnSpc>
                <a:spcPct val="130000"/>
              </a:lnSpc>
              <a:buFont typeface="Arial"/>
              <a:buChar char="•"/>
            </a:pPr>
            <a:r>
              <a:rPr lang="ko-KR" sz="1600" b="1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동기</a:t>
            </a:r>
            <a:r>
              <a:rPr lang="ko-KR" sz="1600" b="0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점수 맵의 정규화가 결과를 바꾸고(Kim 2021), 이질적 점수는 결합 전 척도를 맞춤(ViM 2022)</a:t>
            </a:r>
          </a:p>
          <a:p>
            <a:pPr marL="920759" lvl="2" indent="-285750">
              <a:lnSpc>
                <a:spcPct val="130000"/>
              </a:lnSpc>
              <a:buFont typeface="Arial"/>
              <a:buChar char="•"/>
            </a:pPr>
            <a:r>
              <a:rPr lang="ko-KR" sz="1600" b="1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방향</a:t>
            </a:r>
            <a:r>
              <a:rPr lang="ko-KR" sz="1600" b="0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관측별 bank를 유지하고, 각 bank의 정상 LSO 거리 q95를 1로 정렬 (아래 오른쪽)</a:t>
            </a:r>
          </a:p>
          <a:p>
            <a:pPr marL="920759" lvl="2" indent="-285750">
              <a:lnSpc>
                <a:spcPct val="130000"/>
              </a:lnSpc>
              <a:buFont typeface="Arial"/>
              <a:buChar char="•"/>
            </a:pPr>
            <a:r>
              <a:rPr lang="ko-KR" sz="1600" b="1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근거</a:t>
            </a:r>
            <a:r>
              <a:rPr lang="ko-KR" sz="1600" b="0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단일 bank 57.48% vs 관측별 bank 59.57% (+2.09pp, 표 8), q95 &gt; MAD +0.76–1.69pp (표 8d)</a:t>
            </a:r>
          </a:p>
        </p:txBody>
      </p:sp>
      <p:sp>
        <p:nvSpPr>
          <p:cNvPr id="7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900" b="0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아래: 실제 support LSO 거리 (AD2 walnuts, 16-shot, 672 px, bag 0, 계층당 4,096개; 캐시). 원고 진단: 12개 컴포넌트의 q95 척도 차이 평균 약 1.8배. q95의 정규화 생략 대비 이득은 주장하지 않음. 출처: PaperWorks/outlines/Outline_v18.md §1.2 "관측 결합의 어려움", 표 8, 8d</a:t>
            </a:r>
          </a:p>
        </p:txBody>
      </p:sp>
      <p:sp>
        <p:nvSpPr>
          <p:cNvPr id="8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sz="1000" b="0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8</a:t>
            </a:r>
          </a:p>
        </p:txBody>
      </p:sp>
      <p:pic>
        <p:nvPicPr>
          <p:cNvPr id="9" name="ContentFigure" descr="lso_scal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023616"/>
            <a:ext cx="10917936" cy="287437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1400" b="1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01. Introduction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2800" b="1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②-b Shallow 정상 반응 → Deep 기준 가중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lang="ko-KR" sz="1600" b="1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단위를 맞춰도 Shallow 점수에는 정상 질감 반응이 섞이므로, Deep을 기준선으로 Shallow는 작게 더한다</a:t>
            </a:r>
          </a:p>
        </p:txBody>
      </p:sp>
      <p:sp>
        <p:nvSpPr>
          <p:cNvPr id="6" name="Detail"/>
          <p:cNvSpPr txBox="1"/>
          <p:nvPr/>
        </p:nvSpPr>
        <p:spPr>
          <a:xfrm>
            <a:off x="246888" y="1463040"/>
            <a:ext cx="1207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20759" lvl="2" indent="-285750">
              <a:lnSpc>
                <a:spcPct val="130000"/>
              </a:lnSpc>
              <a:buFont typeface="Arial"/>
              <a:buChar char="•"/>
            </a:pPr>
            <a:r>
              <a:rPr lang="ko-KR" sz="1600" b="1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문제</a:t>
            </a:r>
            <a:r>
              <a:rPr lang="ko-KR" sz="1600" b="0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Shallow(L5)는 미세 결함에 민감하지만 정상 질감·외관에도 반응 → λ = 1이면 정상 walnut 전체가 밝아짐</a:t>
            </a:r>
          </a:p>
          <a:p>
            <a:pPr marL="920759" lvl="2" indent="-285750">
              <a:lnSpc>
                <a:spcPct val="130000"/>
              </a:lnSpc>
              <a:buFont typeface="Arial"/>
              <a:buChar char="•"/>
            </a:pPr>
            <a:r>
              <a:rPr lang="ko-KR" sz="1600" b="1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동기</a:t>
            </a:r>
            <a:r>
              <a:rPr lang="ko-KR" sz="1600" b="0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Deep(L11·23)은 조명·색 변화에 둔감한 안정적 의미 기준선을 제공</a:t>
            </a:r>
          </a:p>
          <a:p>
            <a:pPr marL="920759" lvl="2" indent="-285750">
              <a:lnSpc>
                <a:spcPct val="130000"/>
              </a:lnSpc>
              <a:buFont typeface="Arial"/>
              <a:buChar char="•"/>
            </a:pPr>
            <a:r>
              <a:rPr lang="ko-KR" sz="1600" b="1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방향</a:t>
            </a:r>
            <a:r>
              <a:rPr lang="ko-KR" sz="1600" b="0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Deep-Anchored Weighting — S = z_d + 0.125·z5 (임계값·학습 가중치 없음)</a:t>
            </a:r>
          </a:p>
          <a:p>
            <a:pPr marL="920759" lvl="2" indent="-285750">
              <a:lnSpc>
                <a:spcPct val="130000"/>
              </a:lnSpc>
              <a:buFont typeface="Arial"/>
              <a:buChar char="•"/>
            </a:pPr>
            <a:r>
              <a:rPr lang="ko-KR" sz="1600" b="1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근거</a:t>
            </a:r>
            <a:r>
              <a:rPr lang="ko-KR" sz="1600" b="0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Shallow 전체 가산(λ = 1) 54.02% vs λ = 0.125 59.57% (+5.55pp, 표 8b)</a:t>
            </a:r>
          </a:p>
        </p:txBody>
      </p:sp>
      <p:sp>
        <p:nvSpPr>
          <p:cNvPr id="7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900" b="0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AD2 walnuts 정상·결함 query, 하늘색 = GT(표시용). 맵은 캐시된 bag 평균 계층별 정규화 맵을 z_d + 0.125·z5로 재구성한 표시용 예시 (새 평가 아님). λ는 AD2 2-shot seed 0로 선택(post-hoc). 출처: PaperWorks/outlines/Outline_v18.md §1.2 (1), 표 8b</a:t>
            </a:r>
          </a:p>
        </p:txBody>
      </p:sp>
      <p:sp>
        <p:nvSpPr>
          <p:cNvPr id="8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sz="1000" b="0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9</a:t>
            </a:r>
          </a:p>
        </p:txBody>
      </p:sp>
      <p:pic>
        <p:nvPicPr>
          <p:cNvPr id="9" name="ContentFigure" descr="shallow_lea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5740" y="2977896"/>
            <a:ext cx="7446615" cy="319430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1400" b="1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01. Introduction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2800" b="1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주요 기여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lang="ko-KR" sz="1600" b="1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①의 관측 확장과 ②의 보정·가중 결합을 제안하고, ③에서 두 이득을 통제 실험으로 분리해 검증한다</a:t>
            </a:r>
          </a:p>
        </p:txBody>
      </p:sp>
      <p:sp>
        <p:nvSpPr>
          <p:cNvPr id="6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900" b="0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모두 개발에 사용한 모집단(AD2 public, MVTec AD, VisA) 결과. "SOTA"는 Outline §1.3 표현. 출처: PaperWorks/outlines/Outline_v18.md §1.3</a:t>
            </a:r>
          </a:p>
        </p:txBody>
      </p:sp>
      <p:sp>
        <p:nvSpPr>
          <p:cNvPr id="7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sz="1000" b="0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10</a:t>
            </a:r>
          </a:p>
        </p:txBody>
      </p:sp>
      <p:graphicFrame>
        <p:nvGraphicFramePr>
          <p:cNvPr id="8" name="SummaryTable"/>
          <p:cNvGraphicFramePr>
            <a:graphicFrameLocks noGrp="1"/>
          </p:cNvGraphicFramePr>
          <p:nvPr/>
        </p:nvGraphicFramePr>
        <p:xfrm>
          <a:off x="640080" y="1691639"/>
          <a:ext cx="10917936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2257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기여</a:t>
                      </a:r>
                    </a:p>
                  </a:txBody>
                  <a:tcPr marL="109728" marR="109728" marT="27432" marB="27432" anchor="ctr">
                    <a:solidFill>
                      <a:srgbClr val="1638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해결하는 문제</a:t>
                      </a:r>
                    </a:p>
                  </a:txBody>
                  <a:tcPr marL="109728" marR="109728" marT="27432" marB="27432" anchor="ctr">
                    <a:solidFill>
                      <a:srgbClr val="1638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방법</a:t>
                      </a:r>
                    </a:p>
                  </a:txBody>
                  <a:tcPr marL="109728" marR="109728" marT="27432" marB="27432" anchor="ctr">
                    <a:solidFill>
                      <a:srgbClr val="1638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근거</a:t>
                      </a:r>
                    </a:p>
                  </a:txBody>
                  <a:tcPr marL="109728" marR="109728" marT="27432" marB="27432" anchor="ctr">
                    <a:solidFill>
                      <a:srgbClr val="1638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쪽</a:t>
                      </a:r>
                    </a:p>
                  </a:txBody>
                  <a:tcPr marL="109728" marR="109728" marT="27432" marB="27432" anchor="ctr">
                    <a:solidFill>
                      <a:srgbClr val="1638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① Observation</a:t>
                      </a:r>
                    </a:p>
                    <a:p>
                      <a:pPr algn="ctr"/>
                      <a:r>
                        <a:rPr lang="ko-KR" sz="1200" b="1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Expansion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① 단서 부족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재학습 없이 해상도(토큰 3.1% → 1.25%)와</a:t>
                      </a:r>
                    </a:p>
                    <a:p>
                      <a:pPr algn="ctr"/>
                      <a:r>
                        <a:rPr lang="ko-KR" sz="12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계층(Shallow / Deep) 두 관측 축을 확장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최선 단일 해상도 대비</a:t>
                      </a:r>
                    </a:p>
                    <a:p>
                      <a:pPr algn="ctr"/>
                      <a:r>
                        <a:rPr lang="ko-KR" sz="12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+4.95 / +2.10pp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38·37</a:t>
                      </a:r>
                    </a:p>
                  </a:txBody>
                  <a:tcPr marL="109728" marR="109728" marT="27432" marB="27432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 rowSpan="2"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② Calibrated &amp;</a:t>
                      </a:r>
                    </a:p>
                    <a:p>
                      <a:pPr algn="ctr"/>
                      <a:r>
                        <a:rPr lang="ko-KR" sz="1200" b="1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Deep-Anchored Fusion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②-a 척도 차이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관측별 bank + 정상 q95 척도 보정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단일 bank 대비 +2.09pp,</a:t>
                      </a:r>
                    </a:p>
                    <a:p>
                      <a:pPr algn="ctr"/>
                      <a:r>
                        <a:rPr lang="ko-KR" sz="12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MAD 대비 +0.76–1.69pp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32·36</a:t>
                      </a:r>
                    </a:p>
                  </a:txBody>
                  <a:tcPr marL="109728" marR="109728" marT="27432" marB="27432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②-b Shallow 정상 반응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Deep 기준선 + Shallow 고정 가중 가산 (λ = 0.125),</a:t>
                      </a:r>
                    </a:p>
                    <a:p>
                      <a:pPr algn="ctr"/>
                      <a:r>
                        <a:rPr lang="ko-KR" sz="12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학습 없는 결정론적 파이프라인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Shallow 전체 가산 대비</a:t>
                      </a:r>
                    </a:p>
                    <a:p>
                      <a:pPr algn="ctr"/>
                      <a:r>
                        <a:rPr lang="ko-KR" sz="12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+5.55pp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34</a:t>
                      </a:r>
                    </a:p>
                  </a:txBody>
                  <a:tcPr marL="109728" marR="109728" marT="27432" marB="27432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③ Disentanglement</a:t>
                      </a:r>
                    </a:p>
                    <a:p>
                      <a:pPr algn="ctr"/>
                      <a:r>
                        <a:rPr lang="ko-KR" sz="1200" b="1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&amp; SOTA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①·② 검증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관측 확장(구성) 이득과 결합 이득을</a:t>
                      </a:r>
                    </a:p>
                    <a:p>
                      <a:pPr algn="ctr"/>
                      <a:r>
                        <a:rPr lang="ko-KR" sz="12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통제 실험으로 분리, AD2 few-shot 비교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SuperAD 대비 3-seed</a:t>
                      </a:r>
                    </a:p>
                    <a:p>
                      <a:pPr algn="ctr"/>
                      <a:r>
                        <a:rPr lang="ko-KR" sz="12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AUPRO@0.05 +4.17pp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27</a:t>
                      </a:r>
                    </a:p>
                  </a:txBody>
                  <a:tcPr marL="109728" marR="109728" marT="27432" marB="27432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1400" b="1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01. Introduction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2800" b="1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관련 연구와 차별점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lang="ko-KR" sz="1600" b="1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같은 최근접 패치 매칭 계열이지만, 관측별 bank와 정상 기준 단위 정렬로 결합을 다르게 한다</a:t>
            </a:r>
          </a:p>
        </p:txBody>
      </p:sp>
      <p:sp>
        <p:nvSpPr>
          <p:cNvPr id="6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900" b="0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출처: PaperWorks/outlines/Outline_v18.md §2.1–2.3, 부록 A.4 (서지 검증 2026-10-08).</a:t>
            </a:r>
          </a:p>
        </p:txBody>
      </p:sp>
      <p:sp>
        <p:nvSpPr>
          <p:cNvPr id="7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sz="1000" b="0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11</a:t>
            </a:r>
          </a:p>
        </p:txBody>
      </p:sp>
      <p:graphicFrame>
        <p:nvGraphicFramePr>
          <p:cNvPr id="8" name="SummaryTable"/>
          <p:cNvGraphicFramePr>
            <a:graphicFrameLocks noGrp="1"/>
          </p:cNvGraphicFramePr>
          <p:nvPr/>
        </p:nvGraphicFramePr>
        <p:xfrm>
          <a:off x="640080" y="1645920"/>
          <a:ext cx="10917936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455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연구 흐름</a:t>
                      </a:r>
                    </a:p>
                  </a:txBody>
                  <a:tcPr marL="109728" marR="109728" marT="27432" marB="27432" anchor="ctr">
                    <a:solidFill>
                      <a:srgbClr val="1638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대표 연구</a:t>
                      </a:r>
                    </a:p>
                  </a:txBody>
                  <a:tcPr marL="109728" marR="109728" marT="27432" marB="27432" anchor="ctr">
                    <a:solidFill>
                      <a:srgbClr val="1638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한 일</a:t>
                      </a:r>
                    </a:p>
                  </a:txBody>
                  <a:tcPr marL="109728" marR="109728" marT="27432" marB="27432" anchor="ctr">
                    <a:solidFill>
                      <a:srgbClr val="1638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ScopeAD와의 차이</a:t>
                      </a:r>
                    </a:p>
                  </a:txBody>
                  <a:tcPr marL="109728" marR="109728" marT="27432" marB="27432" anchor="ctr">
                    <a:solidFill>
                      <a:srgbClr val="1638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Few-shot 패치 매칭 (②-a)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PatchCore, AnomalyDINO,</a:t>
                      </a:r>
                    </a:p>
                    <a:p>
                      <a:pPr algn="ctr"/>
                      <a:r>
                        <a:rPr lang="ko-KR" sz="12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SuperAD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계층 특징을 이어 붙인 bank,</a:t>
                      </a:r>
                    </a:p>
                    <a:p>
                      <a:pPr algn="ctr"/>
                      <a:r>
                        <a:rPr lang="ko-KR" sz="12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DINOv2 최근접 거리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관측별 bank 분리 +</a:t>
                      </a:r>
                    </a:p>
                    <a:p>
                      <a:pPr algn="ctr"/>
                      <a:r>
                        <a:rPr lang="ko-KR" sz="12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결합 전 정상 기준 단위 정렬</a:t>
                      </a:r>
                    </a:p>
                  </a:txBody>
                  <a:tcPr marL="109728" marR="109728" marT="27432" marB="27432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다중 척도·다계층 표현 (①)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FPN, S², FeatUp,</a:t>
                      </a:r>
                    </a:p>
                    <a:p>
                      <a:pPr algn="ctr"/>
                      <a:r>
                        <a:rPr lang="ko-KR" sz="12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DPT, Raghu 2021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다중 척도·계층 표현으로</a:t>
                      </a:r>
                    </a:p>
                    <a:p>
                      <a:pPr algn="ctr"/>
                      <a:r>
                        <a:rPr lang="ko-KR" sz="12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dense prediction 개선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학습 없이 해상도별 정상 거리 맵 평균</a:t>
                      </a:r>
                    </a:p>
                    <a:p>
                      <a:pPr algn="ctr"/>
                      <a:r>
                        <a:rPr lang="ko-KR" sz="12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(S²는 타일 재조립·채널 연결)</a:t>
                      </a:r>
                    </a:p>
                  </a:txBody>
                  <a:tcPr marL="109728" marR="109728" marT="27432" marB="27432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점수 정규화·결합 (②-a)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Kim 2021 (CAM),</a:t>
                      </a:r>
                    </a:p>
                    <a:p>
                      <a:pPr algn="ctr"/>
                      <a:r>
                        <a:rPr lang="ko-KR" sz="12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ViM 2022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점수 맵 정규화, 이질적 점수의</a:t>
                      </a:r>
                    </a:p>
                    <a:p>
                      <a:pPr algn="ctr"/>
                      <a:r>
                        <a:rPr lang="ko-KR" sz="12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척도를 맞춘 뒤 결합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정상 support LSO 거리의 q95로</a:t>
                      </a:r>
                    </a:p>
                    <a:p>
                      <a:pPr algn="ctr"/>
                      <a:r>
                        <a:rPr lang="ko-KR" sz="12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단위 결정 (레이블 불필요)</a:t>
                      </a:r>
                    </a:p>
                  </a:txBody>
                  <a:tcPr marL="109728" marR="109728" marT="27432" marB="27432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분포 변화·저-FPR 평가 (문제)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ImageNet-C, Guo 2017,</a:t>
                      </a:r>
                    </a:p>
                    <a:p>
                      <a:pPr algn="ctr"/>
                      <a:r>
                        <a:rPr lang="ko-KR" sz="12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Ovadia 2019, MVTec AD 2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shift 아래 성능·신뢰도 평가,</a:t>
                      </a:r>
                    </a:p>
                    <a:p>
                      <a:pPr algn="ctr"/>
                      <a:r>
                        <a:rPr lang="ko-KR" sz="12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조명 변화 산업 벤치마크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저-FPR 곡선 지표와</a:t>
                      </a:r>
                    </a:p>
                    <a:p>
                      <a:pPr algn="ctr"/>
                      <a:r>
                        <a:rPr lang="ko-KR" sz="12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고정 임계값 결과를 구분해 평가</a:t>
                      </a:r>
                    </a:p>
                  </a:txBody>
                  <a:tcPr marL="109728" marR="109728" marT="27432" marB="27432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1400" b="1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02. Method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2800" b="1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ScopeAD 개요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lang="ko-KR" sz="1600" b="1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정상 support로 48개 bank와 단위 c_m을 한 번 구하고(A), query마다 정렬 → 가중 결합 → 평균한다(B)</a:t>
            </a:r>
          </a:p>
        </p:txBody>
      </p:sp>
      <p:sp>
        <p:nvSpPr>
          <p:cNvPr id="6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900" b="0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그림 1 (PaperWorks/figures/fig_scopead_overview.png, 2026-10-12 14:46 수정본). Heatmap은 캐시된 bag 평균 계층별 정규화 맵에서 linear0125로 재구성한 표시용 예시(r = 672 표시), GT 윤곽은 최종 맵 표시용, CQ는 개요도에서 제외. 출처: PaperWorks/outlines/Outline_v18.md §3.1</a:t>
            </a:r>
          </a:p>
        </p:txBody>
      </p:sp>
      <p:sp>
        <p:nvSpPr>
          <p:cNvPr id="7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sz="1000" b="0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12</a:t>
            </a:r>
          </a:p>
        </p:txBody>
      </p:sp>
      <p:pic>
        <p:nvPicPr>
          <p:cNvPr id="8" name="ContentFigure" descr="fig_scopead_overvie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8568" y="1572768"/>
            <a:ext cx="10220960" cy="459943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1400" b="1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02. Method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2800" b="1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피팅과 추론의 2단계 절차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lang="ko-KR" sz="1600" b="1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피팅은 support마다 한 번, 추론은 query마다 같은 규칙으로 수행하며 학습되는 값은 없다</a:t>
            </a:r>
          </a:p>
        </p:txBody>
      </p:sp>
      <p:sp>
        <p:nvSpPr>
          <p:cNvPr id="6" name="Detail"/>
          <p:cNvSpPr txBox="1"/>
          <p:nvPr/>
        </p:nvSpPr>
        <p:spPr>
          <a:xfrm>
            <a:off x="246888" y="1463040"/>
            <a:ext cx="1207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20759" lvl="2" indent="-285750">
              <a:lnSpc>
                <a:spcPct val="130000"/>
              </a:lnSpc>
              <a:buFont typeface="Arial"/>
              <a:buChar char="•"/>
            </a:pPr>
            <a:r>
              <a:rPr lang="ko-KR" sz="1600" b="0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입력은 정상 support N장, query, 동결 DINOv2-L/14이고, 출력은 픽셀 결함 맵 A(x^q)와 이미지 점수 s(x^q)</a:t>
            </a:r>
          </a:p>
        </p:txBody>
      </p:sp>
      <p:sp>
        <p:nvSpPr>
          <p:cNvPr id="7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900" b="0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피팅: 컴포넌트 m = (l, r, b) 48개 정의 → 전용 bank B_m 생성 → LSO 정상 거리 D_m 측정 → c_m = Q0.95(D_m). 추론: 4 해상도 특징 추출 → 48개 bank 1-NN 거리 d_m → z_m = d_m / c_m → (r, b)마다 S = z_d + 0.125·z5 → bag 평균 → 해상도 보간 평균 → A, s. 컴포넌트는 같은 support·backbone을 공유하며 독립성을 가정하지 않음. 출처: PaperWorks/outlines/Outline_v18.md §3.1</a:t>
            </a:r>
          </a:p>
        </p:txBody>
      </p:sp>
      <p:sp>
        <p:nvSpPr>
          <p:cNvPr id="8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sz="1000" b="0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13</a:t>
            </a:r>
          </a:p>
        </p:txBody>
      </p:sp>
      <p:pic>
        <p:nvPicPr>
          <p:cNvPr id="9" name="ContentFigure" descr="two_st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627" y="2072640"/>
            <a:ext cx="10754840" cy="4099559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1400" b="1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02. Method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2800" b="1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메모리 뱅크 구축 방식의 차이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lang="ko-KR" sz="1600" b="1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기존 방법은 특징을 통합해 bank 하나를 만들고, ScopeAD는 특징·해상도·bag마다 bank를 따로 만든다</a:t>
            </a:r>
          </a:p>
        </p:txBody>
      </p:sp>
      <p:sp>
        <p:nvSpPr>
          <p:cNvPr id="6" name="Detail"/>
          <p:cNvSpPr txBox="1"/>
          <p:nvPr/>
        </p:nvSpPr>
        <p:spPr>
          <a:xfrm>
            <a:off x="246888" y="1463040"/>
            <a:ext cx="1207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20759" lvl="2" indent="-285750">
              <a:lnSpc>
                <a:spcPct val="130000"/>
              </a:lnSpc>
              <a:buFont typeface="Arial"/>
              <a:buChar char="•"/>
            </a:pPr>
            <a:r>
              <a:rPr lang="ko-KR" sz="1600" b="1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기존</a:t>
            </a:r>
            <a:r>
              <a:rPr lang="ko-KR" sz="1600" b="0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계층 특징을 이어 붙인 bank 1개 → 1-NN 거리 1개라 단위 정렬은 필요 없지만 계층별 정상 변동이 섞임</a:t>
            </a:r>
          </a:p>
          <a:p>
            <a:pPr marL="920759" lvl="2" indent="-285750">
              <a:lnSpc>
                <a:spcPct val="130000"/>
              </a:lnSpc>
              <a:buFont typeface="Arial"/>
              <a:buChar char="•"/>
            </a:pPr>
            <a:r>
              <a:rPr lang="ko-KR" sz="1600" b="1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ScopeAD</a:t>
            </a:r>
            <a:r>
              <a:rPr lang="ko-KR" sz="1600" b="0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층 3 × 해상도 4 × bag 4 = 48개 bank를 두고, bank마다 1-NN 거리 맵을 따로 계산</a:t>
            </a:r>
          </a:p>
          <a:p>
            <a:pPr marL="920759" lvl="2" indent="-285750">
              <a:lnSpc>
                <a:spcPct val="130000"/>
              </a:lnSpc>
              <a:buFont typeface="Arial"/>
              <a:buChar char="•"/>
            </a:pPr>
            <a:r>
              <a:rPr lang="ko-KR" sz="1600" b="1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결합</a:t>
            </a:r>
            <a:r>
              <a:rPr lang="ko-KR" sz="1600" b="0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bank마다 정상 거리 분포가 다르므로 c_m = Q0.95(LSO 거리)로 단위를 맞춘 뒤 z_d + 0.125·z5로 더함</a:t>
            </a:r>
          </a:p>
        </p:txBody>
      </p:sp>
      <p:sp>
        <p:nvSpPr>
          <p:cNvPr id="7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900" b="0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기존 방법은 Outline §1.2·§2.1의 서술(계층 특징 concat, coreset 메모리)과 표 3 기준. 같은 저장 용량에서 단일 bank 57.48% vs 관측별 bank 59.57% (표 8 (d), AD2 16-shot seed 0). 출처: PaperWorks/outlines/Outline_v18.md §3.1–3.3</a:t>
            </a:r>
          </a:p>
        </p:txBody>
      </p:sp>
      <p:sp>
        <p:nvSpPr>
          <p:cNvPr id="8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sz="1000" b="0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14</a:t>
            </a:r>
          </a:p>
        </p:txBody>
      </p:sp>
      <p:pic>
        <p:nvPicPr>
          <p:cNvPr id="9" name="ContentFigure" descr="bank_schemati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706624"/>
            <a:ext cx="10917936" cy="3163853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1400" b="1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02. Method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2800" b="1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관측 해상도와 계층 구성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lang="ko-KR" sz="1600" b="1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패치 크기는 14 px로 고정되므로, 해상도가 높을수록 같은 영역을 더 많은 토큰으로 관찰한다</a:t>
            </a:r>
          </a:p>
        </p:txBody>
      </p:sp>
      <p:sp>
        <p:nvSpPr>
          <p:cNvPr id="6" name="Detail"/>
          <p:cNvSpPr txBox="1"/>
          <p:nvPr/>
        </p:nvSpPr>
        <p:spPr>
          <a:xfrm>
            <a:off x="246888" y="1463040"/>
            <a:ext cx="1207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20759" lvl="2" indent="-285750">
              <a:lnSpc>
                <a:spcPct val="130000"/>
              </a:lnSpc>
              <a:buFont typeface="Arial"/>
              <a:buChar char="•"/>
            </a:pPr>
            <a:r>
              <a:rPr lang="ko-KR" sz="1600" b="1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해상도</a:t>
            </a:r>
            <a:r>
              <a:rPr lang="ko-KR" sz="1600" b="0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짧은 변을 448 / 672 / 896 / 1120 px로 맞춰, 토큰 1개가 덮는 길이가 3.1% → 1.25%로 줄어듦</a:t>
            </a:r>
          </a:p>
          <a:p>
            <a:pPr marL="920759" lvl="2" indent="-285750">
              <a:lnSpc>
                <a:spcPct val="130000"/>
              </a:lnSpc>
              <a:buFont typeface="Arial"/>
              <a:buChar char="•"/>
            </a:pPr>
            <a:r>
              <a:rPr lang="ko-KR" sz="1600" b="1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계층</a:t>
            </a:r>
            <a:r>
              <a:rPr lang="ko-KR" sz="1600" b="0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DINOv2-L/14의 5·11·23번째 블록 출력 (5 = Shallow, 11·23 = Deep), 모든 query에 같은 구성</a:t>
            </a:r>
          </a:p>
        </p:txBody>
      </p:sp>
      <p:sp>
        <p:nvSpPr>
          <p:cNvPr id="7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900" b="0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아래: 같은 확대 영역(짧은 변의 1/4)을 덮는 토큰 격자. 정사각 기준 토큰 수 1,024 / 2,304 / 4,096 / 6,400. 높은 해상도는 기존 영상의 세밀한 표본화이며 새로운 정상 변동을 만들지 않음. 출처: PaperWorks/outlines/Outline_v18.md §3.2</a:t>
            </a:r>
          </a:p>
        </p:txBody>
      </p:sp>
      <p:sp>
        <p:nvSpPr>
          <p:cNvPr id="8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sz="1000" b="0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15</a:t>
            </a:r>
          </a:p>
        </p:txBody>
      </p:sp>
      <p:pic>
        <p:nvPicPr>
          <p:cNvPr id="9" name="ContentFigure" descr="resolution_grid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435352"/>
            <a:ext cx="10917936" cy="2617313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1400" b="1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02. Method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2800" b="1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메모리 배깅 절차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lang="ko-KR" sz="1600" b="1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이미지당 256토큰을 4번 독립 추출해 bag 4개를 만들고, bag마다 별도 bank와 단위를 둔다</a:t>
            </a:r>
          </a:p>
        </p:txBody>
      </p:sp>
      <p:sp>
        <p:nvSpPr>
          <p:cNvPr id="6" name="Detail"/>
          <p:cNvSpPr txBox="1"/>
          <p:nvPr/>
        </p:nvSpPr>
        <p:spPr>
          <a:xfrm>
            <a:off x="246888" y="1463040"/>
            <a:ext cx="1207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20759" lvl="2" indent="-285750">
              <a:lnSpc>
                <a:spcPct val="130000"/>
              </a:lnSpc>
              <a:buFont typeface="Arial"/>
              <a:buChar char="•"/>
            </a:pPr>
            <a:r>
              <a:rPr lang="ko-KR" sz="1600" b="0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① 해상도 r에서 support 이미지마다 패치 토큰 256개를 무작위 비복원 추출</a:t>
            </a:r>
          </a:p>
          <a:p>
            <a:pPr marL="920759" lvl="2" indent="-285750">
              <a:lnSpc>
                <a:spcPct val="130000"/>
              </a:lnSpc>
              <a:buFont typeface="Arial"/>
              <a:buChar char="•"/>
            </a:pPr>
            <a:r>
              <a:rPr lang="ko-KR" sz="1600" b="0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② 서로 다른 난수 시드 4개로 반복 → 독립 bag b ∈ {1, 2, 3, 4}</a:t>
            </a:r>
          </a:p>
          <a:p>
            <a:pPr marL="920759" lvl="2" indent="-285750">
              <a:lnSpc>
                <a:spcPct val="130000"/>
              </a:lnSpc>
              <a:buFont typeface="Arial"/>
              <a:buChar char="•"/>
            </a:pPr>
            <a:r>
              <a:rPr lang="ko-KR" sz="1600" b="0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③ 같은 bag 안에서 세 계층은 같은 공간 위치의 토큰을 공유</a:t>
            </a:r>
          </a:p>
          <a:p>
            <a:pPr marL="920759" lvl="2" indent="-285750">
              <a:lnSpc>
                <a:spcPct val="130000"/>
              </a:lnSpc>
              <a:buFont typeface="Arial"/>
              <a:buChar char="•"/>
            </a:pPr>
            <a:r>
              <a:rPr lang="ko-KR" sz="1600" b="0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④ (l, r, b) 조합 = 컴포넌트 m, 총 48개 · 16-shot bank 1개 = 16 × 256 = 4,096토큰</a:t>
            </a:r>
          </a:p>
        </p:txBody>
      </p:sp>
      <p:sp>
        <p:nvSpPr>
          <p:cNvPr id="7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900" b="0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아래 그림 M1: hazelnut query(1120 px)의 bag별 점수 맵, 4-bag 평균, 픽셀별 bag 간 표준편차(평균 0.038). 출처: PaperWorks/outlines/Outline_v18.md §3.2</a:t>
            </a:r>
          </a:p>
        </p:txBody>
      </p:sp>
      <p:sp>
        <p:nvSpPr>
          <p:cNvPr id="8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sz="1000" b="0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16</a:t>
            </a:r>
          </a:p>
        </p:txBody>
      </p:sp>
      <p:pic>
        <p:nvPicPr>
          <p:cNvPr id="9" name="ContentFigure" descr="fig_rsg4_mech_bagging_noc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977896"/>
            <a:ext cx="10917936" cy="2367057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1400" b="1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02. Method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2800" b="1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Bag를 사용하는 이유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lang="ko-KR" sz="1600" b="1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bag는 메모리를 줄이는 부분 추출과, 그 추출이 만드는 표본 우연성을 평균으로 상쇄하는 장치다</a:t>
            </a:r>
          </a:p>
        </p:txBody>
      </p:sp>
      <p:sp>
        <p:nvSpPr>
          <p:cNvPr id="6" name="Detail"/>
          <p:cNvSpPr txBox="1"/>
          <p:nvPr/>
        </p:nvSpPr>
        <p:spPr>
          <a:xfrm>
            <a:off x="246888" y="1463040"/>
            <a:ext cx="1207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20759" lvl="2" indent="-285750">
              <a:lnSpc>
                <a:spcPct val="130000"/>
              </a:lnSpc>
              <a:buFont typeface="Arial"/>
              <a:buChar char="•"/>
            </a:pPr>
            <a:r>
              <a:rPr lang="ko-KR" sz="1600" b="1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메모리</a:t>
            </a:r>
            <a:r>
              <a:rPr lang="ko-KR" sz="1600" b="0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모든 토큰 대신 이미지당 256토큰만 저장 → 16-shot bank 1개 = 4,096토큰</a:t>
            </a:r>
          </a:p>
          <a:p>
            <a:pPr marL="920759" lvl="2" indent="-285750">
              <a:lnSpc>
                <a:spcPct val="130000"/>
              </a:lnSpc>
              <a:buFont typeface="Arial"/>
              <a:buChar char="•"/>
            </a:pPr>
            <a:r>
              <a:rPr lang="ko-KR" sz="1600" b="1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표본 우연성</a:t>
            </a:r>
            <a:r>
              <a:rPr lang="ko-KR" sz="1600" b="0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한 번만 뽑으면 어떤 정상 토큰이 뽑혔는지에 따라 거리가 흔들림 → 시드가 다른 bag 4개의 점수를 평균</a:t>
            </a:r>
          </a:p>
          <a:p>
            <a:pPr marL="920759" lvl="2" indent="-285750">
              <a:lnSpc>
                <a:spcPct val="130000"/>
              </a:lnSpc>
              <a:buFont typeface="Arial"/>
              <a:buChar char="•"/>
            </a:pPr>
            <a:r>
              <a:rPr lang="ko-KR" sz="1600" b="1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단위 정렬</a:t>
            </a:r>
            <a:r>
              <a:rPr lang="ko-KR" sz="1600" b="0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bag마다 뽑힌 토큰이 달라 정상 거리 분포도 다름 → bag도 컴포넌트로 보고 c_m을 따로 구함</a:t>
            </a:r>
          </a:p>
          <a:p>
            <a:pPr marL="920759" lvl="2" indent="-285750">
              <a:lnSpc>
                <a:spcPct val="130000"/>
              </a:lnSpc>
              <a:buFont typeface="Arial"/>
              <a:buChar char="•"/>
            </a:pPr>
            <a:r>
              <a:rPr lang="ko-KR" sz="1600" b="1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효과</a:t>
            </a:r>
            <a:r>
              <a:rPr lang="ko-KR" sz="1600" b="0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그림 M1에서 bag 간 픽셀 표준편차 평균 0.038, 4-bag 평균이 희소 표본화 차이를 완화</a:t>
            </a:r>
          </a:p>
        </p:txBody>
      </p:sp>
      <p:sp>
        <p:nvSpPr>
          <p:cNvPr id="7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900" b="0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목적 (§3.2): "VRAM 사용량을 낮추고 표본화 분산을 줄이면서 다층·다해상도 패치 특징을 저장하는 참조 뱅크를 구축한다". 참고: 1120 px에서 모든 토큰을 저장하면 정사각 기준 6,400 × 16장 = 102,400토큰/계층 (§3.2 표로 계산). 그림의 선택 위치는 예시용 무작위 추출(실제 실행 인덱스 아님). 출처: PaperWorks/outlines/Outline_v18.md §3.1–3.2, §3.5</a:t>
            </a:r>
          </a:p>
        </p:txBody>
      </p:sp>
      <p:sp>
        <p:nvSpPr>
          <p:cNvPr id="8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sz="1000" b="0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17</a:t>
            </a:r>
          </a:p>
        </p:txBody>
      </p:sp>
      <p:pic>
        <p:nvPicPr>
          <p:cNvPr id="9" name="ContentFigure" descr="bag_sampl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948" y="2977896"/>
            <a:ext cx="10656198" cy="3194304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1400" b="1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02. Method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2800" b="1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Scale Calibration 계산 절차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lang="ko-KR" sz="1600" b="1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각 bank의 정상 LSO 거리 분포에서 q95를 구해, query 거리를 그 단위로 나눈다</a:t>
            </a:r>
          </a:p>
        </p:txBody>
      </p:sp>
      <p:sp>
        <p:nvSpPr>
          <p:cNvPr id="6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900" b="0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입력: bank B_m, query 특징 f_m(x^q, p), q (기본 0.95). 출력: 단위 척도 c_m, 무차원 점수 맵 z_m. 출처: PaperWorks/outlines/Outline_v18.md §3.1 공통 연산자, §3.3</a:t>
            </a:r>
          </a:p>
        </p:txBody>
      </p:sp>
      <p:sp>
        <p:nvSpPr>
          <p:cNvPr id="7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sz="1000" b="0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18</a:t>
            </a:r>
          </a:p>
        </p:txBody>
      </p:sp>
      <p:pic>
        <p:nvPicPr>
          <p:cNvPr id="8" name="ContentFigure" descr="eq_sca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600200"/>
            <a:ext cx="10917936" cy="4168497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1400" b="1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02. Method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2800" b="1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Scale Calibration 해석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lang="ko-KR" sz="1600" b="1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z = 1은 그 bank의 정상 상위 5% 경계이며, 결합 전 관측 간 비중을 맞추는 기준이다</a:t>
            </a:r>
          </a:p>
        </p:txBody>
      </p:sp>
      <p:sp>
        <p:nvSpPr>
          <p:cNvPr id="6" name="Detail"/>
          <p:cNvSpPr txBox="1"/>
          <p:nvPr/>
        </p:nvSpPr>
        <p:spPr>
          <a:xfrm>
            <a:off x="246888" y="1463040"/>
            <a:ext cx="1207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20759" lvl="2" indent="-285750">
              <a:lnSpc>
                <a:spcPct val="130000"/>
              </a:lnSpc>
              <a:buFont typeface="Arial"/>
              <a:buChar char="•"/>
            </a:pPr>
            <a:r>
              <a:rPr lang="ko-KR" sz="1600" b="1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z = 1.0 / 2.0</a:t>
            </a:r>
            <a:r>
              <a:rPr lang="ko-KR" sz="1600" b="0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패치 거리가 정상 상위 5% 경계와 같음 / 그 2배 — 결합 전 support 참조 단위</a:t>
            </a:r>
          </a:p>
          <a:p>
            <a:pPr marL="920759" lvl="2" indent="-285750">
              <a:lnSpc>
                <a:spcPct val="130000"/>
              </a:lnSpc>
              <a:buFont typeface="Arial"/>
              <a:buChar char="•"/>
            </a:pPr>
            <a:r>
              <a:rPr lang="ko-KR" sz="1600" b="1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support 기준점</a:t>
            </a:r>
            <a:r>
              <a:rPr lang="ko-KR" sz="1600" b="0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LSO 정상 거리 표본에서 z ≤ 1인 비율 ≈ 95%, 최종 판정 임계값은 결합 맵에서 따로 정함</a:t>
            </a:r>
          </a:p>
          <a:p>
            <a:pPr marL="920759" lvl="2" indent="-285750">
              <a:lnSpc>
                <a:spcPct val="130000"/>
              </a:lnSpc>
              <a:buFont typeface="Arial"/>
              <a:buChar char="•"/>
            </a:pPr>
            <a:r>
              <a:rPr lang="ko-KR" sz="1600" b="1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예시 (오른쪽)</a:t>
            </a:r>
            <a:r>
              <a:rPr lang="ko-KR" sz="1600" b="0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같은 d = 0.178이 Layer 5 기준(0.123)은 넘고 Layer 23 기준(0.232)은 못 넘음</a:t>
            </a:r>
          </a:p>
        </p:txBody>
      </p:sp>
      <p:sp>
        <p:nvSpPr>
          <p:cNvPr id="7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900" b="0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그림 M2: hazelnut 1120 px, bag 평균, d*는 예시값. 파라미터 상태: q 민감도 표 11, 정규화 방식 비교 표 8c·8d. 출처: PaperWorks/outlines/Outline_v18.md §3.3</a:t>
            </a:r>
          </a:p>
        </p:txBody>
      </p:sp>
      <p:sp>
        <p:nvSpPr>
          <p:cNvPr id="8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sz="1000" b="0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19</a:t>
            </a:r>
          </a:p>
        </p:txBody>
      </p:sp>
      <p:pic>
        <p:nvPicPr>
          <p:cNvPr id="9" name="ContentFigure" descr="fig_rsg4_mech_scale_noc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49889" y="2633472"/>
            <a:ext cx="6898317" cy="3538727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1400" b="1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02. Method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2800" b="1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Deep-Anchored Weighting 계산 절차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lang="ko-KR" sz="1600" b="1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Deep 평균을 기준선으로 두고, 정규화된 Shallow 점수를 고정 가중치 0.125로 더한다</a:t>
            </a:r>
          </a:p>
        </p:txBody>
      </p:sp>
      <p:sp>
        <p:nvSpPr>
          <p:cNvPr id="6" name="Detail"/>
          <p:cNvSpPr txBox="1"/>
          <p:nvPr/>
        </p:nvSpPr>
        <p:spPr>
          <a:xfrm>
            <a:off x="246888" y="1463040"/>
            <a:ext cx="1207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20759" lvl="2" indent="-285750">
              <a:lnSpc>
                <a:spcPct val="130000"/>
              </a:lnSpc>
              <a:buFont typeface="Arial"/>
              <a:buChar char="•"/>
            </a:pPr>
            <a:r>
              <a:rPr lang="ko-KR" sz="1600" b="1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규격</a:t>
            </a:r>
            <a:r>
              <a:rPr lang="ko-KR" sz="1600" b="0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임계값·게이트·학습되는 가중치 없음, 계층마다 bank와 점수 맵을 유지한 채 점수 단위에서 결합</a:t>
            </a:r>
          </a:p>
          <a:p>
            <a:pPr marL="920759" lvl="2" indent="-285750">
              <a:lnSpc>
                <a:spcPct val="130000"/>
              </a:lnSpc>
              <a:buFont typeface="Arial"/>
              <a:buChar char="•"/>
            </a:pPr>
            <a:r>
              <a:rPr lang="ko-KR" sz="1600" b="1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λ 선택</a:t>
            </a:r>
            <a:r>
              <a:rPr lang="ko-KR" sz="1600" b="0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AD2 2-shot seed 0 AUPRO로 {0, 0.125, 0.25, 0.5, 1, 2} 중 선택해 동결 (post-hoc, 재조정 없음)</a:t>
            </a:r>
          </a:p>
          <a:p>
            <a:pPr marL="920759" lvl="2" indent="-285750">
              <a:lnSpc>
                <a:spcPct val="130000"/>
              </a:lnSpc>
              <a:buFont typeface="Arial"/>
              <a:buChar char="•"/>
            </a:pPr>
            <a:r>
              <a:rPr lang="ko-KR" sz="1600" b="1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주의</a:t>
            </a:r>
            <a:r>
              <a:rPr lang="ko-KR" sz="1600" b="0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z5는 정규화 뒤 점수라 λ의 상대 기여는 정규화 방식에 따라 다름 → 방식 간 같은 λ를 직접 비교하지 않음</a:t>
            </a:r>
          </a:p>
        </p:txBody>
      </p:sp>
      <p:sp>
        <p:nvSpPr>
          <p:cNvPr id="7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900" b="0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목적: Deep 기준선에 shallow 관측을 고정 가중치로 가산해 관측 축을 깊이 방향으로 확장. 입력: z_l,r,b (l = 5, 11, 23), λ = 0.125. 출처: PaperWorks/outlines/Outline_v18.md §3.4</a:t>
            </a:r>
          </a:p>
        </p:txBody>
      </p:sp>
      <p:sp>
        <p:nvSpPr>
          <p:cNvPr id="8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sz="1000" b="0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20</a:t>
            </a:r>
          </a:p>
        </p:txBody>
      </p:sp>
      <p:pic>
        <p:nvPicPr>
          <p:cNvPr id="9" name="ContentFigure" descr="eq_contro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752344"/>
            <a:ext cx="10917936" cy="1485433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1400" b="1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02. Method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2800" b="1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Deep-Anchored Weighting 예시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lang="ko-KR" sz="1600" b="1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Shallow 가산분은 0.05–0.375로 작아, 정상 면의 점수를 크게 올리지 않는다</a:t>
            </a:r>
          </a:p>
        </p:txBody>
      </p:sp>
      <p:sp>
        <p:nvSpPr>
          <p:cNvPr id="6" name="Detail"/>
          <p:cNvSpPr txBox="1"/>
          <p:nvPr/>
        </p:nvSpPr>
        <p:spPr>
          <a:xfrm>
            <a:off x="246888" y="1463040"/>
            <a:ext cx="1207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20759" lvl="2" indent="-285750">
              <a:lnSpc>
                <a:spcPct val="130000"/>
              </a:lnSpc>
              <a:buFont typeface="Arial"/>
              <a:buChar char="•"/>
            </a:pPr>
            <a:r>
              <a:rPr lang="ko-KR" sz="1600" b="1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예시 값</a:t>
            </a:r>
            <a:r>
              <a:rPr lang="ko-KR" sz="1600" b="0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정상 질감 변화 면은 0.806, 미세 스크래치는 1.200 — z5 전체를 더하면 각각 1.90과 3.65까지 오름</a:t>
            </a:r>
          </a:p>
          <a:p>
            <a:pPr marL="920759" lvl="2" indent="-285750">
              <a:lnSpc>
                <a:spcPct val="130000"/>
              </a:lnSpc>
              <a:buFont typeface="Arial"/>
              <a:buChar char="•"/>
            </a:pPr>
            <a:r>
              <a:rPr lang="ko-KR" sz="1600" b="1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실제 맵</a:t>
            </a:r>
            <a:r>
              <a:rPr lang="ko-KR" sz="1600" b="0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0.125·z5는 같은 색 범위에서 거의 보이지 않을 만큼 작고, λ = 1이면 정상 껍질까지 밝아짐</a:t>
            </a:r>
          </a:p>
        </p:txBody>
      </p:sp>
      <p:sp>
        <p:nvSpPr>
          <p:cNvPr id="7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900" b="0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위: Outline §3.4 예시 계산(실측 아님, 전체 가산 = z_d + z5). 아래: hazelnut 1120 px, bag 평균, 색 범위 [0, 2]. 맵은 캐시된 bag 평균 계층별 정규화 맵을 z_d + 0.125·z5로 재구성한 표시용 예시 (새 평가 아님). 출처: PaperWorks/outlines/Outline_v18.md §3.4</a:t>
            </a:r>
          </a:p>
        </p:txBody>
      </p:sp>
      <p:sp>
        <p:nvSpPr>
          <p:cNvPr id="8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sz="1000" b="0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21</a:t>
            </a:r>
          </a:p>
        </p:txBody>
      </p:sp>
      <p:pic>
        <p:nvPicPr>
          <p:cNvPr id="9" name="ContentFigure" descr="fusion_examp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8208" y="2343912"/>
            <a:ext cx="7801679" cy="2262167"/>
          </a:xfrm>
          <a:prstGeom prst="rect">
            <a:avLst/>
          </a:prstGeom>
        </p:spPr>
      </p:pic>
      <p:pic>
        <p:nvPicPr>
          <p:cNvPr id="10" name="ContentFigure" descr="fusion_map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98208" y="4697519"/>
            <a:ext cx="7801679" cy="1447248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1400" b="1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02. Method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2800" b="1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맵 통합과 이미지 점수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lang="ko-KR" sz="1600" b="1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bag 평균 → 4개 해상도 보간 평균으로 픽셀 맵을 만들고, 상위 1% 픽셀 평균을 이미지 점수로 쓴다</a:t>
            </a:r>
          </a:p>
        </p:txBody>
      </p:sp>
      <p:sp>
        <p:nvSpPr>
          <p:cNvPr id="6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900" b="0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입력: 각 (r, b)의 결합 점수 맵 S_r,b, R = {448, 672, 896, 1120}. 출력: A(x^q) ∈ R^(H×W), s(x^q). 출처: PaperWorks/outlines/Outline_v18.md §3.5</a:t>
            </a:r>
          </a:p>
        </p:txBody>
      </p:sp>
      <p:sp>
        <p:nvSpPr>
          <p:cNvPr id="7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sz="1000" b="0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22</a:t>
            </a:r>
          </a:p>
        </p:txBody>
      </p:sp>
      <p:pic>
        <p:nvPicPr>
          <p:cNvPr id="8" name="ContentFigure" descr="eq_aggrega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645920"/>
            <a:ext cx="10917936" cy="3235459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1400" b="1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02. Method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2800" b="1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파라미터 규격과 재현성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lang="ko-KR" sz="1600" b="1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모든 값은 사전에 고정하고, 추론에는 역전파·파라미터 갱신·테스트 라벨을 쓰지 않는다</a:t>
            </a:r>
          </a:p>
        </p:txBody>
      </p:sp>
      <p:sp>
        <p:nvSpPr>
          <p:cNvPr id="6" name="Detail"/>
          <p:cNvSpPr txBox="1"/>
          <p:nvPr/>
        </p:nvSpPr>
        <p:spPr>
          <a:xfrm>
            <a:off x="246888" y="1463040"/>
            <a:ext cx="1207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20759" lvl="2" indent="-285750">
              <a:lnSpc>
                <a:spcPct val="130000"/>
              </a:lnSpc>
              <a:buFont typeface="Arial"/>
              <a:buChar char="•"/>
            </a:pPr>
            <a:r>
              <a:rPr lang="ko-KR" sz="1600" b="0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백본은 동결 DINOv2-L/14(약 304M, 패치 14)이고, support 수 N은 1, 2, 4, 8, 16장이다</a:t>
            </a:r>
          </a:p>
          <a:p>
            <a:pPr marL="920759" lvl="2" indent="-285750">
              <a:lnSpc>
                <a:spcPct val="130000"/>
              </a:lnSpc>
              <a:buFont typeface="Arial"/>
              <a:buChar char="•"/>
            </a:pPr>
            <a:r>
              <a:rPr lang="ko-KR" sz="1600" b="0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관측은 계층 {5, 11, 23}, 짧은 변 {448, 672, 896, 1120}, bag 4개 × 이미지당 256토큰으로 고정한다</a:t>
            </a:r>
          </a:p>
          <a:p>
            <a:pPr marL="920759" lvl="2" indent="-285750">
              <a:lnSpc>
                <a:spcPct val="130000"/>
              </a:lnSpc>
              <a:buFont typeface="Arial"/>
              <a:buChar char="•"/>
            </a:pPr>
            <a:r>
              <a:rPr lang="ko-KR" sz="1600" b="0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결합은 q = 0.95와 λ = 0.125(Layer 5에만)이며, λ는 AD2 2-shot seed 0로 고른 뒤 고정했다</a:t>
            </a:r>
          </a:p>
          <a:p>
            <a:pPr marL="920759" lvl="2" indent="-285750">
              <a:lnSpc>
                <a:spcPct val="130000"/>
              </a:lnSpc>
              <a:buFont typeface="Arial"/>
              <a:buChar char="•"/>
            </a:pPr>
            <a:r>
              <a:rPr lang="ko-KR" sz="1600" b="0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계산은 FP16 autocast, bank 256토큰/source이며, 선택적으로 연결 성분 최댓값 채움(CQ) 후처리를 쓴다</a:t>
            </a:r>
          </a:p>
          <a:p>
            <a:pPr marL="920759" lvl="2" indent="-285750">
              <a:lnSpc>
                <a:spcPct val="130000"/>
              </a:lnSpc>
              <a:buFont typeface="Arial"/>
              <a:buChar char="•"/>
            </a:pPr>
            <a:r>
              <a:rPr lang="ko-KR" sz="1600" b="0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모든 실험은 seed 0·1·2와 고정 support manifest로 결정론적으로 실행된다</a:t>
            </a:r>
          </a:p>
        </p:txBody>
      </p:sp>
      <p:sp>
        <p:nvSpPr>
          <p:cNvPr id="7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900" b="0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표 8 등 ablation 실행 조건은 CQ99. 출처: PaperWorks/outlines/Outline_v18.md §3.6</a:t>
            </a:r>
          </a:p>
        </p:txBody>
      </p:sp>
      <p:sp>
        <p:nvSpPr>
          <p:cNvPr id="8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sz="1000" b="0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23</a:t>
            </a:r>
          </a:p>
        </p:txBody>
      </p:sp>
      <p:sp>
        <p:nvSpPr>
          <p:cNvPr id="9" name="KeyBox"/>
          <p:cNvSpPr txBox="1"/>
          <p:nvPr/>
        </p:nvSpPr>
        <p:spPr>
          <a:xfrm>
            <a:off x="640080" y="3569208"/>
            <a:ext cx="10917936" cy="566928"/>
          </a:xfrm>
          <a:prstGeom prst="rect">
            <a:avLst/>
          </a:prstGeom>
          <a:noFill/>
          <a:ln w="12700">
            <a:solidFill>
              <a:srgbClr val="163866"/>
            </a:solidFill>
          </a:ln>
        </p:spPr>
        <p:txBody>
          <a:bodyPr wrap="square" lIns="182880" tIns="109728" rIns="182880" bIns="109728">
            <a:spAutoFit/>
          </a:bodyPr>
          <a:lstStyle/>
          <a:p>
            <a:r>
              <a:rPr lang="ko-KR" sz="1500" b="1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학습되는 값 없음  </a:t>
            </a:r>
            <a:r>
              <a:rPr lang="ko-KR" sz="1500" b="0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임계값·게이트·학습 가중치 없이, 정상 support에서 계산한 bank와 단위 c_m만 query 추론에 쓴다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1400" b="1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03. 실험 결과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2800" b="1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평가 데이터 (표 1)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lang="ko-KR" sz="1600" b="1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주 평가는 여러 조명이 섞인 MVTec AD 2 test_public이고, support는 regular 조명에서 고른다</a:t>
            </a:r>
          </a:p>
        </p:txBody>
      </p:sp>
      <p:sp>
        <p:nvSpPr>
          <p:cNvPr id="6" name="Detail"/>
          <p:cNvSpPr txBox="1"/>
          <p:nvPr/>
        </p:nvSpPr>
        <p:spPr>
          <a:xfrm>
            <a:off x="246888" y="1463040"/>
            <a:ext cx="1207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20759" lvl="2" indent="-285750">
              <a:lnSpc>
                <a:spcPct val="130000"/>
              </a:lnSpc>
              <a:buFont typeface="Arial"/>
              <a:buChar char="•"/>
            </a:pPr>
            <a:r>
              <a:rPr lang="ko-KR" sz="1600" b="0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Shift 1–3 조명은 support에 없던 변화 → 조명 변화 아래의 국소화를 함께 평가</a:t>
            </a:r>
          </a:p>
          <a:p>
            <a:pPr marL="920759" lvl="2" indent="-285750">
              <a:lnSpc>
                <a:spcPct val="130000"/>
              </a:lnSpc>
              <a:buFont typeface="Arial"/>
              <a:buChar char="•"/>
            </a:pPr>
            <a:r>
              <a:rPr lang="ko-KR" sz="1600" b="0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test_private,mix는 대응 장면의 seen/unseen 조명을 섞은 별도 split (public·private 합집합 아님)</a:t>
            </a:r>
          </a:p>
        </p:txBody>
      </p:sp>
      <p:sp>
        <p:nvSpPr>
          <p:cNvPr id="7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900" b="0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출처: PaperWorks/outlines/Outline_v18.md §4.1 표 1</a:t>
            </a:r>
          </a:p>
        </p:txBody>
      </p:sp>
      <p:sp>
        <p:nvSpPr>
          <p:cNvPr id="8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sz="1000" b="0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24</a:t>
            </a:r>
          </a:p>
        </p:txBody>
      </p:sp>
      <p:graphicFrame>
        <p:nvGraphicFramePr>
          <p:cNvPr id="9" name="SummaryTable"/>
          <p:cNvGraphicFramePr>
            <a:graphicFrameLocks noGrp="1"/>
          </p:cNvGraphicFramePr>
          <p:nvPr/>
        </p:nvGraphicFramePr>
        <p:xfrm>
          <a:off x="640080" y="2389632"/>
          <a:ext cx="10917936" cy="30967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315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Split</a:t>
                      </a:r>
                    </a:p>
                  </a:txBody>
                  <a:tcPr marL="109728" marR="109728" marT="27432" marB="27432" anchor="ctr">
                    <a:solidFill>
                      <a:srgbClr val="1638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이미지 수</a:t>
                      </a:r>
                    </a:p>
                  </a:txBody>
                  <a:tcPr marL="109728" marR="109728" marT="27432" marB="27432" anchor="ctr">
                    <a:solidFill>
                      <a:srgbClr val="1638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조명 · 레이블 범위</a:t>
                      </a:r>
                    </a:p>
                  </a:txBody>
                  <a:tcPr marL="109728" marR="109728" marT="27432" marB="27432" anchor="ctr">
                    <a:solidFill>
                      <a:srgbClr val="1638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2543"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train/good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2,528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정상; regular 조명</a:t>
                      </a:r>
                    </a:p>
                  </a:txBody>
                  <a:tcPr marL="109728" marR="109728" marT="27432" marB="27432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2543"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validation/good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302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정상; regular 조명</a:t>
                      </a:r>
                    </a:p>
                  </a:txBody>
                  <a:tcPr marL="109728" marR="109728" marT="27432" marB="27432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2543"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test_public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1,084 (379 normal / 705 anomaly)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여러 조명; 라벨 공개 개발 평가</a:t>
                      </a:r>
                    </a:p>
                  </a:txBody>
                  <a:tcPr marL="109728" marR="109728" marT="27432" marB="27432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2543"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test_private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2,045 (748 / 1,297)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regular 조명; GT 서버 비공개</a:t>
                      </a:r>
                    </a:p>
                  </a:txBody>
                  <a:tcPr marL="109728" marR="109728" marT="27432" marB="27432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2543"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test_private,mix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2,045 (748 / 1,297)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대응 장면의 seen/unseen 조명을 무작위 구성; 별도 split, public/private 합집합 아님</a:t>
                      </a:r>
                    </a:p>
                  </a:txBody>
                  <a:tcPr marL="109728" marR="109728" marT="27432" marB="27432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1400" b="1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03. 실험 결과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2800" b="1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평가 설정 (표 2)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lang="ko-KR" sz="1600" b="1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주 지표는 AUPRO@0.05이며, 연속 점수 지표는 임계값 없이 점수 맵에서 바로 계산한다</a:t>
            </a:r>
          </a:p>
        </p:txBody>
      </p:sp>
      <p:sp>
        <p:nvSpPr>
          <p:cNvPr id="6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900" b="0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출처: PaperWorks/outlines/Outline_v18.md §4.1 표 2</a:t>
            </a:r>
          </a:p>
        </p:txBody>
      </p:sp>
      <p:sp>
        <p:nvSpPr>
          <p:cNvPr id="7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sz="1000" b="0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25</a:t>
            </a:r>
          </a:p>
        </p:txBody>
      </p:sp>
      <p:graphicFrame>
        <p:nvGraphicFramePr>
          <p:cNvPr id="8" name="SummaryTable"/>
          <p:cNvGraphicFramePr>
            <a:graphicFrameLocks noGrp="1"/>
          </p:cNvGraphicFramePr>
          <p:nvPr/>
        </p:nvGraphicFramePr>
        <p:xfrm>
          <a:off x="640080" y="1645920"/>
          <a:ext cx="10917936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404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항목</a:t>
                      </a:r>
                    </a:p>
                  </a:txBody>
                  <a:tcPr marL="109728" marR="109728" marT="27432" marB="27432" anchor="ctr">
                    <a:solidFill>
                      <a:srgbClr val="1638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설정</a:t>
                      </a:r>
                    </a:p>
                  </a:txBody>
                  <a:tcPr marL="109728" marR="109728" marT="27432" marB="27432" anchor="ctr">
                    <a:solidFill>
                      <a:srgbClr val="1638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7774"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주 few-shot 평가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MVTec AD 2test_public; 8 classes; 1/2/4/8/16 normal support images per class</a:t>
                      </a:r>
                    </a:p>
                  </a:txBody>
                  <a:tcPr marL="109728" marR="109728" marT="27432" marB="27432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7774"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Seed / 집계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표 4: 비교군은 seed 0–2 mean ± sample SD, Ours(linear0125)는 2·16-shot이 seed 0–2, 1·4·8-shot은 seed 0 단일값. 표 5: 모든 방법 seed 0 단일값</a:t>
                      </a:r>
                    </a:p>
                  </a:txBody>
                  <a:tcPr marL="109728" marR="109728" marT="27432" marB="27432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7774"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MVTec AD / VisA 범위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MVTec AD 15 classes, VisA 12 classes; 1/2/4-shot 표는 §4.2</a:t>
                      </a:r>
                    </a:p>
                  </a:txBody>
                  <a:tcPr marL="109728" marR="109728" marT="27432" marB="27432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7774"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Primary metric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Class-macro AUPRO@0.05 (%)</a:t>
                      </a:r>
                    </a:p>
                  </a:txBody>
                  <a:tcPr marL="109728" marR="109728" marT="27432" marB="27432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7774"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보조 metric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Class-macro pAUROC@0.05, I-AUROC (%)</a:t>
                      </a:r>
                    </a:p>
                  </a:txBody>
                  <a:tcPr marL="109728" marR="109728" marT="27432" marB="27432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7774"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연속 score metric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AUPRO·pAUROC는 anomaly score map에서 계산; I-AUROC는 SuperAD/PatchCore와 동일하게 anomaly score map 상위 1% 평균(top-1% mean)을 기준으로 집계</a:t>
                      </a:r>
                    </a:p>
                  </a:txBody>
                  <a:tcPr marL="109728" marR="109728" marT="27432" marB="27432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7774"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공식 private F1 threshold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train/good 중 16-shot support 제외 후 매 8번째 이미지를 calibration에 사용; class별 calibration pixel score p95 × 1.421. Private GT 미사용</a:t>
                      </a:r>
                    </a:p>
                  </a:txBody>
                  <a:tcPr marL="109728" marR="109728" marT="27432" marB="27432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7774"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F1 oracle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Query label로 threshold를 선택하는 진단값; 운영 지표 표에는 포함하지 않음</a:t>
                      </a:r>
                    </a:p>
                  </a:txBody>
                  <a:tcPr marL="109728" marR="109728" marT="27432" marB="27432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1400" b="1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03. 실험 결과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2800" b="1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비교군 설정 (표 3)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lang="ko-KR" sz="1600" b="1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비교군은 유효 입력을 1120으로 바꿔 다시 실행했고, 백본·계층·후처리는 각 방법 설정을 유지한다</a:t>
            </a:r>
          </a:p>
        </p:txBody>
      </p:sp>
      <p:sp>
        <p:nvSpPr>
          <p:cNvPr id="6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900" b="0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모든 방법은 같은 support 경로·query·evaluator 사용. FastRecon·RAD는 논문 식의 독립 구현, SuperAD는 공통 support 사용 (원 논문은 전체 train coreset) → 외부 비교는 전체 파이프라인 비교. 출처: PaperWorks/outlines/Outline_v18.md §4.1 표 3</a:t>
            </a:r>
          </a:p>
        </p:txBody>
      </p:sp>
      <p:sp>
        <p:nvSpPr>
          <p:cNvPr id="7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sz="1000" b="0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26</a:t>
            </a:r>
          </a:p>
        </p:txBody>
      </p:sp>
      <p:graphicFrame>
        <p:nvGraphicFramePr>
          <p:cNvPr id="8" name="SummaryTable"/>
          <p:cNvGraphicFramePr>
            <a:graphicFrameLocks noGrp="1"/>
          </p:cNvGraphicFramePr>
          <p:nvPr/>
        </p:nvGraphicFramePr>
        <p:xfrm>
          <a:off x="640080" y="1600200"/>
          <a:ext cx="10917936" cy="4544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1129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방법</a:t>
                      </a:r>
                    </a:p>
                  </a:txBody>
                  <a:tcPr marL="109728" marR="109728" marT="27432" marB="27432" anchor="ctr">
                    <a:solidFill>
                      <a:srgbClr val="1638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학습 · support fit</a:t>
                      </a:r>
                    </a:p>
                  </a:txBody>
                  <a:tcPr marL="109728" marR="109728" marT="27432" marB="27432" anchor="ctr">
                    <a:solidFill>
                      <a:srgbClr val="1638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Backbone / feature layers</a:t>
                      </a:r>
                    </a:p>
                  </a:txBody>
                  <a:tcPr marL="109728" marR="109728" marT="27432" marB="27432" anchor="ctr">
                    <a:solidFill>
                      <a:srgbClr val="1638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입력 · resolution · 추가 설정</a:t>
                      </a:r>
                    </a:p>
                  </a:txBody>
                  <a:tcPr marL="109728" marR="109728" marT="27432" marB="27432" anchor="ctr">
                    <a:solidFill>
                      <a:srgbClr val="1638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0065"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ScopeAD (Ours, linear0125)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Frozen; support bank·scale fitting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DINOv2 ViT-L/14; [5, 11, 23]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448/672/896/1120; 4-scale memory bank;z_d+0.125 z5</a:t>
                      </a:r>
                    </a:p>
                  </a:txBody>
                  <a:tcPr marL="109728" marR="109728" marT="27432" marB="27432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0065"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SuperAD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Frozen; support reference bank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DINOv2 ViT-L/14; [5, 11, 17, 23]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1120; 기존 입력 672</a:t>
                      </a:r>
                    </a:p>
                  </a:txBody>
                  <a:tcPr marL="109728" marR="109728" marT="27432" marB="27432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0065"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PatchCore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Frozen; support memory / coreset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DINOv2 ViT-L/14; [5, 11, 17, 23]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1120; 기존 입력 672</a:t>
                      </a:r>
                    </a:p>
                  </a:txBody>
                  <a:tcPr marL="109728" marR="109728" marT="27432" marB="27432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0065"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AnomalyDINO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Frozen; support references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Project DINOv2 ViT-L/14; [23]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1120 (모든 클래스); 기존 입력 672,sheet_metal 448</a:t>
                      </a:r>
                    </a:p>
                  </a:txBody>
                  <a:tcPr marL="109728" marR="109728" marT="27432" marB="27432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0065"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FastRecon (paper configuration)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No gradient training; closed-form support fit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ResNet-50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1120, grid 140×140; 기존 입력 368; 15% coreset; λ=0.3</a:t>
                      </a:r>
                    </a:p>
                  </a:txBody>
                  <a:tcPr marL="109728" marR="109728" marT="27432" marB="27432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0065"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RAD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Frozen; support retrieval bank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DINOv3 ViT-B/16; [3, 6, 9, 11]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Square 1280 → center crop 1120; 기존 설정 512 → 448; global category bank</a:t>
                      </a:r>
                    </a:p>
                  </a:txBody>
                  <a:tcPr marL="109728" marR="109728" marT="27432" marB="27432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20065"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SubspaceAD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Frozen; support PCA fit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DINOv2-with-registers ViT-G/14; [22–28]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1120; 기존 입력 672</a:t>
                      </a:r>
                    </a:p>
                  </a:txBody>
                  <a:tcPr marL="109728" marR="109728" marT="27432" marB="27432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20065"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RegAD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Official source-trained registration model; fixed source checkpoint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ResNet-18 STN; learned registration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224×224; official positional Gaussian and Mahalanobis scoring; same 2-shot bottle checkpoint for all AD2 shots</a:t>
                      </a:r>
                    </a:p>
                  </a:txBody>
                  <a:tcPr marL="109728" marR="109728" marT="27432" marB="27432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1400" b="1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03. 실험 결과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2800" b="1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Few-shot 주 비교 (표 4)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lang="ko-KR" sz="1600" b="1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1–16 shot 세 지표 모두 1위, 16-shot 3-seed AUPRO@0.05는 SuperAD보다 +4.17pp</a:t>
            </a:r>
          </a:p>
        </p:txBody>
      </p:sp>
      <p:sp>
        <p:nvSpPr>
          <p:cNvPr id="6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900" b="0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AUPRO@0.05는 비교군 최고값 대비 +3.24–8.50pp (1-shot 최대). 비교군: seed 0–2 8-class macro의 mean ± sample SD, 1120 입력 FP32. ‡ ScopeAD: 2·16-shot 3-seed, 1·4·8-shot seed 0 단일값, FP16·4 해상도. † RegAD는 공식 STN 구조상 224. 굵게 = 최고, 밑줄 = 차상위. 출처: PaperWorks/outlines/Outline_v18.md §4.2 표 4</a:t>
            </a:r>
          </a:p>
        </p:txBody>
      </p:sp>
      <p:sp>
        <p:nvSpPr>
          <p:cNvPr id="7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sz="1000" b="0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27</a:t>
            </a:r>
          </a:p>
        </p:txBody>
      </p:sp>
      <p:graphicFrame>
        <p:nvGraphicFramePr>
          <p:cNvPr id="8" name="SummaryTable"/>
          <p:cNvGraphicFramePr>
            <a:graphicFrameLocks noGrp="1"/>
          </p:cNvGraphicFramePr>
          <p:nvPr/>
        </p:nvGraphicFramePr>
        <p:xfrm>
          <a:off x="640080" y="1572768"/>
          <a:ext cx="10917936" cy="44074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75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75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4757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4757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4757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4757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14757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147572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Shot</a:t>
                      </a:r>
                    </a:p>
                  </a:txBody>
                  <a:tcPr marL="109728" marR="109728" marT="4572" marB="4572" anchor="ctr">
                    <a:solidFill>
                      <a:srgbClr val="1638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Metric</a:t>
                      </a:r>
                    </a:p>
                  </a:txBody>
                  <a:tcPr marL="109728" marR="109728" marT="4572" marB="4572" anchor="ctr">
                    <a:solidFill>
                      <a:srgbClr val="1638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PatchCore</a:t>
                      </a:r>
                    </a:p>
                  </a:txBody>
                  <a:tcPr marL="109728" marR="109728" marT="4572" marB="4572" anchor="ctr">
                    <a:solidFill>
                      <a:srgbClr val="1638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AnomalyDINO</a:t>
                      </a:r>
                    </a:p>
                  </a:txBody>
                  <a:tcPr marL="109728" marR="109728" marT="4572" marB="4572" anchor="ctr">
                    <a:solidFill>
                      <a:srgbClr val="1638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FastRecon</a:t>
                      </a:r>
                    </a:p>
                  </a:txBody>
                  <a:tcPr marL="109728" marR="109728" marT="4572" marB="4572" anchor="ctr">
                    <a:solidFill>
                      <a:srgbClr val="1638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RAD</a:t>
                      </a:r>
                    </a:p>
                  </a:txBody>
                  <a:tcPr marL="109728" marR="109728" marT="4572" marB="4572" anchor="ctr">
                    <a:solidFill>
                      <a:srgbClr val="1638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SubspaceAD</a:t>
                      </a:r>
                    </a:p>
                  </a:txBody>
                  <a:tcPr marL="109728" marR="109728" marT="4572" marB="4572" anchor="ctr">
                    <a:solidFill>
                      <a:srgbClr val="1638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SuperAD</a:t>
                      </a:r>
                    </a:p>
                  </a:txBody>
                  <a:tcPr marL="109728" marR="109728" marT="4572" marB="4572" anchor="ctr">
                    <a:solidFill>
                      <a:srgbClr val="1638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RegAD (224)†</a:t>
                      </a:r>
                    </a:p>
                  </a:txBody>
                  <a:tcPr marL="109728" marR="109728" marT="4572" marB="4572" anchor="ctr">
                    <a:solidFill>
                      <a:srgbClr val="1638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ScopeAD‡</a:t>
                      </a:r>
                    </a:p>
                  </a:txBody>
                  <a:tcPr marL="109728" marR="109728" marT="4572" marB="4572" anchor="ctr">
                    <a:solidFill>
                      <a:srgbClr val="1638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1</a:t>
                      </a:r>
                    </a:p>
                  </a:txBody>
                  <a:tcPr marL="109728" marR="109728" marT="4572" marB="457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AUPRO@0.05</a:t>
                      </a:r>
                    </a:p>
                  </a:txBody>
                  <a:tcPr marL="109728" marR="109728" marT="4572" marB="457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38.45 ± 1.85</a:t>
                      </a:r>
                    </a:p>
                  </a:txBody>
                  <a:tcPr marL="109728" marR="109728" marT="4572" marB="457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35.95 ± 2.24</a:t>
                      </a:r>
                    </a:p>
                  </a:txBody>
                  <a:tcPr marL="109728" marR="109728" marT="4572" marB="457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14.92 ± 2.27</a:t>
                      </a:r>
                    </a:p>
                  </a:txBody>
                  <a:tcPr marL="109728" marR="109728" marT="4572" marB="457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26.42 ± 1.71</a:t>
                      </a:r>
                    </a:p>
                  </a:txBody>
                  <a:tcPr marL="109728" marR="109728" marT="4572" marB="457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44.87 ± 1.87</a:t>
                      </a:r>
                    </a:p>
                  </a:txBody>
                  <a:tcPr marL="109728" marR="109728" marT="4572" marB="457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 u="sng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46.31 ± 3.73</a:t>
                      </a:r>
                    </a:p>
                  </a:txBody>
                  <a:tcPr marL="109728" marR="109728" marT="4572" marB="457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12.73 ± 0.38</a:t>
                      </a:r>
                    </a:p>
                  </a:txBody>
                  <a:tcPr marL="109728" marR="109728" marT="4572" marB="457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54.81</a:t>
                      </a:r>
                    </a:p>
                  </a:txBody>
                  <a:tcPr marL="109728" marR="109728" marT="4572" marB="4572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09728" marR="109728" marT="4572" marB="457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pAUROC@0.05</a:t>
                      </a:r>
                    </a:p>
                  </a:txBody>
                  <a:tcPr marL="109728" marR="109728" marT="4572" marB="457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64.19 ± 0.68</a:t>
                      </a:r>
                    </a:p>
                  </a:txBody>
                  <a:tcPr marL="109728" marR="109728" marT="4572" marB="457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 u="sng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70.67 ± 0.69</a:t>
                      </a:r>
                    </a:p>
                  </a:txBody>
                  <a:tcPr marL="109728" marR="109728" marT="4572" marB="457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55.70 ± 0.67</a:t>
                      </a:r>
                    </a:p>
                  </a:txBody>
                  <a:tcPr marL="109728" marR="109728" marT="4572" marB="457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59.57 ± 0.35</a:t>
                      </a:r>
                    </a:p>
                  </a:txBody>
                  <a:tcPr marL="109728" marR="109728" marT="4572" marB="457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70.56 ± 0.56</a:t>
                      </a:r>
                    </a:p>
                  </a:txBody>
                  <a:tcPr marL="109728" marR="109728" marT="4572" marB="457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70.13 ± 1.14</a:t>
                      </a:r>
                    </a:p>
                  </a:txBody>
                  <a:tcPr marL="109728" marR="109728" marT="4572" marB="457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57.76 ± 0.30</a:t>
                      </a:r>
                    </a:p>
                  </a:txBody>
                  <a:tcPr marL="109728" marR="109728" marT="4572" marB="457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73.32</a:t>
                      </a:r>
                    </a:p>
                  </a:txBody>
                  <a:tcPr marL="109728" marR="109728" marT="4572" marB="4572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09728" marR="109728" marT="4572" marB="457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I-AUROC</a:t>
                      </a:r>
                    </a:p>
                  </a:txBody>
                  <a:tcPr marL="109728" marR="109728" marT="4572" marB="457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65.51 ± 1.91</a:t>
                      </a:r>
                    </a:p>
                  </a:txBody>
                  <a:tcPr marL="109728" marR="109728" marT="4572" marB="457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66.83 ± 1.08</a:t>
                      </a:r>
                    </a:p>
                  </a:txBody>
                  <a:tcPr marL="109728" marR="109728" marT="4572" marB="457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58.10 ± 4.46</a:t>
                      </a:r>
                    </a:p>
                  </a:txBody>
                  <a:tcPr marL="109728" marR="109728" marT="4572" marB="457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58.68 ± 3.03</a:t>
                      </a:r>
                    </a:p>
                  </a:txBody>
                  <a:tcPr marL="109728" marR="109728" marT="4572" marB="457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67.02 ± 2.27</a:t>
                      </a:r>
                    </a:p>
                  </a:txBody>
                  <a:tcPr marL="109728" marR="109728" marT="4572" marB="457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 u="sng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67.68 ± 0.32</a:t>
                      </a:r>
                    </a:p>
                  </a:txBody>
                  <a:tcPr marL="109728" marR="109728" marT="4572" marB="457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57.73 ± 1.82</a:t>
                      </a:r>
                    </a:p>
                  </a:txBody>
                  <a:tcPr marL="109728" marR="109728" marT="4572" marB="457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74.47</a:t>
                      </a:r>
                    </a:p>
                  </a:txBody>
                  <a:tcPr marL="109728" marR="109728" marT="4572" marB="4572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2</a:t>
                      </a:r>
                    </a:p>
                  </a:txBody>
                  <a:tcPr marL="109728" marR="109728" marT="4572" marB="457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AUPRO@0.05</a:t>
                      </a:r>
                    </a:p>
                  </a:txBody>
                  <a:tcPr marL="109728" marR="109728" marT="4572" marB="457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42.25 ± 2.08</a:t>
                      </a:r>
                    </a:p>
                  </a:txBody>
                  <a:tcPr marL="109728" marR="109728" marT="4572" marB="457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38.20 ± 1.90</a:t>
                      </a:r>
                    </a:p>
                  </a:txBody>
                  <a:tcPr marL="109728" marR="109728" marT="4572" marB="457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16.73 ± 2.39</a:t>
                      </a:r>
                    </a:p>
                  </a:txBody>
                  <a:tcPr marL="109728" marR="109728" marT="4572" marB="457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31.61 ± 1.47</a:t>
                      </a:r>
                    </a:p>
                  </a:txBody>
                  <a:tcPr marL="109728" marR="109728" marT="4572" marB="457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45.90 ± 0.75</a:t>
                      </a:r>
                    </a:p>
                  </a:txBody>
                  <a:tcPr marL="109728" marR="109728" marT="4572" marB="457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 u="sng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49.80 ± 2.33</a:t>
                      </a:r>
                    </a:p>
                  </a:txBody>
                  <a:tcPr marL="109728" marR="109728" marT="4572" marB="457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15.05 ± 0.30</a:t>
                      </a:r>
                    </a:p>
                  </a:txBody>
                  <a:tcPr marL="109728" marR="109728" marT="4572" marB="457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56.03 ± 2.99</a:t>
                      </a:r>
                    </a:p>
                  </a:txBody>
                  <a:tcPr marL="109728" marR="109728" marT="4572" marB="4572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09728" marR="109728" marT="4572" marB="457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pAUROC@0.05</a:t>
                      </a:r>
                    </a:p>
                  </a:txBody>
                  <a:tcPr marL="109728" marR="109728" marT="4572" marB="457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65.43 ± 0.38</a:t>
                      </a:r>
                    </a:p>
                  </a:txBody>
                  <a:tcPr marL="109728" marR="109728" marT="4572" marB="457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 u="sng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72.26 ± 0.56</a:t>
                      </a:r>
                    </a:p>
                  </a:txBody>
                  <a:tcPr marL="109728" marR="109728" marT="4572" marB="457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57.14 ± 1.03</a:t>
                      </a:r>
                    </a:p>
                  </a:txBody>
                  <a:tcPr marL="109728" marR="109728" marT="4572" marB="457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61.78 ± 0.15</a:t>
                      </a:r>
                    </a:p>
                  </a:txBody>
                  <a:tcPr marL="109728" marR="109728" marT="4572" marB="457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71.53 ± 0.18</a:t>
                      </a:r>
                    </a:p>
                  </a:txBody>
                  <a:tcPr marL="109728" marR="109728" marT="4572" marB="457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71.52 ± 0.58</a:t>
                      </a:r>
                    </a:p>
                  </a:txBody>
                  <a:tcPr marL="109728" marR="109728" marT="4572" marB="457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58.76 ± 0.49</a:t>
                      </a:r>
                    </a:p>
                  </a:txBody>
                  <a:tcPr marL="109728" marR="109728" marT="4572" marB="457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75.86 ± 0.59</a:t>
                      </a:r>
                    </a:p>
                  </a:txBody>
                  <a:tcPr marL="109728" marR="109728" marT="4572" marB="4572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09728" marR="109728" marT="4572" marB="457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I-AUROC</a:t>
                      </a:r>
                    </a:p>
                  </a:txBody>
                  <a:tcPr marL="109728" marR="109728" marT="4572" marB="457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67.53 ± 1.55</a:t>
                      </a:r>
                    </a:p>
                  </a:txBody>
                  <a:tcPr marL="109728" marR="109728" marT="4572" marB="457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68.95 ± 3.84</a:t>
                      </a:r>
                    </a:p>
                  </a:txBody>
                  <a:tcPr marL="109728" marR="109728" marT="4572" marB="457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57.63 ± 6.82</a:t>
                      </a:r>
                    </a:p>
                  </a:txBody>
                  <a:tcPr marL="109728" marR="109728" marT="4572" marB="457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59.37 ± 2.54</a:t>
                      </a:r>
                    </a:p>
                  </a:txBody>
                  <a:tcPr marL="109728" marR="109728" marT="4572" marB="457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 u="sng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70.42 ± 1.79</a:t>
                      </a:r>
                    </a:p>
                  </a:txBody>
                  <a:tcPr marL="109728" marR="109728" marT="4572" marB="457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70.19 ± 2.16</a:t>
                      </a:r>
                    </a:p>
                  </a:txBody>
                  <a:tcPr marL="109728" marR="109728" marT="4572" marB="457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60.56 ± 3.94</a:t>
                      </a:r>
                    </a:p>
                  </a:txBody>
                  <a:tcPr marL="109728" marR="109728" marT="4572" marB="457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74.93 ± 1.54</a:t>
                      </a:r>
                    </a:p>
                  </a:txBody>
                  <a:tcPr marL="109728" marR="109728" marT="4572" marB="4572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4</a:t>
                      </a:r>
                    </a:p>
                  </a:txBody>
                  <a:tcPr marL="109728" marR="109728" marT="4572" marB="457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AUPRO@0.05</a:t>
                      </a:r>
                    </a:p>
                  </a:txBody>
                  <a:tcPr marL="109728" marR="109728" marT="4572" marB="457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46.94 ± 1.00</a:t>
                      </a:r>
                    </a:p>
                  </a:txBody>
                  <a:tcPr marL="109728" marR="109728" marT="4572" marB="457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40.32 ± 0.75</a:t>
                      </a:r>
                    </a:p>
                  </a:txBody>
                  <a:tcPr marL="109728" marR="109728" marT="4572" marB="457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21.88 ± 1.73</a:t>
                      </a:r>
                    </a:p>
                  </a:txBody>
                  <a:tcPr marL="109728" marR="109728" marT="4572" marB="457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36.51 ± 1.02</a:t>
                      </a:r>
                    </a:p>
                  </a:txBody>
                  <a:tcPr marL="109728" marR="109728" marT="4572" marB="457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47.14 ± 0.76</a:t>
                      </a:r>
                    </a:p>
                  </a:txBody>
                  <a:tcPr marL="109728" marR="109728" marT="4572" marB="457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 u="sng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54.25 ± 0.86</a:t>
                      </a:r>
                    </a:p>
                  </a:txBody>
                  <a:tcPr marL="109728" marR="109728" marT="4572" marB="457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17.40 ± 1.07</a:t>
                      </a:r>
                    </a:p>
                  </a:txBody>
                  <a:tcPr marL="109728" marR="109728" marT="4572" marB="457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58.69</a:t>
                      </a:r>
                    </a:p>
                  </a:txBody>
                  <a:tcPr marL="109728" marR="109728" marT="4572" marB="4572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09728" marR="109728" marT="4572" marB="457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pAUROC@0.05</a:t>
                      </a:r>
                    </a:p>
                  </a:txBody>
                  <a:tcPr marL="109728" marR="109728" marT="4572" marB="457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66.90 ± 0.22</a:t>
                      </a:r>
                    </a:p>
                  </a:txBody>
                  <a:tcPr marL="109728" marR="109728" marT="4572" marB="457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73.09 ± 0.91</a:t>
                      </a:r>
                    </a:p>
                  </a:txBody>
                  <a:tcPr marL="109728" marR="109728" marT="4572" marB="457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59.26 ± 0.80</a:t>
                      </a:r>
                    </a:p>
                  </a:txBody>
                  <a:tcPr marL="109728" marR="109728" marT="4572" marB="457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63.84 ± 0.41</a:t>
                      </a:r>
                    </a:p>
                  </a:txBody>
                  <a:tcPr marL="109728" marR="109728" marT="4572" marB="457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72.45 ± 0.20</a:t>
                      </a:r>
                    </a:p>
                  </a:txBody>
                  <a:tcPr marL="109728" marR="109728" marT="4572" marB="457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 u="sng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73.59 ± 0.13</a:t>
                      </a:r>
                    </a:p>
                  </a:txBody>
                  <a:tcPr marL="109728" marR="109728" marT="4572" marB="457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60.36 ± 0.48</a:t>
                      </a:r>
                    </a:p>
                  </a:txBody>
                  <a:tcPr marL="109728" marR="109728" marT="4572" marB="457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76.87</a:t>
                      </a:r>
                    </a:p>
                  </a:txBody>
                  <a:tcPr marL="109728" marR="109728" marT="4572" marB="4572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09728" marR="109728" marT="4572" marB="457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I-AUROC</a:t>
                      </a:r>
                    </a:p>
                  </a:txBody>
                  <a:tcPr marL="109728" marR="109728" marT="4572" marB="457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68.62 ± 2.28</a:t>
                      </a:r>
                    </a:p>
                  </a:txBody>
                  <a:tcPr marL="109728" marR="109728" marT="4572" marB="457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70.90 ± 0.97</a:t>
                      </a:r>
                    </a:p>
                  </a:txBody>
                  <a:tcPr marL="109728" marR="109728" marT="4572" marB="457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59.73 ± 4.40</a:t>
                      </a:r>
                    </a:p>
                  </a:txBody>
                  <a:tcPr marL="109728" marR="109728" marT="4572" marB="457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62.31 ± 4.84</a:t>
                      </a:r>
                    </a:p>
                  </a:txBody>
                  <a:tcPr marL="109728" marR="109728" marT="4572" marB="457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 u="sng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71.02 ± 0.56</a:t>
                      </a:r>
                    </a:p>
                  </a:txBody>
                  <a:tcPr marL="109728" marR="109728" marT="4572" marB="457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70.97 ± 2.08</a:t>
                      </a:r>
                    </a:p>
                  </a:txBody>
                  <a:tcPr marL="109728" marR="109728" marT="4572" marB="457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63.79 ± 2.34</a:t>
                      </a:r>
                    </a:p>
                  </a:txBody>
                  <a:tcPr marL="109728" marR="109728" marT="4572" marB="457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75.71</a:t>
                      </a:r>
                    </a:p>
                  </a:txBody>
                  <a:tcPr marL="109728" marR="109728" marT="4572" marB="4572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8</a:t>
                      </a:r>
                    </a:p>
                  </a:txBody>
                  <a:tcPr marL="109728" marR="109728" marT="4572" marB="457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AUPRO@0.05</a:t>
                      </a:r>
                    </a:p>
                  </a:txBody>
                  <a:tcPr marL="109728" marR="109728" marT="4572" marB="457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49.98 ± 1.90</a:t>
                      </a:r>
                    </a:p>
                  </a:txBody>
                  <a:tcPr marL="109728" marR="109728" marT="4572" marB="457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41.64 ± 1.01</a:t>
                      </a:r>
                    </a:p>
                  </a:txBody>
                  <a:tcPr marL="109728" marR="109728" marT="4572" marB="457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27.32 ± 0.14</a:t>
                      </a:r>
                    </a:p>
                  </a:txBody>
                  <a:tcPr marL="109728" marR="109728" marT="4572" marB="457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40.79 ± 0.79</a:t>
                      </a:r>
                    </a:p>
                  </a:txBody>
                  <a:tcPr marL="109728" marR="109728" marT="4572" marB="457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47.28 ± 0.40</a:t>
                      </a:r>
                    </a:p>
                  </a:txBody>
                  <a:tcPr marL="109728" marR="109728" marT="4572" marB="457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 u="sng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55.44 ± 1.21</a:t>
                      </a:r>
                    </a:p>
                  </a:txBody>
                  <a:tcPr marL="109728" marR="109728" marT="4572" marB="457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19.25 ± 0.64</a:t>
                      </a:r>
                    </a:p>
                  </a:txBody>
                  <a:tcPr marL="109728" marR="109728" marT="4572" marB="457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58.68</a:t>
                      </a:r>
                    </a:p>
                  </a:txBody>
                  <a:tcPr marL="109728" marR="109728" marT="4572" marB="4572"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09728" marR="109728" marT="4572" marB="457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pAUROC@0.05</a:t>
                      </a:r>
                    </a:p>
                  </a:txBody>
                  <a:tcPr marL="109728" marR="109728" marT="4572" marB="457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68.22 ± 0.53</a:t>
                      </a:r>
                    </a:p>
                  </a:txBody>
                  <a:tcPr marL="109728" marR="109728" marT="4572" marB="457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73.71 ± 0.20</a:t>
                      </a:r>
                    </a:p>
                  </a:txBody>
                  <a:tcPr marL="109728" marR="109728" marT="4572" marB="457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61.74 ± 0.50</a:t>
                      </a:r>
                    </a:p>
                  </a:txBody>
                  <a:tcPr marL="109728" marR="109728" marT="4572" marB="457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65.62 ± 0.69</a:t>
                      </a:r>
                    </a:p>
                  </a:txBody>
                  <a:tcPr marL="109728" marR="109728" marT="4572" marB="457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72.56 ± 0.21</a:t>
                      </a:r>
                    </a:p>
                  </a:txBody>
                  <a:tcPr marL="109728" marR="109728" marT="4572" marB="457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 u="sng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74.31 ± 0.38</a:t>
                      </a:r>
                    </a:p>
                  </a:txBody>
                  <a:tcPr marL="109728" marR="109728" marT="4572" marB="457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62.02 ± 0.32</a:t>
                      </a:r>
                    </a:p>
                  </a:txBody>
                  <a:tcPr marL="109728" marR="109728" marT="4572" marB="457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77.35</a:t>
                      </a:r>
                    </a:p>
                  </a:txBody>
                  <a:tcPr marL="109728" marR="109728" marT="4572" marB="4572" anchor="ctr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09728" marR="109728" marT="4572" marB="457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I-AUROC</a:t>
                      </a:r>
                    </a:p>
                  </a:txBody>
                  <a:tcPr marL="109728" marR="109728" marT="4572" marB="457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69.20 ± 0.75</a:t>
                      </a:r>
                    </a:p>
                  </a:txBody>
                  <a:tcPr marL="109728" marR="109728" marT="4572" marB="457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 u="sng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71.29 ± 1.69</a:t>
                      </a:r>
                    </a:p>
                  </a:txBody>
                  <a:tcPr marL="109728" marR="109728" marT="4572" marB="457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63.46 ± 4.29</a:t>
                      </a:r>
                    </a:p>
                  </a:txBody>
                  <a:tcPr marL="109728" marR="109728" marT="4572" marB="457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65.84 ± 0.43</a:t>
                      </a:r>
                    </a:p>
                  </a:txBody>
                  <a:tcPr marL="109728" marR="109728" marT="4572" marB="457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70.46 ± 1.18</a:t>
                      </a:r>
                    </a:p>
                  </a:txBody>
                  <a:tcPr marL="109728" marR="109728" marT="4572" marB="457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70.75 ± 0.58</a:t>
                      </a:r>
                    </a:p>
                  </a:txBody>
                  <a:tcPr marL="109728" marR="109728" marT="4572" marB="457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64.34 ± 1.05</a:t>
                      </a:r>
                    </a:p>
                  </a:txBody>
                  <a:tcPr marL="109728" marR="109728" marT="4572" marB="457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75.41</a:t>
                      </a:r>
                    </a:p>
                  </a:txBody>
                  <a:tcPr marL="109728" marR="109728" marT="4572" marB="4572" anchor="ctr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16</a:t>
                      </a:r>
                    </a:p>
                  </a:txBody>
                  <a:tcPr marL="109728" marR="109728" marT="4572" marB="457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AUPRO@0.05</a:t>
                      </a:r>
                    </a:p>
                  </a:txBody>
                  <a:tcPr marL="109728" marR="109728" marT="4572" marB="457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52.73 ± 1.36</a:t>
                      </a:r>
                    </a:p>
                  </a:txBody>
                  <a:tcPr marL="109728" marR="109728" marT="4572" marB="457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42.30 ± 1.25</a:t>
                      </a:r>
                    </a:p>
                  </a:txBody>
                  <a:tcPr marL="109728" marR="109728" marT="4572" marB="457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35.23 ± 0.57</a:t>
                      </a:r>
                    </a:p>
                  </a:txBody>
                  <a:tcPr marL="109728" marR="109728" marT="4572" marB="457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42.58 ± 1.10</a:t>
                      </a:r>
                    </a:p>
                  </a:txBody>
                  <a:tcPr marL="109728" marR="109728" marT="4572" marB="457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47.63 ± 0.14</a:t>
                      </a:r>
                    </a:p>
                  </a:txBody>
                  <a:tcPr marL="109728" marR="109728" marT="4572" marB="457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 u="sng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55.89 ± 1.07</a:t>
                      </a:r>
                    </a:p>
                  </a:txBody>
                  <a:tcPr marL="109728" marR="109728" marT="4572" marB="457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20.28 ± 0.80</a:t>
                      </a:r>
                    </a:p>
                  </a:txBody>
                  <a:tcPr marL="109728" marR="109728" marT="4572" marB="457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60.06 ± 0.88</a:t>
                      </a:r>
                    </a:p>
                  </a:txBody>
                  <a:tcPr marL="109728" marR="109728" marT="4572" marB="4572" anchor="ctr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09728" marR="109728" marT="4572" marB="457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pAUROC@0.05</a:t>
                      </a:r>
                    </a:p>
                  </a:txBody>
                  <a:tcPr marL="109728" marR="109728" marT="4572" marB="457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69.36 ± 0.51</a:t>
                      </a:r>
                    </a:p>
                  </a:txBody>
                  <a:tcPr marL="109728" marR="109728" marT="4572" marB="457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73.97 ± 0.23</a:t>
                      </a:r>
                    </a:p>
                  </a:txBody>
                  <a:tcPr marL="109728" marR="109728" marT="4572" marB="457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65.63 ± 0.43</a:t>
                      </a:r>
                    </a:p>
                  </a:txBody>
                  <a:tcPr marL="109728" marR="109728" marT="4572" marB="457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66.62 ± 0.89</a:t>
                      </a:r>
                    </a:p>
                  </a:txBody>
                  <a:tcPr marL="109728" marR="109728" marT="4572" marB="457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72.78 ± 0.07</a:t>
                      </a:r>
                    </a:p>
                  </a:txBody>
                  <a:tcPr marL="109728" marR="109728" marT="4572" marB="457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 u="sng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74.60 ± 0.52</a:t>
                      </a:r>
                    </a:p>
                  </a:txBody>
                  <a:tcPr marL="109728" marR="109728" marT="4572" marB="457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63.46 ± 0.76</a:t>
                      </a:r>
                    </a:p>
                  </a:txBody>
                  <a:tcPr marL="109728" marR="109728" marT="4572" marB="457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77.61 ± 0.37</a:t>
                      </a:r>
                    </a:p>
                  </a:txBody>
                  <a:tcPr marL="109728" marR="109728" marT="4572" marB="4572" anchor="ctr"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09728" marR="109728" marT="4572" marB="457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I-AUROC</a:t>
                      </a:r>
                    </a:p>
                  </a:txBody>
                  <a:tcPr marL="109728" marR="109728" marT="4572" marB="457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69.00 ± 0.53</a:t>
                      </a:r>
                    </a:p>
                  </a:txBody>
                  <a:tcPr marL="109728" marR="109728" marT="4572" marB="457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 u="sng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72.07 ± 1.27</a:t>
                      </a:r>
                    </a:p>
                  </a:txBody>
                  <a:tcPr marL="109728" marR="109728" marT="4572" marB="457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67.45 ± 1.16</a:t>
                      </a:r>
                    </a:p>
                  </a:txBody>
                  <a:tcPr marL="109728" marR="109728" marT="4572" marB="457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67.60 ± 1.35</a:t>
                      </a:r>
                    </a:p>
                  </a:txBody>
                  <a:tcPr marL="109728" marR="109728" marT="4572" marB="457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70.46 ± 1.07</a:t>
                      </a:r>
                    </a:p>
                  </a:txBody>
                  <a:tcPr marL="109728" marR="109728" marT="4572" marB="457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69.79 ± 0.52</a:t>
                      </a:r>
                    </a:p>
                  </a:txBody>
                  <a:tcPr marL="109728" marR="109728" marT="4572" marB="457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65.64 ± 1.34</a:t>
                      </a:r>
                    </a:p>
                  </a:txBody>
                  <a:tcPr marL="109728" marR="109728" marT="4572" marB="457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75.92 ± 0.82</a:t>
                      </a:r>
                    </a:p>
                  </a:txBody>
                  <a:tcPr marL="109728" marR="109728" marT="4572" marB="4572" anchor="ctr"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1400" b="1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03. 실험 결과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2800" b="1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MVTec AD · VisA 비교 (표 5)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lang="ko-KR" sz="1600" b="1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I-AUROC는 10개 조건 중 7개에서 1위, P-AUROC는 최고값과 0.04–1.36pp 이내다</a:t>
            </a:r>
          </a:p>
        </p:txBody>
      </p:sp>
      <p:sp>
        <p:nvSpPr>
          <p:cNvPr id="6" name="Detail"/>
          <p:cNvSpPr txBox="1"/>
          <p:nvPr/>
        </p:nvSpPr>
        <p:spPr>
          <a:xfrm>
            <a:off x="246888" y="1463040"/>
            <a:ext cx="1207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20759" lvl="2" indent="-285750">
              <a:lnSpc>
                <a:spcPct val="130000"/>
              </a:lnSpc>
              <a:buFont typeface="Arial"/>
              <a:buChar char="•"/>
            </a:pPr>
            <a:r>
              <a:rPr lang="ko-KR" sz="1600" b="1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I-AUROC 2위 조건</a:t>
            </a:r>
            <a:r>
              <a:rPr lang="ko-KR" sz="1600" b="0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MVTec AD 16-shot, VisA 1·2-shot (모두 SuperAD 다음)</a:t>
            </a:r>
          </a:p>
        </p:txBody>
      </p:sp>
      <p:sp>
        <p:nvSpPr>
          <p:cNvPr id="7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900" b="0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seed 0 단일, support hash 일치 클래스 macro (MVTec AD 15, VisA 12). 각 셀 I-AUROC / P-AUROC(전체 FPR). FastRecon = E9 DINOv2 기반 변형. linear0125 hash 재감사는 수집 단계 과제. 출처: PaperWorks/outlines/Outline_v18.md §4.2 표 5</a:t>
            </a:r>
          </a:p>
        </p:txBody>
      </p:sp>
      <p:sp>
        <p:nvSpPr>
          <p:cNvPr id="8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sz="1000" b="0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28</a:t>
            </a:r>
          </a:p>
        </p:txBody>
      </p:sp>
      <p:graphicFrame>
        <p:nvGraphicFramePr>
          <p:cNvPr id="9" name="SummaryTable"/>
          <p:cNvGraphicFramePr>
            <a:graphicFrameLocks noGrp="1"/>
          </p:cNvGraphicFramePr>
          <p:nvPr/>
        </p:nvGraphicFramePr>
        <p:xfrm>
          <a:off x="640080" y="2026920"/>
          <a:ext cx="10917936" cy="36758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69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795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7957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7957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7957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7957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7957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179576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179576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Dataset</a:t>
                      </a:r>
                    </a:p>
                  </a:txBody>
                  <a:tcPr marL="109728" marR="109728" marT="27432" marB="27432" anchor="ctr">
                    <a:solidFill>
                      <a:srgbClr val="1638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Shot</a:t>
                      </a:r>
                    </a:p>
                  </a:txBody>
                  <a:tcPr marL="109728" marR="109728" marT="27432" marB="27432" anchor="ctr">
                    <a:solidFill>
                      <a:srgbClr val="1638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PatchCore</a:t>
                      </a:r>
                    </a:p>
                  </a:txBody>
                  <a:tcPr marL="109728" marR="109728" marT="27432" marB="27432" anchor="ctr">
                    <a:solidFill>
                      <a:srgbClr val="1638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AnomalyDINO</a:t>
                      </a:r>
                    </a:p>
                  </a:txBody>
                  <a:tcPr marL="109728" marR="109728" marT="27432" marB="27432" anchor="ctr">
                    <a:solidFill>
                      <a:srgbClr val="1638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FastRecon</a:t>
                      </a:r>
                    </a:p>
                  </a:txBody>
                  <a:tcPr marL="109728" marR="109728" marT="27432" marB="27432" anchor="ctr">
                    <a:solidFill>
                      <a:srgbClr val="1638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RAD</a:t>
                      </a:r>
                    </a:p>
                  </a:txBody>
                  <a:tcPr marL="109728" marR="109728" marT="27432" marB="27432" anchor="ctr">
                    <a:solidFill>
                      <a:srgbClr val="1638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SubspaceAD</a:t>
                      </a:r>
                    </a:p>
                  </a:txBody>
                  <a:tcPr marL="109728" marR="109728" marT="27432" marB="27432" anchor="ctr">
                    <a:solidFill>
                      <a:srgbClr val="1638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SuperAD</a:t>
                      </a:r>
                    </a:p>
                  </a:txBody>
                  <a:tcPr marL="109728" marR="109728" marT="27432" marB="27432" anchor="ctr">
                    <a:solidFill>
                      <a:srgbClr val="1638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RegAD</a:t>
                      </a:r>
                    </a:p>
                  </a:txBody>
                  <a:tcPr marL="109728" marR="109728" marT="27432" marB="27432" anchor="ctr">
                    <a:solidFill>
                      <a:srgbClr val="1638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ScopeAD</a:t>
                      </a:r>
                    </a:p>
                  </a:txBody>
                  <a:tcPr marL="109728" marR="109728" marT="27432" marB="27432" anchor="ctr">
                    <a:solidFill>
                      <a:srgbClr val="1638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MVTec AD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88.12 / 96.22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92.52 / 94.49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88.84 / 96.60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80.83 / 93.25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 u="sng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89.25 /96.92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1" u="sng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92.54 / 96.93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 / —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92.76 / 96.77</a:t>
                      </a:r>
                    </a:p>
                  </a:txBody>
                  <a:tcPr marL="109728" marR="109728" marT="27432" marB="27432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MVTec AD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2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92.67 / 96.97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95.17 / 95.56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93.51 / 97.29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84.15 / 94.27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90.95 / 97.24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 u="sng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95.43 / 97.36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 / —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96.13 / 97.39</a:t>
                      </a:r>
                    </a:p>
                  </a:txBody>
                  <a:tcPr marL="109728" marR="109728" marT="27432" marB="27432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MVTec AD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4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95.06 / 97.37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95.92 / 96.07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95.61 /97.87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85.38 / 94.67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91.35 / 97.16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 u="sng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96.65 / 97.70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 / —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96.99 / 97.68</a:t>
                      </a:r>
                    </a:p>
                  </a:txBody>
                  <a:tcPr marL="109728" marR="109728" marT="27432" marB="27432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MVTec AD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96.13 / 97.80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96.67 / 96.45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96.76 /98.16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87.85 / 95.29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92.94 / 97.17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 u="sng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97.39 / 97.95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 / —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97.60 / 97.93</a:t>
                      </a:r>
                    </a:p>
                  </a:txBody>
                  <a:tcPr marL="109728" marR="109728" marT="27432" marB="27432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MVTec AD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16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98.15 / 97.99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97.48 / 96.80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98.52 /98.38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90.29 / 95.61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92.51 / 97.19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1" u="sng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98.94 / 98.09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 / —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 u="sng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98.74 / 98.05</a:t>
                      </a:r>
                    </a:p>
                  </a:txBody>
                  <a:tcPr marL="109728" marR="109728" marT="27432" marB="27432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VisA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86.09 / 95.56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87.06 / 95.62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84.65 / 96.75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72.67 / 95.37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85.44 /98.09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1" u="sng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90.29 / 97.06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71.12 / 93.41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 u="sng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89.88 / 96.73</a:t>
                      </a:r>
                    </a:p>
                  </a:txBody>
                  <a:tcPr marL="109728" marR="109728" marT="27432" marB="27432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VisA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2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87.87 / 96.29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90.64 / 96.63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 u="sng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87.67 /97.43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77.24 / 96.37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 / —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92.20 / 97.68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71.59 / 94.59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 u="sng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92.15 / 97.32</a:t>
                      </a:r>
                    </a:p>
                  </a:txBody>
                  <a:tcPr marL="109728" marR="109728" marT="27432" marB="27432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VisA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4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89.52 / 96.92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91.37 / 97.57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 u="sng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89.21 /97.91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 / —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 / —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1" u="sng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92.94 / 98.02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76.42 / 96.14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94.19 / 97.82</a:t>
                      </a:r>
                    </a:p>
                  </a:txBody>
                  <a:tcPr marL="109728" marR="109728" marT="27432" marB="27432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VisA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92.36 / 97.18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93.11 / 97.99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91.53 / 98.11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 / —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 / —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1" u="sng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94.50 / 98.29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80.19 / 96.64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1" u="sng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95.01 / 98.25</a:t>
                      </a:r>
                    </a:p>
                  </a:txBody>
                  <a:tcPr marL="109728" marR="109728" marT="27432" marB="27432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VisA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16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93.64 / 97.30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93.53 / 98.30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93.38 / 98.32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 / —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 / —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 u="sng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95.19 / 98.43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81.22 / 96.98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95.99 / 98.49</a:t>
                      </a:r>
                    </a:p>
                  </a:txBody>
                  <a:tcPr marL="109728" marR="109728" marT="27432" marB="27432"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1400" b="1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03. 실험 결과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2800" b="1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공식 private 평가 (표 6)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lang="ko-KR" sz="1600" b="1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Ours 행은 이전 게이트 설정의 제출 결과이며, linear0125로 같은 절차로 재제출해 교체해야 한다</a:t>
            </a:r>
          </a:p>
        </p:txBody>
      </p:sp>
      <p:sp>
        <p:nvSpPr>
          <p:cNvPr id="6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900" b="0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각 셀 TESTpriv / TESTpriv,mix. † Layer 5 β = 0.99 초과 잔차를 더한 이전 설정. ClassF1·SegF1 임계값: support 제외 train/good 8번째 간격 샘플 pixel p95 × 1.421 (private label 미사용). Full-data 행은 원 논문·리더보드 수치로 데이터 예산·백본·입력·후처리가 달라 순위화하지 않음. 출처: PaperWorks/outlines/Outline_v18.md §4.3.1 표 6</a:t>
            </a:r>
          </a:p>
        </p:txBody>
      </p:sp>
      <p:sp>
        <p:nvSpPr>
          <p:cNvPr id="7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sz="1000" b="0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30</a:t>
            </a:r>
          </a:p>
        </p:txBody>
      </p:sp>
      <p:graphicFrame>
        <p:nvGraphicFramePr>
          <p:cNvPr id="8" name="SummaryTable"/>
          <p:cNvGraphicFramePr>
            <a:graphicFrameLocks noGrp="1"/>
          </p:cNvGraphicFramePr>
          <p:nvPr/>
        </p:nvGraphicFramePr>
        <p:xfrm>
          <a:off x="640080" y="1572768"/>
          <a:ext cx="10917936" cy="44622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599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방법</a:t>
                      </a:r>
                    </a:p>
                  </a:txBody>
                  <a:tcPr marL="109728" marR="109728" marT="4572" marB="4572" anchor="ctr">
                    <a:solidFill>
                      <a:srgbClr val="1638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AU-PRO@0.05</a:t>
                      </a:r>
                    </a:p>
                  </a:txBody>
                  <a:tcPr marL="109728" marR="109728" marT="4572" marB="4572" anchor="ctr">
                    <a:solidFill>
                      <a:srgbClr val="1638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ClassF1</a:t>
                      </a:r>
                    </a:p>
                  </a:txBody>
                  <a:tcPr marL="109728" marR="109728" marT="4572" marB="4572" anchor="ctr">
                    <a:solidFill>
                      <a:srgbClr val="1638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SegF1</a:t>
                      </a:r>
                    </a:p>
                  </a:txBody>
                  <a:tcPr marL="109728" marR="109728" marT="4572" marB="4572" anchor="ctr">
                    <a:solidFill>
                      <a:srgbClr val="1638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(a) Few-shot (16-shot)</a:t>
                      </a:r>
                    </a:p>
                  </a:txBody>
                  <a:tcPr marL="109728" marR="109728" marT="4572" marB="4572" anchor="ctr"/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09728" marR="109728" marT="4572" marB="4572" anchor="ctr"/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09728" marR="109728" marT="4572" marB="4572" anchor="ctr"/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09728" marR="109728" marT="4572" marB="4572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PatchCore</a:t>
                      </a:r>
                    </a:p>
                  </a:txBody>
                  <a:tcPr marL="109728" marR="109728" marT="4572" marB="457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</a:t>
                      </a:r>
                    </a:p>
                  </a:txBody>
                  <a:tcPr marL="109728" marR="109728" marT="4572" marB="457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</a:t>
                      </a:r>
                    </a:p>
                  </a:txBody>
                  <a:tcPr marL="109728" marR="109728" marT="4572" marB="457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</a:t>
                      </a:r>
                    </a:p>
                  </a:txBody>
                  <a:tcPr marL="109728" marR="109728" marT="4572" marB="4572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AnomalyDINO</a:t>
                      </a:r>
                    </a:p>
                  </a:txBody>
                  <a:tcPr marL="109728" marR="109728" marT="4572" marB="457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</a:t>
                      </a:r>
                    </a:p>
                  </a:txBody>
                  <a:tcPr marL="109728" marR="109728" marT="4572" marB="457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</a:t>
                      </a:r>
                    </a:p>
                  </a:txBody>
                  <a:tcPr marL="109728" marR="109728" marT="4572" marB="457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</a:t>
                      </a:r>
                    </a:p>
                  </a:txBody>
                  <a:tcPr marL="109728" marR="109728" marT="4572" marB="4572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SuperAD</a:t>
                      </a:r>
                    </a:p>
                  </a:txBody>
                  <a:tcPr marL="109728" marR="109728" marT="4572" marB="457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</a:t>
                      </a:r>
                    </a:p>
                  </a:txBody>
                  <a:tcPr marL="109728" marR="109728" marT="4572" marB="457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</a:t>
                      </a:r>
                    </a:p>
                  </a:txBody>
                  <a:tcPr marL="109728" marR="109728" marT="4572" marB="457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</a:t>
                      </a:r>
                    </a:p>
                  </a:txBody>
                  <a:tcPr marL="109728" marR="109728" marT="4572" marB="4572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RAD</a:t>
                      </a:r>
                    </a:p>
                  </a:txBody>
                  <a:tcPr marL="109728" marR="109728" marT="4572" marB="457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</a:t>
                      </a:r>
                    </a:p>
                  </a:txBody>
                  <a:tcPr marL="109728" marR="109728" marT="4572" marB="457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</a:t>
                      </a:r>
                    </a:p>
                  </a:txBody>
                  <a:tcPr marL="109728" marR="109728" marT="4572" marB="457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</a:t>
                      </a:r>
                    </a:p>
                  </a:txBody>
                  <a:tcPr marL="109728" marR="109728" marT="4572" marB="4572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SubspaceAD</a:t>
                      </a:r>
                    </a:p>
                  </a:txBody>
                  <a:tcPr marL="109728" marR="109728" marT="4572" marB="457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</a:t>
                      </a:r>
                    </a:p>
                  </a:txBody>
                  <a:tcPr marL="109728" marR="109728" marT="4572" marB="457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</a:t>
                      </a:r>
                    </a:p>
                  </a:txBody>
                  <a:tcPr marL="109728" marR="109728" marT="4572" marB="457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</a:t>
                      </a:r>
                    </a:p>
                  </a:txBody>
                  <a:tcPr marL="109728" marR="109728" marT="4572" marB="4572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Ours (ScopeAD, 게이트 설정)†</a:t>
                      </a:r>
                    </a:p>
                  </a:txBody>
                  <a:tcPr marL="109728" marR="109728" marT="4572" marB="457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64.80 / 62.49</a:t>
                      </a:r>
                    </a:p>
                  </a:txBody>
                  <a:tcPr marL="109728" marR="109728" marT="4572" marB="457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76.38 / 77.52</a:t>
                      </a:r>
                    </a:p>
                  </a:txBody>
                  <a:tcPr marL="109728" marR="109728" marT="4572" marB="457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34.84 / 30.68</a:t>
                      </a:r>
                    </a:p>
                  </a:txBody>
                  <a:tcPr marL="109728" marR="109728" marT="4572" marB="4572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(b) Full-data Reference (출판/리더보드)</a:t>
                      </a:r>
                    </a:p>
                  </a:txBody>
                  <a:tcPr marL="109728" marR="109728" marT="4572" marB="4572" anchor="ctr"/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09728" marR="109728" marT="4572" marB="4572" anchor="ctr"/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09728" marR="109728" marT="4572" marB="4572" anchor="ctr"/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109728" marR="109728" marT="4572" marB="4572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PatchCore</a:t>
                      </a:r>
                    </a:p>
                  </a:txBody>
                  <a:tcPr marL="109728" marR="109728" marT="4572" marB="457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28.8 / 26.0</a:t>
                      </a:r>
                    </a:p>
                  </a:txBody>
                  <a:tcPr marL="109728" marR="109728" marT="4572" marB="457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8.0 / 9.9</a:t>
                      </a:r>
                    </a:p>
                  </a:txBody>
                  <a:tcPr marL="109728" marR="109728" marT="4572" marB="457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3.7 / 3.4</a:t>
                      </a:r>
                    </a:p>
                  </a:txBody>
                  <a:tcPr marL="109728" marR="109728" marT="4572" marB="4572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RD</a:t>
                      </a:r>
                    </a:p>
                  </a:txBody>
                  <a:tcPr marL="109728" marR="109728" marT="4572" marB="457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26.4 / 25.0</a:t>
                      </a:r>
                    </a:p>
                  </a:txBody>
                  <a:tcPr marL="109728" marR="109728" marT="4572" marB="457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70.8 / 72.9</a:t>
                      </a:r>
                    </a:p>
                  </a:txBody>
                  <a:tcPr marL="109728" marR="109728" marT="4572" marB="457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18.1 / 16.7</a:t>
                      </a:r>
                    </a:p>
                  </a:txBody>
                  <a:tcPr marL="109728" marR="109728" marT="4572" marB="4572"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RD++</a:t>
                      </a:r>
                    </a:p>
                  </a:txBody>
                  <a:tcPr marL="109728" marR="109728" marT="4572" marB="457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27.1 / 25.2</a:t>
                      </a:r>
                    </a:p>
                  </a:txBody>
                  <a:tcPr marL="109728" marR="109728" marT="4572" marB="457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70.5 / 73.0</a:t>
                      </a:r>
                    </a:p>
                  </a:txBody>
                  <a:tcPr marL="109728" marR="109728" marT="4572" marB="457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19.2 / 16.7</a:t>
                      </a:r>
                    </a:p>
                  </a:txBody>
                  <a:tcPr marL="109728" marR="109728" marT="4572" marB="4572" anchor="ctr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EfficientAD-S</a:t>
                      </a:r>
                    </a:p>
                  </a:txBody>
                  <a:tcPr marL="109728" marR="109728" marT="4572" marB="457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30.8 / 19.2</a:t>
                      </a:r>
                    </a:p>
                  </a:txBody>
                  <a:tcPr marL="109728" marR="109728" marT="4572" marB="457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76.8 / 77.8</a:t>
                      </a:r>
                    </a:p>
                  </a:txBody>
                  <a:tcPr marL="109728" marR="109728" marT="4572" marB="457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15.4 / 8.0</a:t>
                      </a:r>
                    </a:p>
                  </a:txBody>
                  <a:tcPr marL="109728" marR="109728" marT="4572" marB="4572" anchor="ctr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MSFlow</a:t>
                      </a:r>
                    </a:p>
                  </a:txBody>
                  <a:tcPr marL="109728" marR="109728" marT="4572" marB="457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24.3 / 11.9</a:t>
                      </a:r>
                    </a:p>
                  </a:txBody>
                  <a:tcPr marL="109728" marR="109728" marT="4572" marB="457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51.1 / 72.0</a:t>
                      </a:r>
                    </a:p>
                  </a:txBody>
                  <a:tcPr marL="109728" marR="109728" marT="4572" marB="457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21.8 / 9.0</a:t>
                      </a:r>
                    </a:p>
                  </a:txBody>
                  <a:tcPr marL="109728" marR="109728" marT="4572" marB="4572" anchor="ctr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SimpleNet</a:t>
                      </a:r>
                    </a:p>
                  </a:txBody>
                  <a:tcPr marL="109728" marR="109728" marT="4572" marB="457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21.1 / 13.7</a:t>
                      </a:r>
                    </a:p>
                  </a:txBody>
                  <a:tcPr marL="109728" marR="109728" marT="4572" marB="457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73.3 / 77.1</a:t>
                      </a:r>
                    </a:p>
                  </a:txBody>
                  <a:tcPr marL="109728" marR="109728" marT="4572" marB="457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17.7 / 8.7</a:t>
                      </a:r>
                    </a:p>
                  </a:txBody>
                  <a:tcPr marL="109728" marR="109728" marT="4572" marB="4572" anchor="ctr"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DSR</a:t>
                      </a:r>
                    </a:p>
                  </a:txBody>
                  <a:tcPr marL="109728" marR="109728" marT="4572" marB="457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20.3 / 17.4</a:t>
                      </a:r>
                    </a:p>
                  </a:txBody>
                  <a:tcPr marL="109728" marR="109728" marT="4572" marB="457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78.0 / 78.0</a:t>
                      </a:r>
                    </a:p>
                  </a:txBody>
                  <a:tcPr marL="109728" marR="109728" marT="4572" marB="457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10.9 / 9.5</a:t>
                      </a:r>
                    </a:p>
                  </a:txBody>
                  <a:tcPr marL="109728" marR="109728" marT="4572" marB="4572" anchor="ctr"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SuperAD</a:t>
                      </a:r>
                    </a:p>
                  </a:txBody>
                  <a:tcPr marL="109728" marR="109728" marT="4572" marB="457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60.51 / 58.37</a:t>
                      </a:r>
                    </a:p>
                  </a:txBody>
                  <a:tcPr marL="109728" marR="109728" marT="4572" marB="457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70.20 / 74.40</a:t>
                      </a:r>
                    </a:p>
                  </a:txBody>
                  <a:tcPr marL="109728" marR="109728" marT="4572" marB="457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47.18 / 42.51</a:t>
                      </a:r>
                    </a:p>
                  </a:txBody>
                  <a:tcPr marL="109728" marR="109728" marT="4572" marB="4572" anchor="ctr"/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RoBiS</a:t>
                      </a:r>
                    </a:p>
                  </a:txBody>
                  <a:tcPr marL="109728" marR="109728" marT="4572" marB="457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67.25 / 59.65</a:t>
                      </a:r>
                    </a:p>
                  </a:txBody>
                  <a:tcPr marL="109728" marR="109728" marT="4572" marB="457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79.62 / 79.86</a:t>
                      </a:r>
                    </a:p>
                  </a:txBody>
                  <a:tcPr marL="109728" marR="109728" marT="4572" marB="457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51.00 / 46.52</a:t>
                      </a:r>
                    </a:p>
                  </a:txBody>
                  <a:tcPr marL="109728" marR="109728" marT="4572" marB="4572" anchor="ctr"/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SuperADD</a:t>
                      </a:r>
                    </a:p>
                  </a:txBody>
                  <a:tcPr marL="109728" marR="109728" marT="4572" marB="457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61.36 / 59.07</a:t>
                      </a:r>
                    </a:p>
                  </a:txBody>
                  <a:tcPr marL="109728" marR="109728" marT="4572" marB="457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68.03 / 73.25</a:t>
                      </a:r>
                    </a:p>
                  </a:txBody>
                  <a:tcPr marL="109728" marR="109728" marT="4572" marB="457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57.42 / 54.35</a:t>
                      </a:r>
                    </a:p>
                  </a:txBody>
                  <a:tcPr marL="109728" marR="109728" marT="4572" marB="4572" anchor="ctr"/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1400" b="1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03. 실험 결과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2800" b="1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분포 변화 평가 (그림 2 · 표 7)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lang="ko-KR" sz="1600" b="1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조명 strata(그림 2)와 합성 손상(표 7)은 linear0125로 아직 평가하지 않았다</a:t>
            </a:r>
          </a:p>
        </p:txBody>
      </p:sp>
      <p:sp>
        <p:nvSpPr>
          <p:cNvPr id="6" name="Detail"/>
          <p:cNvSpPr txBox="1"/>
          <p:nvPr/>
        </p:nvSpPr>
        <p:spPr>
          <a:xfrm>
            <a:off x="246888" y="1463040"/>
            <a:ext cx="1207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20759" lvl="2" indent="-285750">
              <a:lnSpc>
                <a:spcPct val="130000"/>
              </a:lnSpc>
              <a:buFont typeface="Arial"/>
              <a:buChar char="•"/>
            </a:pPr>
            <a:r>
              <a:rPr lang="ko-KR" sz="1600" b="1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그림 2</a:t>
            </a:r>
            <a:r>
              <a:rPr lang="ko-KR" sz="1600" b="0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기존 그림의 ScopeAD 선은 게이트 결과라 사용하지 않음 → condition strata 집계를 켜고 재평가</a:t>
            </a:r>
          </a:p>
          <a:p>
            <a:pPr marL="920759" lvl="2" indent="-285750">
              <a:lnSpc>
                <a:spcPct val="130000"/>
              </a:lnSpc>
              <a:buFont typeface="Arial"/>
              <a:buChar char="•"/>
            </a:pPr>
            <a:r>
              <a:rPr lang="ko-KR" sz="1600" b="1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표 7</a:t>
            </a:r>
            <a:r>
              <a:rPr lang="ko-KR" sz="1600" b="0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비교군만 확보, Gaussian noise에서 PatchCore 74.03 / 83.66이 가장 높음</a:t>
            </a:r>
          </a:p>
        </p:txBody>
      </p:sp>
      <p:sp>
        <p:nvSpPr>
          <p:cNvPr id="7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900" b="0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각 셀 AUPRO@0.05 / pAUROC@0.05. MVTec AD 15클래스, 16-shot, seed 0, severity 3, support는 깨끗한 이미지. † DINOv2 기반 프로젝트 변형(표 4의 fastrecon_paper와 다른 구성). 출처: PaperWorks/outlines/Outline_v18.md §4.3.2–4.3.3 표 7</a:t>
            </a:r>
          </a:p>
        </p:txBody>
      </p:sp>
      <p:sp>
        <p:nvSpPr>
          <p:cNvPr id="8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sz="1000" b="0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31</a:t>
            </a:r>
          </a:p>
        </p:txBody>
      </p:sp>
      <p:graphicFrame>
        <p:nvGraphicFramePr>
          <p:cNvPr id="9" name="SummaryTable"/>
          <p:cNvGraphicFramePr>
            <a:graphicFrameLocks noGrp="1"/>
          </p:cNvGraphicFramePr>
          <p:nvPr/>
        </p:nvGraphicFramePr>
        <p:xfrm>
          <a:off x="640080" y="2343912"/>
          <a:ext cx="10917936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83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방법</a:t>
                      </a:r>
                    </a:p>
                  </a:txBody>
                  <a:tcPr marL="109728" marR="109728" marT="27432" marB="27432" anchor="ctr">
                    <a:solidFill>
                      <a:srgbClr val="1638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Clean</a:t>
                      </a:r>
                    </a:p>
                  </a:txBody>
                  <a:tcPr marL="109728" marR="109728" marT="27432" marB="27432" anchor="ctr">
                    <a:solidFill>
                      <a:srgbClr val="1638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Brightness s3</a:t>
                      </a:r>
                    </a:p>
                  </a:txBody>
                  <a:tcPr marL="109728" marR="109728" marT="27432" marB="27432" anchor="ctr">
                    <a:solidFill>
                      <a:srgbClr val="1638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Contrast s3</a:t>
                      </a:r>
                    </a:p>
                  </a:txBody>
                  <a:tcPr marL="109728" marR="109728" marT="27432" marB="27432" anchor="ctr">
                    <a:solidFill>
                      <a:srgbClr val="1638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Defocus blur s3</a:t>
                      </a:r>
                    </a:p>
                  </a:txBody>
                  <a:tcPr marL="109728" marR="109728" marT="27432" marB="27432" anchor="ctr">
                    <a:solidFill>
                      <a:srgbClr val="1638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Gaussian noise s3</a:t>
                      </a:r>
                    </a:p>
                  </a:txBody>
                  <a:tcPr marL="109728" marR="109728" marT="27432" marB="27432" anchor="ctr">
                    <a:solidFill>
                      <a:srgbClr val="1638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PatchCore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83.97 / 88.80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83.43 / 88.38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77.15 / 85.27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81.58 / 87.41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74.03 / 83.66</a:t>
                      </a:r>
                    </a:p>
                  </a:txBody>
                  <a:tcPr marL="109728" marR="109728" marT="27432" marB="27432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AnomalyDINO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 / —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 / —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 / —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 / —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 / —</a:t>
                      </a:r>
                    </a:p>
                  </a:txBody>
                  <a:tcPr marL="109728" marR="109728" marT="27432" marB="27432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FastRecon†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85.74 / 90.82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77.53 / 86.35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69.72 / 84.47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82.35 / 88.90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57.70 / 77.37</a:t>
                      </a:r>
                    </a:p>
                  </a:txBody>
                  <a:tcPr marL="109728" marR="109728" marT="27432" marB="27432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RAD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 / —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 / —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 / —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 / —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 / —</a:t>
                      </a:r>
                    </a:p>
                  </a:txBody>
                  <a:tcPr marL="109728" marR="109728" marT="27432" marB="27432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SubspaceAD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 / —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 / —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 / —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 / —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 / —</a:t>
                      </a:r>
                    </a:p>
                  </a:txBody>
                  <a:tcPr marL="109728" marR="109728" marT="27432" marB="27432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SuperAD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84.49 / 89.15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83.68 /88.47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82.27 /87.86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82.17 / 87.74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71.10 / 82.45</a:t>
                      </a:r>
                    </a:p>
                  </a:txBody>
                  <a:tcPr marL="109728" marR="109728" marT="27432" marB="27432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RegAD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 / —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 / —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 / —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 / —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 / —</a:t>
                      </a:r>
                    </a:p>
                  </a:txBody>
                  <a:tcPr marL="109728" marR="109728" marT="27432" marB="27432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Ours (ScopeAD, linear0125)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 / —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 / —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 / —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 / —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 / —</a:t>
                      </a:r>
                    </a:p>
                  </a:txBody>
                  <a:tcPr marL="109728" marR="109728" marT="27432" marB="27432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1400" b="1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04. Ablation · 분석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2800" b="1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구성 요소 소거 (표 8)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lang="ko-KR" sz="1600" b="1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어느 구성을 하나만 바꿔도 Full(59.57)보다 낮고, 해상도와 bank 구조의 영향이 가장 크다</a:t>
            </a:r>
          </a:p>
        </p:txBody>
      </p:sp>
      <p:sp>
        <p:nvSpPr>
          <p:cNvPr id="6" name="Detail"/>
          <p:cNvSpPr txBox="1"/>
          <p:nvPr/>
        </p:nvSpPr>
        <p:spPr>
          <a:xfrm>
            <a:off x="246888" y="1463040"/>
            <a:ext cx="1207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20759" lvl="2" indent="-285750">
              <a:lnSpc>
                <a:spcPct val="130000"/>
              </a:lnSpc>
              <a:buFont typeface="Arial"/>
              <a:buChar char="•"/>
            </a:pPr>
            <a:r>
              <a:rPr lang="ko-KR" sz="1600" b="1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관측</a:t>
            </a:r>
            <a:r>
              <a:rPr lang="ko-KR" sz="1600" b="0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448 단일 해상도 −7.56pp / 결합: 단일 bank −2.09, 3계층 동일 가중 −1.36, MAD −1.05pp</a:t>
            </a:r>
          </a:p>
          <a:p>
            <a:pPr marL="920759" lvl="2" indent="-285750">
              <a:lnSpc>
                <a:spcPct val="130000"/>
              </a:lnSpc>
              <a:buFont typeface="Arial"/>
              <a:buChar char="•"/>
            </a:pPr>
            <a:r>
              <a:rPr lang="ko-KR" sz="1600" b="0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단일 bank는 같은 저장 float 수·코사인 거리 정의를 유지 → bank 구조 차이만 분리 (pAUROC −2.66pp)</a:t>
            </a:r>
          </a:p>
          <a:p>
            <a:pPr marL="920759" lvl="2" indent="-285750">
              <a:lnSpc>
                <a:spcPct val="130000"/>
              </a:lnSpc>
              <a:buFont typeface="Arial"/>
              <a:buChar char="•"/>
            </a:pPr>
            <a:r>
              <a:rPr lang="ko-KR" sz="1600" b="0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정규화 생략은 AUPRO −0.40pp, pAUROC +0.19pp → q95의 정규화 생략 대비 이득은 주장하지 않음</a:t>
            </a:r>
          </a:p>
        </p:txBody>
      </p:sp>
      <p:sp>
        <p:nvSpPr>
          <p:cNvPr id="7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900" b="0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동결 DINOv2 ViT-L/14, FP16, 4 해상도, cap256, 4 bags, CQ99, top-1% mean 이미지 점수, 동일 support. 각 행은 Full에서 한 구성만 바꿈. 단일 seed 개발 비교. 출처: PaperWorks/outlines/Outline_v18.md §4.4.1 표 8</a:t>
            </a:r>
          </a:p>
        </p:txBody>
      </p:sp>
      <p:sp>
        <p:nvSpPr>
          <p:cNvPr id="8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sz="1000" b="0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32</a:t>
            </a:r>
          </a:p>
        </p:txBody>
      </p:sp>
      <p:graphicFrame>
        <p:nvGraphicFramePr>
          <p:cNvPr id="9" name="SummaryTable"/>
          <p:cNvGraphicFramePr>
            <a:graphicFrameLocks noGrp="1"/>
          </p:cNvGraphicFramePr>
          <p:nvPr/>
        </p:nvGraphicFramePr>
        <p:xfrm>
          <a:off x="640080" y="2660904"/>
          <a:ext cx="10917936" cy="33802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0817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구성</a:t>
                      </a:r>
                    </a:p>
                  </a:txBody>
                  <a:tcPr marL="109728" marR="109728" marT="27432" marB="27432" anchor="ctr">
                    <a:solidFill>
                      <a:srgbClr val="1638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Bank 구조</a:t>
                      </a:r>
                    </a:p>
                  </a:txBody>
                  <a:tcPr marL="109728" marR="109728" marT="27432" marB="27432" anchor="ctr">
                    <a:solidFill>
                      <a:srgbClr val="1638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Score normalization</a:t>
                      </a:r>
                    </a:p>
                  </a:txBody>
                  <a:tcPr marL="109728" marR="109728" marT="27432" marB="27432" anchor="ctr">
                    <a:solidFill>
                      <a:srgbClr val="1638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Shallow 항</a:t>
                      </a:r>
                    </a:p>
                  </a:txBody>
                  <a:tcPr marL="109728" marR="109728" marT="27432" marB="27432" anchor="ctr">
                    <a:solidFill>
                      <a:srgbClr val="1638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AUPRO@0.05</a:t>
                      </a:r>
                    </a:p>
                  </a:txBody>
                  <a:tcPr marL="109728" marR="109728" marT="27432" marB="27432" anchor="ctr">
                    <a:solidFill>
                      <a:srgbClr val="1638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pAUROC@0.05</a:t>
                      </a:r>
                    </a:p>
                  </a:txBody>
                  <a:tcPr marL="109728" marR="109728" marT="27432" marB="27432" anchor="ctr">
                    <a:solidFill>
                      <a:srgbClr val="1638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Δ AUPRO vs Full</a:t>
                      </a:r>
                    </a:p>
                  </a:txBody>
                  <a:tcPr marL="109728" marR="109728" marT="27432" marB="27432" anchor="ctr">
                    <a:solidFill>
                      <a:srgbClr val="1638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8347"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Full (linear0125)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계층별 bank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q95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+0.125·z5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59.57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77.46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0.00</a:t>
                      </a:r>
                    </a:p>
                  </a:txBody>
                  <a:tcPr marL="109728" marR="109728" marT="27432" marB="27432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8347"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(b) w/o Score normalization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계층별 bank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없음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+0.125·z5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59.17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77.65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−0.40</a:t>
                      </a:r>
                    </a:p>
                  </a:txBody>
                  <a:tcPr marL="109728" marR="109728" marT="27432" marB="27432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8347"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(c) Equal-weight 3-layer mean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계층별 bank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q95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z5를 동일 가중 평균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58.21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76.31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−1.36</a:t>
                      </a:r>
                    </a:p>
                  </a:txBody>
                  <a:tcPr marL="109728" marR="109728" marT="27432" marB="27432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8347"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(d) Layer concat (단일 bank)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합친 단일 bank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q95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57.48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74.80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−2.09</a:t>
                      </a:r>
                    </a:p>
                  </a:txBody>
                  <a:tcPr marL="109728" marR="109728" marT="27432" marB="27432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8347"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(e) MAD 보정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계층별 bank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MAD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+0.125·z5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58.52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77.17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−1.05</a:t>
                      </a:r>
                    </a:p>
                  </a:txBody>
                  <a:tcPr marL="109728" marR="109728" marT="27432" marB="27432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8347"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(f) 448 단일 해상도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계층별 bank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q95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+0.125·z5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52.01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76.52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−7.56</a:t>
                      </a:r>
                    </a:p>
                  </a:txBody>
                  <a:tcPr marL="109728" marR="109728" marT="27432" marB="27432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1400" b="1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04. Ablation · 분석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2800" b="1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데이터셋 · shot별 구성 소거 (표 8a)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lang="ko-KR" sz="1600" b="1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세 데이터셋 모든 shot에서 Full이 3계층 동일 가중 평균과 계층 concat보다 높다</a:t>
            </a:r>
          </a:p>
        </p:txBody>
      </p:sp>
      <p:sp>
        <p:nvSpPr>
          <p:cNvPr id="6" name="Detail"/>
          <p:cNvSpPr txBox="1"/>
          <p:nvPr/>
        </p:nvSpPr>
        <p:spPr>
          <a:xfrm>
            <a:off x="246888" y="1463040"/>
            <a:ext cx="1207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20759" lvl="2" indent="-285750">
              <a:lnSpc>
                <a:spcPct val="130000"/>
              </a:lnSpc>
              <a:buFont typeface="Arial"/>
              <a:buChar char="•"/>
            </a:pPr>
            <a:r>
              <a:rPr lang="ko-KR" sz="1600" b="1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정규화 생략</a:t>
            </a:r>
            <a:r>
              <a:rPr lang="ko-KR" sz="1600" b="0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MVTec AD·VisA I-AUROC는 0.07–1.06pp 높고 AD2 AUPRO는 −0.40 ~ +0.33pp로 엇갈림</a:t>
            </a:r>
          </a:p>
        </p:txBody>
      </p:sp>
      <p:sp>
        <p:nvSpPr>
          <p:cNvPr id="7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900" b="0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AD2 = AUPRO@0.05 / pAUROC@0.05, MVTec AD·VisA = I-AUROC / P-AUROC(전체 FPR). seed 0 단일값. AD2 1/4/8-shot은 로컬 4090, 2/16-shot Full은 fusion sensitivity 실행의 동일 설정. 출처: PaperWorks/outlines/Outline_v18.md §4.4.1 표 8a</a:t>
            </a:r>
          </a:p>
        </p:txBody>
      </p:sp>
      <p:sp>
        <p:nvSpPr>
          <p:cNvPr id="8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sz="1000" b="0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33</a:t>
            </a:r>
          </a:p>
        </p:txBody>
      </p:sp>
      <p:graphicFrame>
        <p:nvGraphicFramePr>
          <p:cNvPr id="9" name="SummaryTable"/>
          <p:cNvGraphicFramePr>
            <a:graphicFrameLocks noGrp="1"/>
          </p:cNvGraphicFramePr>
          <p:nvPr/>
        </p:nvGraphicFramePr>
        <p:xfrm>
          <a:off x="640080" y="1999488"/>
          <a:ext cx="10917936" cy="40873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9397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Dataset</a:t>
                      </a:r>
                    </a:p>
                  </a:txBody>
                  <a:tcPr marL="109728" marR="109728" marT="27432" marB="27432" anchor="ctr">
                    <a:solidFill>
                      <a:srgbClr val="1638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Shot</a:t>
                      </a:r>
                    </a:p>
                  </a:txBody>
                  <a:tcPr marL="109728" marR="109728" marT="27432" marB="27432" anchor="ctr">
                    <a:solidFill>
                      <a:srgbClr val="1638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Full (linear0125)</a:t>
                      </a:r>
                    </a:p>
                  </a:txBody>
                  <a:tcPr marL="109728" marR="109728" marT="27432" marB="27432" anchor="ctr">
                    <a:solidFill>
                      <a:srgbClr val="1638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No normalization</a:t>
                      </a:r>
                    </a:p>
                  </a:txBody>
                  <a:tcPr marL="109728" marR="109728" marT="27432" marB="27432" anchor="ctr">
                    <a:solidFill>
                      <a:srgbClr val="1638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Equal-weight mean</a:t>
                      </a:r>
                    </a:p>
                  </a:txBody>
                  <a:tcPr marL="109728" marR="109728" marT="27432" marB="27432" anchor="ctr">
                    <a:solidFill>
                      <a:srgbClr val="1638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Layer concat</a:t>
                      </a:r>
                    </a:p>
                  </a:txBody>
                  <a:tcPr marL="109728" marR="109728" marT="27432" marB="27432" anchor="ctr">
                    <a:solidFill>
                      <a:srgbClr val="1638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AD2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54.81 / 73.32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55.06 / 73.84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52.39 / 72.09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46.75 / 69.40</a:t>
                      </a:r>
                    </a:p>
                  </a:txBody>
                  <a:tcPr marL="109728" marR="109728" marT="27432" marB="27432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AD2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2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59.33 / 76.48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59.06 / 76.47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54.92 / 74.39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52.12 / 71.97</a:t>
                      </a:r>
                    </a:p>
                  </a:txBody>
                  <a:tcPr marL="109728" marR="109728" marT="27432" marB="27432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AD2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4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58.69 / 76.87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59.02 / 77.25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56.59 / 75.52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54.60 / 73.44</a:t>
                      </a:r>
                    </a:p>
                  </a:txBody>
                  <a:tcPr marL="109728" marR="109728" marT="27432" marB="27432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AD2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58.68 / 77.35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58.68 / 77.67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57.36 / 76.25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55.85 / 74.47</a:t>
                      </a:r>
                    </a:p>
                  </a:txBody>
                  <a:tcPr marL="109728" marR="109728" marT="27432" marB="27432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AD2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16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59.57 / 77.46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59.17 / 77.65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58.21 / 76.31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57.48 / 74.80</a:t>
                      </a:r>
                    </a:p>
                  </a:txBody>
                  <a:tcPr marL="109728" marR="109728" marT="27432" marB="27432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MVTec AD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92.76 / 96.77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93.22 / 96.68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90.62 / 96.58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89.63 / 96.14</a:t>
                      </a:r>
                    </a:p>
                  </a:txBody>
                  <a:tcPr marL="109728" marR="109728" marT="27432" marB="27432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MVTec AD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2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96.13 / 97.39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96.53 / 97.20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93.30 / 97.17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93.08 / 96.86</a:t>
                      </a:r>
                    </a:p>
                  </a:txBody>
                  <a:tcPr marL="109728" marR="109728" marT="27432" marB="27432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MVTec AD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4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96.99 / 97.68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97.24 / 97.54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95.62 / 97.52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95.33 / 97.23</a:t>
                      </a:r>
                    </a:p>
                  </a:txBody>
                  <a:tcPr marL="109728" marR="109728" marT="27432" marB="27432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MVTec AD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97.60 / 97.93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97.89 / 97.78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96.66 / 97.82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96.56 / 97.61</a:t>
                      </a:r>
                    </a:p>
                  </a:txBody>
                  <a:tcPr marL="109728" marR="109728" marT="27432" marB="27432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MVTec AD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16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98.74 / 98.05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98.81 / 97.92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98.22 / 97.98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98.19 / 97.79</a:t>
                      </a:r>
                    </a:p>
                  </a:txBody>
                  <a:tcPr marL="109728" marR="109728" marT="27432" marB="27432"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VisA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89.88 / 96.73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90.94 / 96.83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87.37 / 95.72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86.55 / 94.99</a:t>
                      </a:r>
                    </a:p>
                  </a:txBody>
                  <a:tcPr marL="109728" marR="109728" marT="27432" marB="27432" anchor="ctr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VisA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2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92.15 / 97.32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93.06 / 97.42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90.08 / 96.25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89.09 / 95.79</a:t>
                      </a:r>
                    </a:p>
                  </a:txBody>
                  <a:tcPr marL="109728" marR="109728" marT="27432" marB="27432" anchor="ctr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VisA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4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94.19 / 97.82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94.57 / 97.83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93.06 / 96.97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91.08 / 96.38</a:t>
                      </a:r>
                    </a:p>
                  </a:txBody>
                  <a:tcPr marL="109728" marR="109728" marT="27432" marB="27432" anchor="ctr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VisA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95.01 / 98.25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95.17 / 98.22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94.46 / 97.50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93.49 / 96.75</a:t>
                      </a:r>
                    </a:p>
                  </a:txBody>
                  <a:tcPr marL="109728" marR="109728" marT="27432" marB="27432" anchor="ctr"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VisA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16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95.99 / 98.49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96.18 / 98.43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95.62 / 97.82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94.09 / 97.02</a:t>
                      </a:r>
                    </a:p>
                  </a:txBody>
                  <a:tcPr marL="109728" marR="109728" marT="27432" marB="27432" anchor="ctr"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1400" b="1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04. Ablation · 분석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2800" b="1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Shallow 가중치 민감도 (표 8b)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lang="ko-KR" sz="1600" b="1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λ ≥ 0.5에서 AUPRO@0.05가 빠르게 낮아지고, λ = 0.125가 2·16-shot 모두 가장 높다</a:t>
            </a:r>
          </a:p>
        </p:txBody>
      </p:sp>
      <p:sp>
        <p:nvSpPr>
          <p:cNvPr id="6" name="Detail"/>
          <p:cNvSpPr txBox="1"/>
          <p:nvPr/>
        </p:nvSpPr>
        <p:spPr>
          <a:xfrm>
            <a:off x="246888" y="1463040"/>
            <a:ext cx="1207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20759" lvl="2" indent="-285750">
              <a:lnSpc>
                <a:spcPct val="130000"/>
              </a:lnSpc>
              <a:buFont typeface="Arial"/>
              <a:buChar char="•"/>
            </a:pPr>
            <a:r>
              <a:rPr lang="ko-KR" sz="1600" b="1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16-shot</a:t>
            </a:r>
            <a:r>
              <a:rPr lang="ko-KR" sz="1600" b="0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λ = 0.125 59.57 → λ = 1 54.02 (−5.55pp) → λ = 2 47.33</a:t>
            </a:r>
          </a:p>
          <a:p>
            <a:pPr marL="920759" lvl="2" indent="-285750">
              <a:lnSpc>
                <a:spcPct val="130000"/>
              </a:lnSpc>
              <a:buFont typeface="Arial"/>
              <a:buChar char="•"/>
            </a:pPr>
            <a:r>
              <a:rPr lang="ko-KR" sz="1600" b="1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선택 절차</a:t>
            </a:r>
            <a:r>
              <a:rPr lang="ko-KR" sz="1600" b="0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2-shot AUPRO만으로 λ를 고른 뒤 16-shot 해석 전에 동결 (개발 평가 사용, post-hoc)</a:t>
            </a:r>
          </a:p>
        </p:txBody>
      </p:sp>
      <p:sp>
        <p:nvSpPr>
          <p:cNvPr id="7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900" b="0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d = (z11 + z23)/2, s = z5. FP16, 4-scale, cap256, q95, CQ99 고정, seed 0. 표에는 양의 가중치 조건만 제시. 출처: PaperWorks/outlines/Outline_v18.md §4.4.2 표 8b</a:t>
            </a:r>
          </a:p>
        </p:txBody>
      </p:sp>
      <p:sp>
        <p:nvSpPr>
          <p:cNvPr id="8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sz="1000" b="0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34</a:t>
            </a:r>
          </a:p>
        </p:txBody>
      </p:sp>
      <p:graphicFrame>
        <p:nvGraphicFramePr>
          <p:cNvPr id="9" name="SummaryTable"/>
          <p:cNvGraphicFramePr>
            <a:graphicFrameLocks noGrp="1"/>
          </p:cNvGraphicFramePr>
          <p:nvPr/>
        </p:nvGraphicFramePr>
        <p:xfrm>
          <a:off x="640080" y="2435352"/>
          <a:ext cx="10917936" cy="26852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27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결합 규칙</a:t>
                      </a:r>
                    </a:p>
                  </a:txBody>
                  <a:tcPr marL="109728" marR="109728" marT="27432" marB="27432" anchor="ctr">
                    <a:solidFill>
                      <a:srgbClr val="1638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2-shot AUPRO</a:t>
                      </a:r>
                    </a:p>
                  </a:txBody>
                  <a:tcPr marL="109728" marR="109728" marT="27432" marB="27432" anchor="ctr">
                    <a:solidFill>
                      <a:srgbClr val="1638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2-shot pAUROC</a:t>
                      </a:r>
                    </a:p>
                  </a:txBody>
                  <a:tcPr marL="109728" marR="109728" marT="27432" marB="27432" anchor="ctr">
                    <a:solidFill>
                      <a:srgbClr val="1638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16-shot AUPRO</a:t>
                      </a:r>
                    </a:p>
                  </a:txBody>
                  <a:tcPr marL="109728" marR="109728" marT="27432" marB="27432" anchor="ctr">
                    <a:solidFill>
                      <a:srgbClr val="1638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16-shot pAUROC</a:t>
                      </a:r>
                    </a:p>
                  </a:txBody>
                  <a:tcPr marL="109728" marR="109728" marT="27432" marB="27432" anchor="ctr">
                    <a:solidFill>
                      <a:srgbClr val="1638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0247"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Linear d+0.125s (선택된 λ*)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59.33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76.48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59.57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77.46</a:t>
                      </a:r>
                    </a:p>
                  </a:txBody>
                  <a:tcPr marL="109728" marR="109728" marT="27432" marB="27432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0247"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Lineard+0.25s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58.43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76.00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59.48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77.21</a:t>
                      </a:r>
                    </a:p>
                  </a:txBody>
                  <a:tcPr marL="109728" marR="109728" marT="27432" marB="27432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0247"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Lineard+0.5s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54.92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74.39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58.21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76.31</a:t>
                      </a:r>
                    </a:p>
                  </a:txBody>
                  <a:tcPr marL="109728" marR="109728" marT="27432" marB="27432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0247"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Lineard+s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48.39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71.31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54.02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74.04</a:t>
                      </a:r>
                    </a:p>
                  </a:txBody>
                  <a:tcPr marL="109728" marR="109728" marT="27432" marB="27432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0247"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Lineard+2s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40.48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67.00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47.33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70.19</a:t>
                      </a:r>
                    </a:p>
                  </a:txBody>
                  <a:tcPr marL="109728" marR="109728" marT="27432" marB="27432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1400" b="1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04. Ablation · 분석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2800" b="1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정규화 방식 비교 MVTec AD · VisA (표 8c)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lang="ko-KR" sz="1600" b="1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q95는 MAD보다 모든 shot에서 I-AUROC가 높지만, 정규화 생략(none)보다는 0.07–1.06pp 낮다</a:t>
            </a:r>
          </a:p>
        </p:txBody>
      </p:sp>
      <p:sp>
        <p:nvSpPr>
          <p:cNvPr id="6" name="Detail"/>
          <p:cNvSpPr txBox="1"/>
          <p:nvPr/>
        </p:nvSpPr>
        <p:spPr>
          <a:xfrm>
            <a:off x="246888" y="1463040"/>
            <a:ext cx="1207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20759" lvl="2" indent="-285750">
              <a:lnSpc>
                <a:spcPct val="130000"/>
              </a:lnSpc>
              <a:buFont typeface="Arial"/>
              <a:buChar char="•"/>
            </a:pPr>
            <a:r>
              <a:rPr lang="ko-KR" sz="1600" b="1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q95 − MAD</a:t>
            </a:r>
            <a:r>
              <a:rPr lang="ko-KR" sz="1600" b="0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MVTec AD I-AUROC +0.47 ~ +1.60pp, VisA +0.34 ~ +1.30pp</a:t>
            </a:r>
          </a:p>
          <a:p>
            <a:pPr marL="920759" lvl="2" indent="-285750">
              <a:lnSpc>
                <a:spcPct val="130000"/>
              </a:lnSpc>
              <a:buFont typeface="Arial"/>
              <a:buChar char="•"/>
            </a:pPr>
            <a:r>
              <a:rPr lang="ko-KR" sz="1600" b="1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P-AUROC</a:t>
            </a:r>
            <a:r>
              <a:rPr lang="ko-KR" sz="1600" b="0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MVTec AD에서만 q95가 none보다 +0.09 ~ +0.18pp</a:t>
            </a:r>
          </a:p>
        </p:txBody>
      </p:sp>
      <p:sp>
        <p:nvSpPr>
          <p:cNvPr id="7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900" b="0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전체 방법(linear0125)에서 normalization만 바꾼 대조, 4 해상도, cap256, 같은 support, seed 0. 각 셀 I-AUROC / P-AUROC. 출처: PaperWorks/outlines/Outline_v18.md §4.4.1 표 8c</a:t>
            </a:r>
          </a:p>
        </p:txBody>
      </p:sp>
      <p:sp>
        <p:nvSpPr>
          <p:cNvPr id="8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sz="1000" b="0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35</a:t>
            </a:r>
          </a:p>
        </p:txBody>
      </p:sp>
      <p:graphicFrame>
        <p:nvGraphicFramePr>
          <p:cNvPr id="9" name="SummaryTable"/>
          <p:cNvGraphicFramePr>
            <a:graphicFrameLocks noGrp="1"/>
          </p:cNvGraphicFramePr>
          <p:nvPr/>
        </p:nvGraphicFramePr>
        <p:xfrm>
          <a:off x="640080" y="2343912"/>
          <a:ext cx="10917936" cy="33101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59689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Dataset</a:t>
                      </a:r>
                    </a:p>
                  </a:txBody>
                  <a:tcPr marL="109728" marR="109728" marT="27432" marB="27432" anchor="ctr">
                    <a:solidFill>
                      <a:srgbClr val="1638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Shot</a:t>
                      </a:r>
                    </a:p>
                  </a:txBody>
                  <a:tcPr marL="109728" marR="109728" marT="27432" marB="27432" anchor="ctr">
                    <a:solidFill>
                      <a:srgbClr val="1638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none</a:t>
                      </a:r>
                    </a:p>
                  </a:txBody>
                  <a:tcPr marL="109728" marR="109728" marT="27432" marB="27432" anchor="ctr">
                    <a:solidFill>
                      <a:srgbClr val="1638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MAD</a:t>
                      </a:r>
                    </a:p>
                  </a:txBody>
                  <a:tcPr marL="109728" marR="109728" marT="27432" marB="27432" anchor="ctr">
                    <a:solidFill>
                      <a:srgbClr val="1638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q95 (기본)</a:t>
                      </a:r>
                    </a:p>
                  </a:txBody>
                  <a:tcPr marL="109728" marR="109728" marT="27432" marB="27432" anchor="ctr">
                    <a:solidFill>
                      <a:srgbClr val="1638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MVTec AD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93.22 / 96.68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91.45 / 96.74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92.76 / 96.77</a:t>
                      </a:r>
                    </a:p>
                  </a:txBody>
                  <a:tcPr marL="109728" marR="109728" marT="27432" marB="27432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MVTec AD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2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96.53 / 97.20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94.53 / 97.38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96.13 / 97.39</a:t>
                      </a:r>
                    </a:p>
                  </a:txBody>
                  <a:tcPr marL="109728" marR="109728" marT="27432" marB="27432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MVTec AD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4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97.24 / 97.54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96.15 / 97.69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96.99 / 97.68</a:t>
                      </a:r>
                    </a:p>
                  </a:txBody>
                  <a:tcPr marL="109728" marR="109728" marT="27432" marB="27432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MVTec AD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97.89 / 97.78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96.68 / 97.95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97.60 / 97.93</a:t>
                      </a:r>
                    </a:p>
                  </a:txBody>
                  <a:tcPr marL="109728" marR="109728" marT="27432" marB="27432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MVTec AD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16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98.81 / 97.92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98.27 / 98.09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98.74 / 98.05</a:t>
                      </a:r>
                    </a:p>
                  </a:txBody>
                  <a:tcPr marL="109728" marR="109728" marT="27432" marB="27432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VisA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90.94 / 96.83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88.58 / 96.35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89.88 / 96.73</a:t>
                      </a:r>
                    </a:p>
                  </a:txBody>
                  <a:tcPr marL="109728" marR="109728" marT="27432" marB="27432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VisA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2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93.06 / 97.42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91.17 / 97.02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92.15 / 97.32</a:t>
                      </a:r>
                    </a:p>
                  </a:txBody>
                  <a:tcPr marL="109728" marR="109728" marT="27432" marB="27432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VisA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4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94.57 / 97.83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93.46 / 97.55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94.19 / 97.82</a:t>
                      </a:r>
                    </a:p>
                  </a:txBody>
                  <a:tcPr marL="109728" marR="109728" marT="27432" marB="27432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VisA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95.17 / 98.22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94.63 / 98.00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95.01 / 98.25</a:t>
                      </a:r>
                    </a:p>
                  </a:txBody>
                  <a:tcPr marL="109728" marR="109728" marT="27432" marB="27432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VisA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16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96.18 / 98.43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95.65 / 98.28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95.99 / 98.49</a:t>
                      </a:r>
                    </a:p>
                  </a:txBody>
                  <a:tcPr marL="109728" marR="109728" marT="27432" marB="27432"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1400" b="1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04. Ablation · 분석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2800" b="1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정규화 방식 비교 AD2 (표 8d)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lang="ko-KR" sz="1600" b="1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AD2에서 q95는 MAD보다 AUPRO@0.05 +0.76–1.69pp 높고, none과는 −0.33 ~ +0.40pp로 엇갈린다</a:t>
            </a:r>
          </a:p>
        </p:txBody>
      </p:sp>
      <p:sp>
        <p:nvSpPr>
          <p:cNvPr id="6" name="Detail"/>
          <p:cNvSpPr txBox="1"/>
          <p:nvPr/>
        </p:nvSpPr>
        <p:spPr>
          <a:xfrm>
            <a:off x="246888" y="1463040"/>
            <a:ext cx="1207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20759" lvl="2" indent="-285750">
              <a:lnSpc>
                <a:spcPct val="130000"/>
              </a:lnSpc>
              <a:buFont typeface="Arial"/>
              <a:buChar char="•"/>
            </a:pPr>
            <a:r>
              <a:rPr lang="ko-KR" sz="1600" b="1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q95 − none</a:t>
            </a:r>
            <a:r>
              <a:rPr lang="ko-KR" sz="1600" b="0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AUPRO 평균 +0.02pp, pAUROC는 4개 shot에서 q95가 0.19–0.52pp 낮음</a:t>
            </a:r>
          </a:p>
          <a:p>
            <a:pPr marL="920759" lvl="2" indent="-285750">
              <a:lnSpc>
                <a:spcPct val="130000"/>
              </a:lnSpc>
              <a:buFont typeface="Arial"/>
              <a:buChar char="•"/>
            </a:pPr>
            <a:r>
              <a:rPr lang="ko-KR" sz="1600" b="0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LOO-token vs LSO: AD2 AUPRO 59.45 vs 59.33 (2-shot), 59.55 vs 59.57 (16-shot) → LSO 우위 주장 안 함</a:t>
            </a:r>
          </a:p>
        </p:txBody>
      </p:sp>
      <p:sp>
        <p:nvSpPr>
          <p:cNvPr id="7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900" b="0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각 셀 AUPRO@0.05 / pAUROC@0.05 / I-AUROC. 4 해상도, cap256, 같은 support. none·q95 열은 dsba3 재실행으로 로컬 ablation과 소수 둘째 자리까지 일치 확인. 출처: PaperWorks/outlines/Outline_v18.md §4.4.1 표 8d, calibration support 제외 단위 대조</a:t>
            </a:r>
          </a:p>
        </p:txBody>
      </p:sp>
      <p:sp>
        <p:nvSpPr>
          <p:cNvPr id="8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sz="1000" b="0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36</a:t>
            </a:r>
          </a:p>
        </p:txBody>
      </p:sp>
      <p:graphicFrame>
        <p:nvGraphicFramePr>
          <p:cNvPr id="9" name="SummaryTable"/>
          <p:cNvGraphicFramePr>
            <a:graphicFrameLocks noGrp="1"/>
          </p:cNvGraphicFramePr>
          <p:nvPr/>
        </p:nvGraphicFramePr>
        <p:xfrm>
          <a:off x="640080" y="2435352"/>
          <a:ext cx="10917936" cy="27767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7101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Shot</a:t>
                      </a:r>
                    </a:p>
                  </a:txBody>
                  <a:tcPr marL="109728" marR="109728" marT="27432" marB="27432" anchor="ctr">
                    <a:solidFill>
                      <a:srgbClr val="1638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none</a:t>
                      </a:r>
                    </a:p>
                  </a:txBody>
                  <a:tcPr marL="109728" marR="109728" marT="27432" marB="27432" anchor="ctr">
                    <a:solidFill>
                      <a:srgbClr val="1638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MAD</a:t>
                      </a:r>
                    </a:p>
                  </a:txBody>
                  <a:tcPr marL="109728" marR="109728" marT="27432" marB="27432" anchor="ctr">
                    <a:solidFill>
                      <a:srgbClr val="1638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q95 (기본)</a:t>
                      </a:r>
                    </a:p>
                  </a:txBody>
                  <a:tcPr marL="109728" marR="109728" marT="27432" marB="27432" anchor="ctr">
                    <a:solidFill>
                      <a:srgbClr val="1638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q95 − none (AUPRO)</a:t>
                      </a:r>
                    </a:p>
                  </a:txBody>
                  <a:tcPr marL="109728" marR="109728" marT="27432" marB="27432" anchor="ctr">
                    <a:solidFill>
                      <a:srgbClr val="1638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q95 − MAD (AUPRO)</a:t>
                      </a:r>
                    </a:p>
                  </a:txBody>
                  <a:tcPr marL="109728" marR="109728" marT="27432" marB="27432" anchor="ctr">
                    <a:solidFill>
                      <a:srgbClr val="1638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8536"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1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55.06 / 73.84 / 74.46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53.59 / 72.73 / 73.95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54.81 / 73.32 / 74.47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−0.25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+1.22</a:t>
                      </a:r>
                    </a:p>
                  </a:txBody>
                  <a:tcPr marL="109728" marR="109728" marT="27432" marB="27432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8536"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2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59.06 / 76.47 / 76.75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58.57 / 76.34 / 75.85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59.33 / 76.48 / 76.52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+0.27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+0.76</a:t>
                      </a:r>
                    </a:p>
                  </a:txBody>
                  <a:tcPr marL="109728" marR="109728" marT="27432" marB="27432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8536"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4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59.02 / 77.25 / 76.29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57.00 / 76.29 / 74.86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58.69 / 76.87 / 75.71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−0.33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+1.69</a:t>
                      </a:r>
                    </a:p>
                  </a:txBody>
                  <a:tcPr marL="109728" marR="109728" marT="27432" marB="27432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8536"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8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58.69 / 77.67 / 75.70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57.28 / 76.67 / 74.88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58.68 / 77.35 / 75.41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−0.01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+1.40</a:t>
                      </a:r>
                    </a:p>
                  </a:txBody>
                  <a:tcPr marL="109728" marR="109728" marT="27432" marB="27432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8536"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16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59.17 / 77.65 / 75.11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58.52 / 77.17 / 74.45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59.57 / 77.46 / 74.98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+0.40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+1.05</a:t>
                      </a:r>
                    </a:p>
                  </a:txBody>
                  <a:tcPr marL="109728" marR="109728" marT="27432" marB="27432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1400" b="1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04. Ablation · 분석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2800" b="1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총 bank 용량 통제 해상도 비교 (표 10)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lang="ko-KR" sz="1600" b="1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총 토큰 수를 맞춰도 다해상도가 1120 단일보다 +2.52pp 높다 — 이전 게이트 설정의 결과</a:t>
            </a:r>
          </a:p>
        </p:txBody>
      </p:sp>
      <p:sp>
        <p:nvSpPr>
          <p:cNvPr id="6" name="Detail"/>
          <p:cNvSpPr txBox="1"/>
          <p:nvPr/>
        </p:nvSpPr>
        <p:spPr>
          <a:xfrm>
            <a:off x="246888" y="1463040"/>
            <a:ext cx="1207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20759" lvl="2" indent="-285750">
              <a:lnSpc>
                <a:spcPct val="130000"/>
              </a:lnSpc>
              <a:buFont typeface="Arial"/>
              <a:buChar char="•"/>
            </a:pPr>
            <a:r>
              <a:rPr lang="ko-KR" sz="1600" b="1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용량 통제</a:t>
            </a:r>
            <a:r>
              <a:rPr lang="ko-KR" sz="1600" b="0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1120 단일에 토큰을 4배(1024) 줘도 56.63%로 오히려 −0.33pp</a:t>
            </a:r>
          </a:p>
          <a:p>
            <a:pPr marL="920759" lvl="2" indent="-285750">
              <a:lnSpc>
                <a:spcPct val="130000"/>
              </a:lnSpc>
              <a:buFont typeface="Arial"/>
              <a:buChar char="•"/>
            </a:pPr>
            <a:r>
              <a:rPr lang="ko-KR" sz="1600" b="1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해석</a:t>
            </a:r>
            <a:r>
              <a:rPr lang="ko-KR" sz="1600" b="0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최고 해상도와 총 bank 용량만으로 다해상도 결합의 이득을 설명할 수 없음</a:t>
            </a:r>
          </a:p>
          <a:p>
            <a:pPr marL="920759" lvl="2" indent="-285750">
              <a:lnSpc>
                <a:spcPct val="130000"/>
              </a:lnSpc>
              <a:buFont typeface="Arial"/>
              <a:buChar char="•"/>
            </a:pPr>
            <a:r>
              <a:rPr lang="ko-KR" sz="1600" b="1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주의</a:t>
            </a:r>
            <a:r>
              <a:rPr lang="ko-KR" sz="1600" b="0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이전 비대칭 게이트 설정(E12, RSG3) 결과 → linear0125로 같은 비교를 다시 실행해 교체 예정</a:t>
            </a:r>
          </a:p>
        </p:txBody>
      </p:sp>
      <p:sp>
        <p:nvSpPr>
          <p:cNvPr id="7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900" b="0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AD2 test_public, 16-shot, seed 0, full8, DINOv2 ViT-L/14. 출처: PaperWorks/outlines/Outline_v18.md §4.4.3 표 10</a:t>
            </a:r>
          </a:p>
        </p:txBody>
      </p:sp>
      <p:sp>
        <p:nvSpPr>
          <p:cNvPr id="8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sz="1000" b="0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37</a:t>
            </a:r>
          </a:p>
        </p:txBody>
      </p:sp>
      <p:graphicFrame>
        <p:nvGraphicFramePr>
          <p:cNvPr id="9" name="SummaryTable"/>
          <p:cNvGraphicFramePr>
            <a:graphicFrameLocks noGrp="1"/>
          </p:cNvGraphicFramePr>
          <p:nvPr/>
        </p:nvGraphicFramePr>
        <p:xfrm>
          <a:off x="640080" y="2706624"/>
          <a:ext cx="10917936" cy="2084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712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해상도 구성</a:t>
                      </a:r>
                    </a:p>
                  </a:txBody>
                  <a:tcPr marL="109728" marR="109728" marT="27432" marB="27432" anchor="ctr">
                    <a:solidFill>
                      <a:srgbClr val="1638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토큰 수 / Bag</a:t>
                      </a:r>
                    </a:p>
                  </a:txBody>
                  <a:tcPr marL="109728" marR="109728" marT="27432" marB="27432" anchor="ctr">
                    <a:solidFill>
                      <a:srgbClr val="1638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Full8 AUPRO@0.05</a:t>
                      </a:r>
                    </a:p>
                  </a:txBody>
                  <a:tcPr marL="109728" marR="109728" marT="27432" marB="27432" anchor="ctr">
                    <a:solidFill>
                      <a:srgbClr val="1638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Δ vs 단일</a:t>
                      </a:r>
                    </a:p>
                  </a:txBody>
                  <a:tcPr marL="109728" marR="109728" marT="27432" marB="27432" anchor="ctr">
                    <a:solidFill>
                      <a:srgbClr val="1638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Full8 pAUROC@0.05</a:t>
                      </a:r>
                    </a:p>
                  </a:txBody>
                  <a:tcPr marL="109728" marR="109728" marT="27432" marB="27432" anchor="ctr">
                    <a:solidFill>
                      <a:srgbClr val="1638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Regular AUPRO / pAUROC</a:t>
                      </a:r>
                    </a:p>
                  </a:txBody>
                  <a:tcPr marL="109728" marR="109728" marT="27432" marB="27432" anchor="ctr">
                    <a:solidFill>
                      <a:srgbClr val="1638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Shift 1 AUPRO / pAUROC</a:t>
                      </a:r>
                    </a:p>
                  </a:txBody>
                  <a:tcPr marL="109728" marR="109728" marT="27432" marB="27432" anchor="ctr">
                    <a:solidFill>
                      <a:srgbClr val="1638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Multi-scale (448/672/896/1120)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256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59.15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+2.19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77.11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61.26 / 77.94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59.40 / 77.34</a:t>
                      </a:r>
                    </a:p>
                  </a:txBody>
                  <a:tcPr marL="109728" marR="109728" marT="27432" marB="27432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1120 only (단일 최고해상도)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256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56.96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0.00 (Base)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74.58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59.16 / 75.28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56.89 / 74.98</a:t>
                      </a:r>
                    </a:p>
                  </a:txBody>
                  <a:tcPr marL="109728" marR="109728" marT="27432" marB="27432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1120 only (용량 일치, capacity-matched)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1024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56.63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−0.33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75.17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59.20 / 76.06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56.16 / 75.57</a:t>
                      </a:r>
                    </a:p>
                  </a:txBody>
                  <a:tcPr marL="109728" marR="109728" marT="27432" marB="27432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1400" b="1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04. Ablation · 분석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2800" b="1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단일 · 다중 해상도 비교 (표 10a)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lang="ko-KR" sz="1600" b="1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4개 해상도 결합은 최선의 단일 해상도보다 AUPRO@0.05가 +4.95pp(2-shot), +2.10pp(16-shot) 높다</a:t>
            </a:r>
          </a:p>
        </p:txBody>
      </p:sp>
      <p:sp>
        <p:nvSpPr>
          <p:cNvPr id="6" name="Detail"/>
          <p:cNvSpPr txBox="1"/>
          <p:nvPr/>
        </p:nvSpPr>
        <p:spPr>
          <a:xfrm>
            <a:off x="246888" y="1463040"/>
            <a:ext cx="1207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20759" lvl="2" indent="-285750">
              <a:lnSpc>
                <a:spcPct val="130000"/>
              </a:lnSpc>
              <a:buFont typeface="Arial"/>
              <a:buChar char="•"/>
            </a:pPr>
            <a:r>
              <a:rPr lang="ko-KR" sz="1600" b="0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단일 해상도는 높을수록 좋지 않음: 2-shot 최선 672, 16-shot 최선 1120 (1120 대비 2-shot +5.06pp)</a:t>
            </a:r>
          </a:p>
          <a:p>
            <a:pPr marL="920759" lvl="2" indent="-285750">
              <a:lnSpc>
                <a:spcPct val="130000"/>
              </a:lnSpc>
              <a:buFont typeface="Arial"/>
              <a:buChar char="•"/>
            </a:pPr>
            <a:r>
              <a:rPr lang="ko-KR" sz="1600" b="1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주의</a:t>
            </a:r>
            <a:r>
              <a:rPr lang="ko-KR" sz="1600" b="0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bank당 cap은 같지만 총 용량은 달라, 총 용량 효과는 이 표로 분리하지 않음 (→ 표 10)</a:t>
            </a:r>
          </a:p>
        </p:txBody>
      </p:sp>
      <p:sp>
        <p:nvSpPr>
          <p:cNvPr id="7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900" b="0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linear0125, q95, FP16, cap256, 같은 support, seed 0, full8. 각 셀 AUPRO@0.05 / pAUROC@0.05. 출처: PaperWorks/outlines/Outline_v18.md §4.4.3 표 10a</a:t>
            </a:r>
          </a:p>
        </p:txBody>
      </p:sp>
      <p:sp>
        <p:nvSpPr>
          <p:cNvPr id="8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sz="1000" b="0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38</a:t>
            </a:r>
          </a:p>
        </p:txBody>
      </p:sp>
      <p:graphicFrame>
        <p:nvGraphicFramePr>
          <p:cNvPr id="9" name="SummaryTable"/>
          <p:cNvGraphicFramePr>
            <a:graphicFrameLocks noGrp="1"/>
          </p:cNvGraphicFramePr>
          <p:nvPr/>
        </p:nvGraphicFramePr>
        <p:xfrm>
          <a:off x="1188720" y="2435352"/>
          <a:ext cx="9509760" cy="29596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23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lang="ko-KR" sz="1300" b="1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해상도 구성</a:t>
                      </a:r>
                    </a:p>
                  </a:txBody>
                  <a:tcPr marL="109728" marR="109728" marT="27432" marB="27432" anchor="ctr">
                    <a:solidFill>
                      <a:srgbClr val="1638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300" b="1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2-shot</a:t>
                      </a:r>
                    </a:p>
                  </a:txBody>
                  <a:tcPr marL="109728" marR="109728" marT="27432" marB="27432" anchor="ctr">
                    <a:solidFill>
                      <a:srgbClr val="1638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300" b="1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16-shot</a:t>
                      </a:r>
                    </a:p>
                  </a:txBody>
                  <a:tcPr marL="109728" marR="109728" marT="27432" marB="27432" anchor="ctr">
                    <a:solidFill>
                      <a:srgbClr val="1638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5112">
                <a:tc>
                  <a:txBody>
                    <a:bodyPr/>
                    <a:lstStyle/>
                    <a:p>
                      <a:pPr algn="ctr"/>
                      <a:r>
                        <a:rPr lang="ko-KR" sz="1300" b="1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448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3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51.14 / 75.80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3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52.01 / 76.52</a:t>
                      </a:r>
                    </a:p>
                  </a:txBody>
                  <a:tcPr marL="109728" marR="109728" marT="27432" marB="27432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5112">
                <a:tc>
                  <a:txBody>
                    <a:bodyPr/>
                    <a:lstStyle/>
                    <a:p>
                      <a:pPr algn="ctr"/>
                      <a:r>
                        <a:rPr lang="ko-KR" sz="1300" b="1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672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3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54.38 / 74.97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3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55.01 / 76.17</a:t>
                      </a:r>
                    </a:p>
                  </a:txBody>
                  <a:tcPr marL="109728" marR="109728" marT="27432" marB="27432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5112">
                <a:tc>
                  <a:txBody>
                    <a:bodyPr/>
                    <a:lstStyle/>
                    <a:p>
                      <a:pPr algn="ctr"/>
                      <a:r>
                        <a:rPr lang="ko-KR" sz="1300" b="1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896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3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52.65 / 73.46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3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55.12 / 74.62</a:t>
                      </a:r>
                    </a:p>
                  </a:txBody>
                  <a:tcPr marL="109728" marR="109728" marT="27432" marB="27432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5112">
                <a:tc>
                  <a:txBody>
                    <a:bodyPr/>
                    <a:lstStyle/>
                    <a:p>
                      <a:pPr algn="ctr"/>
                      <a:r>
                        <a:rPr lang="ko-KR" sz="1300" b="1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1120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3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54.27 / 72.47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3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57.47 / 74.86</a:t>
                      </a:r>
                    </a:p>
                  </a:txBody>
                  <a:tcPr marL="109728" marR="109728" marT="27432" marB="27432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5112">
                <a:tc>
                  <a:txBody>
                    <a:bodyPr/>
                    <a:lstStyle/>
                    <a:p>
                      <a:pPr algn="ctr"/>
                      <a:r>
                        <a:rPr lang="ko-KR" sz="1300" b="1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4 해상도 (448/672/896/1120)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300" b="1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59.33 / 76.48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300" b="1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59.57 / 77.46</a:t>
                      </a:r>
                    </a:p>
                  </a:txBody>
                  <a:tcPr marL="109728" marR="109728" marT="27432" marB="27432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1400" b="1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04. Ablation · 분석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2800" b="1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MVTec AD · VisA 해상도 비교 (표 10b)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lang="ko-KR" sz="1600" b="1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전체 방법에서 4 해상도 결합이 두 데이터셋 · 두 shot의 I-AUROC와 P-AUROC 모두 1120 단일보다 높다</a:t>
            </a:r>
          </a:p>
        </p:txBody>
      </p:sp>
      <p:sp>
        <p:nvSpPr>
          <p:cNvPr id="6" name="Detail"/>
          <p:cNvSpPr txBox="1"/>
          <p:nvPr/>
        </p:nvSpPr>
        <p:spPr>
          <a:xfrm>
            <a:off x="246888" y="1463040"/>
            <a:ext cx="1207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20759" lvl="2" indent="-285750">
              <a:lnSpc>
                <a:spcPct val="130000"/>
              </a:lnSpc>
              <a:buFont typeface="Arial"/>
              <a:buChar char="•"/>
            </a:pPr>
            <a:r>
              <a:rPr lang="ko-KR" sz="1600" b="1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I-AUROC 이득</a:t>
            </a:r>
            <a:r>
              <a:rPr lang="ko-KR" sz="1600" b="0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MVTec AD +1.23 / +0.53pp, VisA +5.27 / +1.60pp (2 / 16-shot)</a:t>
            </a:r>
          </a:p>
          <a:p>
            <a:pPr marL="920759" lvl="2" indent="-285750">
              <a:lnSpc>
                <a:spcPct val="130000"/>
              </a:lnSpc>
              <a:buFont typeface="Arial"/>
              <a:buChar char="•"/>
            </a:pPr>
            <a:r>
              <a:rPr lang="ko-KR" sz="1600" b="1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주의</a:t>
            </a:r>
            <a:r>
              <a:rPr lang="ko-KR" sz="1600" b="0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총 bank 용량 효과는 분리하지 않음</a:t>
            </a:r>
          </a:p>
        </p:txBody>
      </p:sp>
      <p:sp>
        <p:nvSpPr>
          <p:cNvPr id="7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900" b="0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linear0125, q95, FP16, cap256, seed 0. 각 셀 I-AUROC / P-AUROC. 출처: PaperWorks/outlines/Outline_v18.md §4.4.3 표 10b</a:t>
            </a:r>
          </a:p>
        </p:txBody>
      </p:sp>
      <p:sp>
        <p:nvSpPr>
          <p:cNvPr id="8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sz="1000" b="0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39</a:t>
            </a:r>
          </a:p>
        </p:txBody>
      </p:sp>
      <p:graphicFrame>
        <p:nvGraphicFramePr>
          <p:cNvPr id="9" name="SummaryTable"/>
          <p:cNvGraphicFramePr>
            <a:graphicFrameLocks noGrp="1"/>
          </p:cNvGraphicFramePr>
          <p:nvPr/>
        </p:nvGraphicFramePr>
        <p:xfrm>
          <a:off x="1188720" y="2481072"/>
          <a:ext cx="9509760" cy="2456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lang="ko-KR" sz="1300" b="1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Dataset</a:t>
                      </a:r>
                    </a:p>
                  </a:txBody>
                  <a:tcPr marL="109728" marR="109728" marT="27432" marB="27432" anchor="ctr">
                    <a:solidFill>
                      <a:srgbClr val="1638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300" b="1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해상도 구성</a:t>
                      </a:r>
                    </a:p>
                  </a:txBody>
                  <a:tcPr marL="109728" marR="109728" marT="27432" marB="27432" anchor="ctr">
                    <a:solidFill>
                      <a:srgbClr val="1638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300" b="1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2-shot</a:t>
                      </a:r>
                    </a:p>
                  </a:txBody>
                  <a:tcPr marL="109728" marR="109728" marT="27432" marB="27432" anchor="ctr">
                    <a:solidFill>
                      <a:srgbClr val="1638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300" b="1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16-shot</a:t>
                      </a:r>
                    </a:p>
                  </a:txBody>
                  <a:tcPr marL="109728" marR="109728" marT="27432" marB="27432" anchor="ctr">
                    <a:solidFill>
                      <a:srgbClr val="1638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/>
                      <a:r>
                        <a:rPr lang="ko-KR" sz="1300" b="1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MVTec AD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3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1120 단일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3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94.90 / 96.51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3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98.21 / 97.49</a:t>
                      </a:r>
                    </a:p>
                  </a:txBody>
                  <a:tcPr marL="109728" marR="109728" marT="27432" marB="27432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/>
                      <a:r>
                        <a:rPr lang="ko-KR" sz="1300" b="1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MVTec AD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300" b="1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4 해상도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300" b="1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96.13 / 97.39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300" b="1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98.74 / 98.05</a:t>
                      </a:r>
                    </a:p>
                  </a:txBody>
                  <a:tcPr marL="109728" marR="109728" marT="27432" marB="27432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/>
                      <a:r>
                        <a:rPr lang="ko-KR" sz="1300" b="1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VisA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3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1120 단일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3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86.88 / 96.19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3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94.39 / 97.80</a:t>
                      </a:r>
                    </a:p>
                  </a:txBody>
                  <a:tcPr marL="109728" marR="109728" marT="27432" marB="27432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/>
                      <a:r>
                        <a:rPr lang="ko-KR" sz="1300" b="1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VisA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300" b="1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4 해상도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300" b="1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92.15 / 97.32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300" b="1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95.99 / 98.49</a:t>
                      </a:r>
                    </a:p>
                  </a:txBody>
                  <a:tcPr marL="109728" marR="109728" marT="27432" marB="27432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1400" b="1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04. Ablation · 분석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2800" b="1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척도 분위수 민감도 (표 11)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lang="ko-KR" sz="1600" b="1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q = 0.80–0.999에서 AUPRO@0.05 변화는 −0.22 ~ +0.04pp로 평탄하다</a:t>
            </a:r>
          </a:p>
        </p:txBody>
      </p:sp>
      <p:sp>
        <p:nvSpPr>
          <p:cNvPr id="6" name="Detail"/>
          <p:cNvSpPr txBox="1"/>
          <p:nvPr/>
        </p:nvSpPr>
        <p:spPr>
          <a:xfrm>
            <a:off x="246888" y="1463040"/>
            <a:ext cx="1207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20759" lvl="2" indent="-285750">
              <a:lnSpc>
                <a:spcPct val="130000"/>
              </a:lnSpc>
              <a:buFont typeface="Arial"/>
              <a:buChar char="•"/>
            </a:pPr>
            <a:r>
              <a:rPr lang="ko-KR" sz="1600" b="0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중앙값 기준(q = 0.5)만 낮고, 꼬리확률 변환·토큰별 로컬 척도도 두 shot에서 일관된 개선 없음</a:t>
            </a:r>
          </a:p>
          <a:p>
            <a:pPr marL="920759" lvl="2" indent="-285750">
              <a:lnSpc>
                <a:spcPct val="130000"/>
              </a:lnSpc>
              <a:buFont typeface="Arial"/>
              <a:buChar char="•"/>
            </a:pPr>
            <a:r>
              <a:rPr lang="ko-KR" sz="1600" b="1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척도 진단</a:t>
            </a:r>
            <a:r>
              <a:rPr lang="ko-KR" sz="1600" b="0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12개 컴포넌트 q95 척도 차이 평균 약 1.8배(deep 사이 약 1.4배), 변동계수 0.18–0.24</a:t>
            </a:r>
          </a:p>
        </p:txBody>
      </p:sp>
      <p:sp>
        <p:nvSpPr>
          <p:cNvPr id="7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900" b="0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잔차 게이트 분위수 β는 방법에서 제거. λ = 0.125 고정, seed 0, AD2. 후속: local-center 보정(AD2 2·16-shot, 강도 0.25/0.5) 검증 중, 확정 전에는 성능 기여로 기술하지 않음. 출처: PaperWorks/outlines/Outline_v18.md §4.4.4 표 11·척도 진단</a:t>
            </a:r>
          </a:p>
        </p:txBody>
      </p:sp>
      <p:sp>
        <p:nvSpPr>
          <p:cNvPr id="8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sz="1000" b="0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40</a:t>
            </a:r>
          </a:p>
        </p:txBody>
      </p:sp>
      <p:graphicFrame>
        <p:nvGraphicFramePr>
          <p:cNvPr id="9" name="SummaryTable"/>
          <p:cNvGraphicFramePr>
            <a:graphicFrameLocks noGrp="1"/>
          </p:cNvGraphicFramePr>
          <p:nvPr/>
        </p:nvGraphicFramePr>
        <p:xfrm>
          <a:off x="640080" y="2343912"/>
          <a:ext cx="10917936" cy="27980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6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054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척도 분위수 q</a:t>
                      </a:r>
                    </a:p>
                  </a:txBody>
                  <a:tcPr marL="109728" marR="109728" marT="27432" marB="27432" anchor="ctr">
                    <a:solidFill>
                      <a:srgbClr val="1638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2-shot</a:t>
                      </a:r>
                    </a:p>
                  </a:txBody>
                  <a:tcPr marL="109728" marR="109728" marT="27432" marB="27432" anchor="ctr">
                    <a:solidFill>
                      <a:srgbClr val="1638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16-shot</a:t>
                      </a:r>
                    </a:p>
                  </a:txBody>
                  <a:tcPr marL="109728" marR="109728" marT="27432" marB="27432" anchor="ctr">
                    <a:solidFill>
                      <a:srgbClr val="1638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Δ AUPRO vs Default (2 / 16-shot)</a:t>
                      </a:r>
                    </a:p>
                  </a:txBody>
                  <a:tcPr marL="109728" marR="109728" marT="27432" marB="27432" anchor="ctr">
                    <a:solidFill>
                      <a:srgbClr val="1638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0.50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58.22 / 75.47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59.03 / 77.15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−1.11 / −0.55</a:t>
                      </a:r>
                    </a:p>
                  </a:txBody>
                  <a:tcPr marL="109728" marR="109728" marT="27432" marB="27432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0.80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59.11 / 76.29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59.56 / 77.53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−0.22 / −0.02</a:t>
                      </a:r>
                    </a:p>
                  </a:txBody>
                  <a:tcPr marL="109728" marR="109728" marT="27432" marB="27432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0.90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59.29 / 76.42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59.60 / 77.49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−0.04 / +0.03</a:t>
                      </a:r>
                    </a:p>
                  </a:txBody>
                  <a:tcPr marL="109728" marR="109728" marT="27432" marB="27432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0.95 (Default)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59.33 / 76.48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59.57 / 77.46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0.00 / 0.00</a:t>
                      </a:r>
                    </a:p>
                  </a:txBody>
                  <a:tcPr marL="109728" marR="109728" marT="27432" marB="27432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0.99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59.37 / 76.52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59.55 / 77.39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+0.04 / −0.02</a:t>
                      </a:r>
                    </a:p>
                  </a:txBody>
                  <a:tcPr marL="109728" marR="109728" marT="27432" marB="27432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0.999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59.20 / 76.22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59.55 / 77.26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−0.13 / −0.02</a:t>
                      </a:r>
                    </a:p>
                  </a:txBody>
                  <a:tcPr marL="109728" marR="109728" marT="27432" marB="27432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꼬리 확률 변환(−log 생존확률), q=0.95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59.11 / 76.65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59.25 / 77.14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−0.22 / −0.32</a:t>
                      </a:r>
                    </a:p>
                  </a:txBody>
                  <a:tcPr marL="109728" marR="109728" marT="27432" marB="27432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ctr"/>
                      <a:r>
                        <a:rPr lang="ko-KR" sz="1100" b="1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토큰별 로컬 척도(local_reliability=scale)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52.34 / 75.33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57.46 / 78.03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1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−6.99 / −2.11</a:t>
                      </a:r>
                    </a:p>
                  </a:txBody>
                  <a:tcPr marL="109728" marR="109728" marT="27432" marB="27432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1400" b="1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04. Ablation · 분석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2800" b="1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효율 · 정성 분석 (표 12 · 12a · 그림 3)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lang="ko-KR" sz="1600" b="1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linear0125의 계산 비용과 정성 비교 그림은 아직 계측·작성하지 않았다</a:t>
            </a:r>
          </a:p>
        </p:txBody>
      </p:sp>
      <p:sp>
        <p:nvSpPr>
          <p:cNvPr id="6" name="Detail"/>
          <p:cNvSpPr txBox="1"/>
          <p:nvPr/>
        </p:nvSpPr>
        <p:spPr>
          <a:xfrm>
            <a:off x="246888" y="1463040"/>
            <a:ext cx="1207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20759" lvl="2" indent="-285750">
              <a:lnSpc>
                <a:spcPct val="130000"/>
              </a:lnSpc>
              <a:buFont typeface="Arial"/>
              <a:buChar char="•"/>
            </a:pPr>
            <a:r>
              <a:rPr lang="ko-KR" sz="1600" b="1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표 12·12a</a:t>
            </a:r>
            <a:r>
              <a:rPr lang="ko-KR" sz="1600" b="0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게이트 설정 측정값은 제외, bank 벡터 수만 구성에서 계산 (16-shot, 컴포넌트당 4,096토큰)</a:t>
            </a:r>
          </a:p>
          <a:p>
            <a:pPr marL="920759" lvl="2" indent="-285750">
              <a:lnSpc>
                <a:spcPct val="130000"/>
              </a:lnSpc>
              <a:buFont typeface="Arial"/>
              <a:buChar char="•"/>
            </a:pPr>
            <a:r>
              <a:rPr lang="ko-KR" sz="1600" b="1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그림 3 사양</a:t>
            </a:r>
            <a:r>
              <a:rPr lang="ko-KR" sz="1600" b="0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Regular·Shift 1·Gaussian noise 3행 × (Input, GT, SuperAD, PatchCore, ScopeAD, λ·z5)</a:t>
            </a:r>
          </a:p>
        </p:txBody>
      </p:sp>
      <p:sp>
        <p:nvSpPr>
          <p:cNvPr id="7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900" b="0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SuperAD 측정 조건: AD2 full8 test_public, seed 0, 16-shot, DINOv2 ViT-L/14, FP32, batch 1. 구성 요소별 시간 분해도 linear0125에서 재계측 필요. 출처: PaperWorks/outlines/Outline_v18.md §4.5 표 12·12a, 그림 3</a:t>
            </a:r>
          </a:p>
        </p:txBody>
      </p:sp>
      <p:sp>
        <p:nvSpPr>
          <p:cNvPr id="8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sz="1000" b="0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41</a:t>
            </a:r>
          </a:p>
        </p:txBody>
      </p:sp>
      <p:graphicFrame>
        <p:nvGraphicFramePr>
          <p:cNvPr id="9" name="SummaryTable"/>
          <p:cNvGraphicFramePr>
            <a:graphicFrameLocks noGrp="1"/>
          </p:cNvGraphicFramePr>
          <p:nvPr/>
        </p:nvGraphicFramePr>
        <p:xfrm>
          <a:off x="640080" y="2389632"/>
          <a:ext cx="10917936" cy="14813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9961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Arm</a:t>
                      </a:r>
                    </a:p>
                  </a:txBody>
                  <a:tcPr marL="109728" marR="109728" marT="27432" marB="27432" anchor="ctr">
                    <a:solidFill>
                      <a:srgbClr val="1638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Bank vectors / class</a:t>
                      </a:r>
                    </a:p>
                  </a:txBody>
                  <a:tcPr marL="109728" marR="109728" marT="27432" marB="27432" anchor="ctr">
                    <a:solidFill>
                      <a:srgbClr val="1638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Fit (s)</a:t>
                      </a:r>
                    </a:p>
                  </a:txBody>
                  <a:tcPr marL="109728" marR="109728" marT="27432" marB="27432" anchor="ctr">
                    <a:solidFill>
                      <a:srgbClr val="1638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Query mean (ms)</a:t>
                      </a:r>
                    </a:p>
                  </a:txBody>
                  <a:tcPr marL="109728" marR="109728" marT="27432" marB="27432" anchor="ctr">
                    <a:solidFill>
                      <a:srgbClr val="1638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Pooled mean / p95 (ms)</a:t>
                      </a:r>
                    </a:p>
                  </a:txBody>
                  <a:tcPr marL="109728" marR="109728" marT="27432" marB="27432" anchor="ctr">
                    <a:solidFill>
                      <a:srgbClr val="1638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Peak alloc fit / query (GiB)</a:t>
                      </a:r>
                    </a:p>
                  </a:txBody>
                  <a:tcPr marL="109728" marR="109728" marT="27432" marB="27432" anchor="ctr">
                    <a:solidFill>
                      <a:srgbClr val="1638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Peak GPU fit / query (GiB)</a:t>
                      </a:r>
                    </a:p>
                  </a:txBody>
                  <a:tcPr marL="109728" marR="109728" marT="27432" marB="27432" anchor="ctr">
                    <a:solidFill>
                      <a:srgbClr val="1638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ScopeAD (linear0125)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196,608 (48 component banks)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</a:t>
                      </a:r>
                    </a:p>
                  </a:txBody>
                  <a:tcPr marL="109728" marR="109728" marT="27432" marB="27432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1120-only (linear0125)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49,152 (12 component banks)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</a:t>
                      </a:r>
                    </a:p>
                  </a:txBody>
                  <a:tcPr marL="109728" marR="109728" marT="27432" marB="27432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SuperAD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All tokens; count unspec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10.48 ± 2.17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793.95 ± 154.16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803.03 / 1,069.34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1.42 / 1.42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9.04 / 9.04</a:t>
                      </a:r>
                    </a:p>
                  </a:txBody>
                  <a:tcPr marL="109728" marR="109728" marT="27432" marB="27432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0" name="SummaryTable2"/>
          <p:cNvGraphicFramePr>
            <a:graphicFrameLocks noGrp="1"/>
          </p:cNvGraphicFramePr>
          <p:nvPr/>
        </p:nvGraphicFramePr>
        <p:xfrm>
          <a:off x="640080" y="4145280"/>
          <a:ext cx="10917936" cy="100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50545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Cap</a:t>
                      </a:r>
                    </a:p>
                  </a:txBody>
                  <a:tcPr marL="109728" marR="109728" marT="27432" marB="27432" anchor="ctr">
                    <a:solidFill>
                      <a:srgbClr val="1638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Fit (s/class)</a:t>
                      </a:r>
                    </a:p>
                  </a:txBody>
                  <a:tcPr marL="109728" marR="109728" marT="27432" marB="27432" anchor="ctr">
                    <a:solidFill>
                      <a:srgbClr val="1638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Query mean (s/image)</a:t>
                      </a:r>
                    </a:p>
                  </a:txBody>
                  <a:tcPr marL="109728" marR="109728" marT="27432" marB="27432" anchor="ctr">
                    <a:solidFill>
                      <a:srgbClr val="1638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클래스별 query p95 (s/image)</a:t>
                      </a:r>
                    </a:p>
                  </a:txBody>
                  <a:tcPr marL="109728" marR="109728" marT="27432" marB="27432" anchor="ctr">
                    <a:solidFill>
                      <a:srgbClr val="1638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Peak alloc fit / query (GiB)</a:t>
                      </a:r>
                    </a:p>
                  </a:txBody>
                  <a:tcPr marL="109728" marR="109728" marT="27432" marB="27432" anchor="ctr">
                    <a:solidFill>
                      <a:srgbClr val="1638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256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</a:t>
                      </a:r>
                    </a:p>
                  </a:txBody>
                  <a:tcPr marL="109728" marR="109728" marT="27432" marB="27432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1024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</a:t>
                      </a:r>
                    </a:p>
                  </a:txBody>
                  <a:tcPr marL="109728" marR="109728" marT="27432" marB="27432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1400" b="1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05. 논의와 향후 계획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2800" b="1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논의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lang="ko-KR" sz="1600" b="1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다해상도와 관측별 bank는 서로 다른 단계에서 기여하고, Shallow 가산은 가중치에 민감하다</a:t>
            </a:r>
          </a:p>
        </p:txBody>
      </p:sp>
      <p:sp>
        <p:nvSpPr>
          <p:cNvPr id="6" name="Detail"/>
          <p:cNvSpPr txBox="1"/>
          <p:nvPr/>
        </p:nvSpPr>
        <p:spPr>
          <a:xfrm>
            <a:off x="246888" y="1463040"/>
            <a:ext cx="1207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20759" lvl="2" indent="-285750">
              <a:lnSpc>
                <a:spcPct val="130000"/>
              </a:lnSpc>
              <a:buFont typeface="Arial"/>
              <a:buChar char="•"/>
            </a:pPr>
            <a:r>
              <a:rPr lang="ko-KR" sz="1600" b="1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관측 확장</a:t>
            </a:r>
            <a:r>
              <a:rPr lang="ko-KR" sz="1600" b="0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최선 단일 해상도 대비 +4.95 / +2.10pp, 용량 통제(게이트 설정)에서도 +2.52pp (38·37쪽)</a:t>
            </a:r>
          </a:p>
          <a:p>
            <a:pPr marL="920759" lvl="2" indent="-285750">
              <a:lnSpc>
                <a:spcPct val="130000"/>
              </a:lnSpc>
              <a:buFont typeface="Arial"/>
              <a:buChar char="•"/>
            </a:pPr>
            <a:r>
              <a:rPr lang="ko-KR" sz="1600" b="1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관측별 결합</a:t>
            </a:r>
            <a:r>
              <a:rPr lang="ko-KR" sz="1600" b="0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세 데이터셋 모든 shot에서 단일 bank보다 높음 (33쪽)</a:t>
            </a:r>
          </a:p>
          <a:p>
            <a:pPr marL="920759" lvl="2" indent="-285750">
              <a:lnSpc>
                <a:spcPct val="130000"/>
              </a:lnSpc>
              <a:buFont typeface="Arial"/>
              <a:buChar char="•"/>
            </a:pPr>
            <a:r>
              <a:rPr lang="ko-KR" sz="1600" b="1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q95 정렬</a:t>
            </a:r>
            <a:r>
              <a:rPr lang="ko-KR" sz="1600" b="0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MAD보다 높지만 정규화 생략과 차이 작음 → 척도 차이가 큰 관측·조건 변화 query에서 확인 (36쪽)</a:t>
            </a:r>
          </a:p>
          <a:p>
            <a:pPr marL="920759" lvl="2" indent="-285750">
              <a:lnSpc>
                <a:spcPct val="130000"/>
              </a:lnSpc>
              <a:buFont typeface="Arial"/>
              <a:buChar char="•"/>
            </a:pPr>
            <a:r>
              <a:rPr lang="ko-KR" sz="1600" b="1">
                <a:solidFill>
                  <a:srgbClr val="242B35"/>
                </a:solidFill>
                <a:latin typeface="NanumSquareOTF_ac Bold"/>
                <a:ea typeface="NanumSquareOTF_ac Bold"/>
                <a:cs typeface="NanumSquareOTF_ac Bold"/>
              </a:rPr>
              <a:t>배포</a:t>
            </a:r>
            <a:r>
              <a:rPr lang="ko-KR" sz="1600" b="0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: 단위 정렬이 query FPR을 정하지 않음 → 조명 조건별 임계값 보정과 검증이 필요</a:t>
            </a:r>
          </a:p>
        </p:txBody>
      </p:sp>
      <p:sp>
        <p:nvSpPr>
          <p:cNvPr id="7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900" b="0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출처: PaperWorks/outlines/Outline_v18.md §5.1–5.2, 부록 A.1.</a:t>
            </a:r>
          </a:p>
        </p:txBody>
      </p:sp>
      <p:sp>
        <p:nvSpPr>
          <p:cNvPr id="8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sz="1000" b="0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42</a:t>
            </a:r>
          </a:p>
        </p:txBody>
      </p:sp>
      <p:sp>
        <p:nvSpPr>
          <p:cNvPr id="9" name="KeyBox"/>
          <p:cNvSpPr txBox="1"/>
          <p:nvPr/>
        </p:nvSpPr>
        <p:spPr>
          <a:xfrm>
            <a:off x="640080" y="3206496"/>
            <a:ext cx="10917936" cy="1097280"/>
          </a:xfrm>
          <a:prstGeom prst="rect">
            <a:avLst/>
          </a:prstGeom>
          <a:noFill/>
          <a:ln w="12700">
            <a:solidFill>
              <a:srgbClr val="163866"/>
            </a:solidFill>
          </a:ln>
        </p:spPr>
        <p:txBody>
          <a:bodyPr wrap="square" lIns="182880" tIns="109728" rIns="182880" bIns="109728">
            <a:spAutoFit/>
          </a:bodyPr>
          <a:lstStyle/>
          <a:p>
            <a:r>
              <a:rPr lang="ko-KR" sz="1500" b="1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주장 범위  </a:t>
            </a:r>
            <a:r>
              <a:rPr lang="ko-KR" sz="1500" b="0">
                <a:solidFill>
                  <a:srgbClr val="242B35"/>
                </a:solidFill>
                <a:latin typeface="NanumSquareOTF_ac"/>
                <a:ea typeface="NanumSquareOTF_ac"/>
                <a:cs typeface="NanumSquareOTF_ac"/>
              </a:rPr>
              <a:t>지지(개발 모집단): 관측별 bank &gt; 단일 bank, q95 &gt; MAD, Shallow 비중 조절 필요, 다해상도 이득, AD2 2·16-shot SuperAD 대비 우위. 미검증: q95의 정규화 생략 대비 이득, linear0125의 private·shift·corruption·계산 비용.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1400" b="1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05. 논의와 향후 계획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2800" b="1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남은 검증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lang="ko-KR" sz="1600" b="1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게이트 설정으로 남은 표 6·10을 교체하고, 분포 변화·비용·다중 seed를 채운다</a:t>
            </a:r>
          </a:p>
        </p:txBody>
      </p:sp>
      <p:sp>
        <p:nvSpPr>
          <p:cNvPr id="6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900" b="0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출처: PaperWorks/outlines/Outline_v18.md 부록 A.1–A.3, §4.4.4 후속 실험 상태, §4.5.</a:t>
            </a:r>
          </a:p>
        </p:txBody>
      </p:sp>
      <p:sp>
        <p:nvSpPr>
          <p:cNvPr id="7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sz="1000" b="0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43</a:t>
            </a:r>
          </a:p>
        </p:txBody>
      </p:sp>
      <p:graphicFrame>
        <p:nvGraphicFramePr>
          <p:cNvPr id="8" name="SummaryTable"/>
          <p:cNvGraphicFramePr>
            <a:graphicFrameLocks noGrp="1"/>
          </p:cNvGraphicFramePr>
          <p:nvPr/>
        </p:nvGraphicFramePr>
        <p:xfrm>
          <a:off x="640080" y="1645920"/>
          <a:ext cx="10917936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171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항목</a:t>
                      </a:r>
                    </a:p>
                  </a:txBody>
                  <a:tcPr marL="109728" marR="109728" marT="27432" marB="27432" anchor="ctr">
                    <a:solidFill>
                      <a:srgbClr val="1638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현재 상태</a:t>
                      </a:r>
                    </a:p>
                  </a:txBody>
                  <a:tcPr marL="109728" marR="109728" marT="27432" marB="27432" anchor="ctr">
                    <a:solidFill>
                      <a:srgbClr val="1638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다음 단계</a:t>
                      </a:r>
                    </a:p>
                  </a:txBody>
                  <a:tcPr marL="109728" marR="109728" marT="27432" marB="27432" anchor="ctr">
                    <a:solidFill>
                      <a:srgbClr val="1638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9204"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공식 private (표 6)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게이트 설정 결과 64.80 / 62.49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linear0125, 같은 support·임계값 절차로 재제출</a:t>
                      </a:r>
                    </a:p>
                  </a:txBody>
                  <a:tcPr marL="109728" marR="109728" marT="27432" marB="27432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9204"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용량 통제 해상도 비교 (표 10)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게이트 설정 결과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multi-scale vs 1120 (cap256 / 1024) 재실행</a:t>
                      </a:r>
                    </a:p>
                  </a:txBody>
                  <a:tcPr marL="109728" marR="109728" marT="27432" marB="27432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9204"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조명 strata (그림 2)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ScopeAD 선 미사용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condition strata 집계를 켜고 재평가</a:t>
                      </a:r>
                    </a:p>
                  </a:txBody>
                  <a:tcPr marL="109728" marR="109728" marT="27432" marB="27432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9204"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합성 손상 (표 7)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ScopeAD 미실행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MVTec AD 15클래스 × 5조건 실행</a:t>
                      </a:r>
                    </a:p>
                  </a:txBody>
                  <a:tcPr marL="109728" marR="109728" marT="27432" marB="27432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9204"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계산 비용 (표 12 · 12a)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ScopeAD 미계측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linear0125 파이프라인 재계측 (구성 요소별 시간 포함)</a:t>
                      </a:r>
                    </a:p>
                  </a:txBody>
                  <a:tcPr marL="109728" marR="109728" marT="27432" marB="27432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9204"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다중 seed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2·16-shot 3-seed 완료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1·4·8-shot seed 1·2</a:t>
                      </a:r>
                    </a:p>
                  </a:txBody>
                  <a:tcPr marL="109728" marR="109728" marT="27432" marB="27432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89204"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local-center 보정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진행 중 (AD2 2·16-shot)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q95·none을 모두 넘는지 확인 후 판단</a:t>
                      </a:r>
                    </a:p>
                  </a:txBody>
                  <a:tcPr marL="109728" marR="109728" marT="27432" marB="27432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89204"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원고 그림 M3 · 3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M3는 게이트 맵, 그림 3은 사양만 확정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linear0125 기준 Deep·Shallow·결합 맵으로 작성</a:t>
                      </a:r>
                    </a:p>
                  </a:txBody>
                  <a:tcPr marL="109728" marR="109728" marT="27432" marB="27432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1400" b="1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05. 논의와 향후 계획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2800" b="1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결론 및 향후 진행 방향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lang="ko-KR" sz="1600" b="1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관측을 늘리고 관측별 점수를 맞춰 결합하는 ScopeAD로 AD2 few-shot 국소화 1위를 얻었다</a:t>
            </a:r>
          </a:p>
        </p:txBody>
      </p:sp>
      <p:sp>
        <p:nvSpPr>
          <p:cNvPr id="6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900" b="0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출처: PaperWorks/outlines/Outline_v18.md §6, 부록 A.1. 근거 쪽: 관측 확장 38, 결합 32·36, 성능 27, 남은 항목 43.</a:t>
            </a:r>
          </a:p>
        </p:txBody>
      </p:sp>
      <p:sp>
        <p:nvSpPr>
          <p:cNvPr id="7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sz="1000" b="0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44</a:t>
            </a:r>
          </a:p>
        </p:txBody>
      </p:sp>
      <p:graphicFrame>
        <p:nvGraphicFramePr>
          <p:cNvPr id="8" name="SummaryTable"/>
          <p:cNvGraphicFramePr>
            <a:graphicFrameLocks noGrp="1"/>
          </p:cNvGraphicFramePr>
          <p:nvPr/>
        </p:nvGraphicFramePr>
        <p:xfrm>
          <a:off x="640080" y="1645920"/>
          <a:ext cx="10917936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883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lang="ko-KR" sz="1300" b="1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구분</a:t>
                      </a:r>
                    </a:p>
                  </a:txBody>
                  <a:tcPr marL="109728" marR="109728" marT="27432" marB="27432" anchor="ctr">
                    <a:solidFill>
                      <a:srgbClr val="1638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300" b="1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Summary</a:t>
                      </a:r>
                    </a:p>
                  </a:txBody>
                  <a:tcPr marL="109728" marR="109728" marT="27432" marB="27432" anchor="ctr">
                    <a:solidFill>
                      <a:srgbClr val="1638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300" b="1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현재 문제</a:t>
                      </a:r>
                    </a:p>
                  </a:txBody>
                  <a:tcPr marL="109728" marR="109728" marT="27432" marB="27432" anchor="ctr">
                    <a:solidFill>
                      <a:srgbClr val="1638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300" b="1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향후 진행 방향</a:t>
                      </a:r>
                    </a:p>
                  </a:txBody>
                  <a:tcPr marL="109728" marR="109728" marT="27432" marB="27432" anchor="ctr">
                    <a:solidFill>
                      <a:srgbClr val="1638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ctr"/>
                      <a:r>
                        <a:rPr lang="ko-KR" sz="1300" b="1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관측 확장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3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4개 해상도 + Shallow / Deep 관측,</a:t>
                      </a:r>
                    </a:p>
                    <a:p>
                      <a:pPr algn="ctr"/>
                      <a:r>
                        <a:rPr lang="ko-KR" sz="13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최선 단일 대비 +4.95 / +2.10pp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3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용량 통제 비교는 게이트 결과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3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표 10 linear0125 재실행</a:t>
                      </a:r>
                    </a:p>
                  </a:txBody>
                  <a:tcPr marL="109728" marR="109728" marT="27432" marB="27432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ctr"/>
                      <a:r>
                        <a:rPr lang="ko-KR" sz="1300" b="1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관측별 결합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3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관측별 bank + q95 정렬 + λ = 0.125,</a:t>
                      </a:r>
                    </a:p>
                    <a:p>
                      <a:pPr algn="ctr"/>
                      <a:r>
                        <a:rPr lang="ko-KR" sz="13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단일 bank 대비 +2.09pp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3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q95의 정규화 생략 대비 이득 없음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3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local-center 등 정렬 방식 검증</a:t>
                      </a:r>
                    </a:p>
                  </a:txBody>
                  <a:tcPr marL="109728" marR="109728" marT="27432" marB="27432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ctr"/>
                      <a:r>
                        <a:rPr lang="ko-KR" sz="1300" b="1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성능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3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AD2 16-shot 3-seed 60.06 ± 0.88,</a:t>
                      </a:r>
                    </a:p>
                    <a:p>
                      <a:pPr algn="ctr"/>
                      <a:r>
                        <a:rPr lang="ko-KR" sz="13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SuperAD 대비 +4.17pp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3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1·4·8-shot은 seed 0 단일값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3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다중 seed 완성</a:t>
                      </a:r>
                    </a:p>
                  </a:txBody>
                  <a:tcPr marL="109728" marR="109728" marT="27432" marB="27432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ctr"/>
                      <a:r>
                        <a:rPr lang="ko-KR" sz="1300" b="1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강건성 · 배포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3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— (private은 게이트 설정 결과)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3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linear0125 private·shift·corruption·비용 미확보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3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재제출 · 재평가 · 재계측</a:t>
                      </a:r>
                    </a:p>
                  </a:txBody>
                  <a:tcPr marL="109728" marR="109728" marT="27432" marB="27432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Label"/>
          <p:cNvSpPr txBox="1"/>
          <p:nvPr/>
        </p:nvSpPr>
        <p:spPr>
          <a:xfrm>
            <a:off x="246888" y="182880"/>
            <a:ext cx="686714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1400" b="1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Appendix A. 연구 노트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40080" y="612648"/>
            <a:ext cx="10012680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2800" b="1">
                <a:solidFill>
                  <a:srgbClr val="163866"/>
                </a:solidFill>
                <a:latin typeface="NanumSquareOTF_ac ExtraBold"/>
                <a:ea typeface="NanumSquareOTF_ac ExtraBold"/>
                <a:cs typeface="NanumSquareOTF_ac ExtraBold"/>
              </a:rPr>
              <a:t>Claim–evidence–status matrix</a:t>
            </a:r>
          </a:p>
        </p:txBody>
      </p:sp>
      <p:pic>
        <p:nvPicPr>
          <p:cNvPr id="4" name="Logo" descr="dsb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104" y="73152"/>
            <a:ext cx="886968" cy="463600"/>
          </a:xfrm>
          <a:prstGeom prst="rect">
            <a:avLst/>
          </a:prstGeom>
        </p:spPr>
      </p:pic>
      <p:sp>
        <p:nvSpPr>
          <p:cNvPr id="5" name="Lead"/>
          <p:cNvSpPr txBox="1"/>
          <p:nvPr/>
        </p:nvSpPr>
        <p:spPr>
          <a:xfrm>
            <a:off x="640080" y="1179576"/>
            <a:ext cx="1091793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2000"/>
              </a:lnSpc>
              <a:buFont typeface="Wingdings"/>
              <a:buChar char="v"/>
            </a:pPr>
            <a:r>
              <a:rPr lang="ko-KR" sz="1600" b="1">
                <a:solidFill>
                  <a:srgbClr val="163866"/>
                </a:solidFill>
                <a:latin typeface="NanumSquareOTF_ac Bold"/>
                <a:ea typeface="NanumSquareOTF_ac Bold"/>
                <a:cs typeface="NanumSquareOTF_ac Bold"/>
              </a:rPr>
              <a:t>원고의 각 주장과 근거, 현재 지지 상태를 정리한 저자용 표 (Outline 부록 A.1 그대로)</a:t>
            </a:r>
          </a:p>
        </p:txBody>
      </p:sp>
      <p:sp>
        <p:nvSpPr>
          <p:cNvPr id="6" name="MetricNote"/>
          <p:cNvSpPr txBox="1"/>
          <p:nvPr/>
        </p:nvSpPr>
        <p:spPr>
          <a:xfrm>
            <a:off x="640080" y="6245352"/>
            <a:ext cx="10927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sz="900" b="0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출처: PaperWorks/outlines/Outline_v18.md 부록 A.1</a:t>
            </a:r>
          </a:p>
        </p:txBody>
      </p:sp>
      <p:sp>
        <p:nvSpPr>
          <p:cNvPr id="7" name="PageNumber"/>
          <p:cNvSpPr txBox="1"/>
          <p:nvPr/>
        </p:nvSpPr>
        <p:spPr>
          <a:xfrm>
            <a:off x="8796528" y="6492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sz="1000" b="0">
                <a:solidFill>
                  <a:srgbClr val="5F6B7A"/>
                </a:solidFill>
                <a:latin typeface="NanumSquareOTF_ac"/>
                <a:ea typeface="NanumSquareOTF_ac"/>
                <a:cs typeface="NanumSquareOTF_ac"/>
              </a:rPr>
              <a:t>A-1</a:t>
            </a:r>
          </a:p>
        </p:txBody>
      </p:sp>
      <p:graphicFrame>
        <p:nvGraphicFramePr>
          <p:cNvPr id="8" name="SummaryTable"/>
          <p:cNvGraphicFramePr>
            <a:graphicFrameLocks noGrp="1"/>
          </p:cNvGraphicFramePr>
          <p:nvPr/>
        </p:nvGraphicFramePr>
        <p:xfrm>
          <a:off x="640080" y="1572768"/>
          <a:ext cx="10917936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37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311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Claim</a:t>
                      </a:r>
                    </a:p>
                  </a:txBody>
                  <a:tcPr marL="109728" marR="109728" marT="27432" marB="27432" anchor="ctr">
                    <a:solidFill>
                      <a:srgbClr val="1638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핵심 근거</a:t>
                      </a:r>
                    </a:p>
                  </a:txBody>
                  <a:tcPr marL="109728" marR="109728" marT="27432" marB="27432" anchor="ctr">
                    <a:solidFill>
                      <a:srgbClr val="1638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상태</a:t>
                      </a:r>
                    </a:p>
                  </a:txBody>
                  <a:tcPr marL="109728" marR="109728" marT="27432" marB="27432" anchor="ctr">
                    <a:solidFill>
                      <a:srgbClr val="1638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FFFFFF"/>
                          </a:solidFill>
                          <a:latin typeface="NanumSquareOTF_ac ExtraBold"/>
                          <a:ea typeface="NanumSquareOTF_ac ExtraBold"/>
                          <a:cs typeface="NanumSquareOTF_ac ExtraBold"/>
                        </a:rPr>
                        <a:t>원고 내 기술 원칙</a:t>
                      </a:r>
                    </a:p>
                  </a:txBody>
                  <a:tcPr marL="109728" marR="109728" marT="27432" marB="27432" anchor="ctr">
                    <a:solidFill>
                      <a:srgbClr val="1638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5328"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q95 보정이 MAD보다 높다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AD2 AUPRO +0.76~+1.69pp 전 shot (표 8d); MVTec AD·VisA I-AUROC 전 shot (표 8c)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seed 0에서 지지됨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본문에서 사용하는 보정 우위의 범위</a:t>
                      </a:r>
                    </a:p>
                  </a:txBody>
                  <a:tcPr marL="109728" marR="109728" marT="27432" marB="27432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5328"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q95 보정의 정규화 생략(none) 대비 성능 기여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AD2 AUPRO −0.33~+0.40pp, pAUROC 4/5 shot에서 q95가 낮음 (표 8d); MVTec AD·VisA I-AUROC −0.07~−1.06pp (표 8c)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지지되지 않음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본문은 관측별 bank의 설계 요구와 MAD 대비 우위로 서술</a:t>
                      </a:r>
                    </a:p>
                  </a:txBody>
                  <a:tcPr marL="109728" marR="109728" marT="27432" marB="27432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5328"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정렬 후에도 shallow 기여량 제어가 필요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16-shotλ=1 54.02, λ=0.5 58.21, λ=0.125 59.57 (표 8b)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seed 0에서 지지됨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λ는 post-hoc 선택임을 명시</a:t>
                      </a:r>
                    </a:p>
                  </a:txBody>
                  <a:tcPr marL="109728" marR="109728" marT="27432" marB="27432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5328"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다해상도 결합 이득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linear0125 최선 단일 대비 AUPRO +4.95/+2.10pp(2/16-shot, 표 10a); MVTec AD·VisA I/P-AUROC 모두 상승(표 10b); 게이트 설정의 용량 통제 비교 +2.52pp(표 10)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seed 0 개발 비교에서 지지됨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용량 통제 비교는 linear0125로 재실행해 교체 예정</a:t>
                      </a:r>
                    </a:p>
                  </a:txBody>
                  <a:tcPr marL="109728" marR="109728" marT="27432" marB="27432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5328"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λ=0.125 선택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AD2 public 2-shot seed 0 AUPRO로 선택(표 8b)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post-hoc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개발 평가로 선택했음을 명시; 다른 데이터셋에서 재조정하지 않음</a:t>
                      </a:r>
                    </a:p>
                  </a:txBody>
                  <a:tcPr marL="109728" marR="109728" marT="27432" marB="27432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5328"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SuperAD 등 외부 비교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AD2 16-shot 3-seed 60.06 vs 55.89 (+4.17pp), 2-shot 56.03 vs 49.80 (+6.23pp) (표 4); MVTec AD·VisA Ours 3-seed는 표 5b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2·16-shot 지지됨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1·4·8-shot Ours는 seed 0 단일값임을 명시</a:t>
                      </a:r>
                    </a:p>
                  </a:txBody>
                  <a:tcPr marL="109728" marR="109728" marT="27432" marB="27432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65328"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private 성능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표 6의 64.80 / 62.49는 게이트 설정 결과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linear0125 미검증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재제출 후 교체; 본문 초록·결론에서는 인용하지 않음</a:t>
                      </a:r>
                    </a:p>
                  </a:txBody>
                  <a:tcPr marL="109728" marR="109728" marT="27432" marB="27432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65328"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shift·corruption 성능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linear0125 결과 미확보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미검증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표 7, 그림 2는 비움</a:t>
                      </a:r>
                    </a:p>
                  </a:txBody>
                  <a:tcPr marL="109728" marR="109728" marT="27432" marB="27432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65328">
                <a:tc>
                  <a:txBody>
                    <a:bodyPr/>
                    <a:lstStyle/>
                    <a:p>
                      <a:pPr algn="ctr"/>
                      <a:r>
                        <a:rPr lang="ko-KR" sz="1000" b="1">
                          <a:solidFill>
                            <a:srgbClr val="163866"/>
                          </a:solidFill>
                          <a:latin typeface="NanumSquareOTF_ac Bold"/>
                          <a:ea typeface="NanumSquareOTF_ac Bold"/>
                          <a:cs typeface="NanumSquareOTF_ac Bold"/>
                        </a:rPr>
                        <a:t>계산 비용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linear0125 미계측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미검증</a:t>
                      </a:r>
                    </a:p>
                  </a:txBody>
                  <a:tcPr marL="109728" marR="109728" marT="27432" marB="2743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000" b="0">
                          <a:solidFill>
                            <a:srgbClr val="242B35"/>
                          </a:solidFill>
                          <a:latin typeface="NanumSquareOTF_ac"/>
                          <a:ea typeface="NanumSquareOTF_ac"/>
                          <a:cs typeface="NanumSquareOTF_ac"/>
                        </a:rPr>
                        <a:t>표 12, 12a는 비움</a:t>
                      </a:r>
                    </a:p>
                  </a:txBody>
                  <a:tcPr marL="109728" marR="109728" marT="27432" marB="27432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anumSquareOTF_ac" panose="020B0600000101010101" pitchFamily="34" charset="-127"/>
        <a:ea typeface="NanumSquareOTF_ac" panose="020B0600000101010101" pitchFamily="34" charset="-127"/>
        <a:cs typeface=""/>
        <a:font script="Jpan" typeface="游ゴシック Light"/>
        <a:font script="Hang" typeface="NanumSquareOTF_ac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anumSquareOTF_ac" panose="020B0600000101010101" pitchFamily="34" charset="-127"/>
        <a:ea typeface="NanumSquareOTF_ac" panose="020B0600000101010101" pitchFamily="34" charset="-127"/>
        <a:cs typeface=""/>
        <a:font script="Jpan" typeface="游ゴシック"/>
        <a:font script="Hang" typeface="NanumSquareOTF_ac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anumSquareOTF_ac" panose="020B0600000101010101" pitchFamily="34" charset="-127"/>
        <a:ea typeface="NanumSquareOTF_ac" panose="020B0600000101010101" pitchFamily="34" charset="-127"/>
        <a:cs typeface=""/>
        <a:font script="Jpan" typeface="游ゴシック Light"/>
        <a:font script="Hang" typeface="NanumSquareOTF_ac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anumSquareOTF_ac" panose="020B0600000101010101" pitchFamily="34" charset="-127"/>
        <a:ea typeface="NanumSquareOTF_ac" panose="020B0600000101010101" pitchFamily="34" charset="-127"/>
        <a:cs typeface=""/>
        <a:font script="Jpan" typeface="游ゴシック"/>
        <a:font script="Hang" typeface="NanumSquareOTF_ac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B56C7CF6-4023-1742-83B2-C412006695BB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09c0c6a2-8937-4902-8b9b-4e89e5ef0f0c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82528</TotalTime>
  <Words>8665</Words>
  <Application>Microsoft Macintosh PowerPoint</Application>
  <PresentationFormat>와이드스크린</PresentationFormat>
  <Paragraphs>1349</Paragraphs>
  <Slides>44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44</vt:i4>
      </vt:variant>
    </vt:vector>
  </HeadingPairs>
  <TitlesOfParts>
    <vt:vector size="50" baseType="lpstr">
      <vt:lpstr>NanumSquareOTF_ac Bold</vt:lpstr>
      <vt:lpstr>NanumSquareOTF_ac</vt:lpstr>
      <vt:lpstr>Wingdings</vt:lpstr>
      <vt:lpstr>NanumSquareOTF_ac ExtraBold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2026-10-06 ETRI 외부회의</dc:title>
  <dc:creator>강 형원</dc:creator>
  <cp:lastModifiedBy>임훈</cp:lastModifiedBy>
  <cp:revision>3166</cp:revision>
  <cp:lastPrinted>2025-06-23T01:58:10Z</cp:lastPrinted>
  <dcterms:created xsi:type="dcterms:W3CDTF">2021-02-06T07:11:19Z</dcterms:created>
  <dcterms:modified xsi:type="dcterms:W3CDTF">2026-10-12T06:30:48Z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OfficeCLI.Version">
    <vt:lpwstr>1.0.143</vt:lpwstr>
  </property>
  <property fmtid="{D5CDD505-2E9C-101B-9397-08002B2CF9AE}" pid="3" name="OfficeCLI.LastModified">
    <vt:lpwstr>2026-08-04T10:40:06Z</vt:lpwstr>
  </property>
</Properties>
</file>