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10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</p:sldIdLst>
  <p:sldSz cx="12192000" cy="6858000"/>
  <p:notesSz cx="6858000" cy="9144000"/>
  <p:embeddedFontLst>
    <p:embeddedFont>
      <p:font typeface="NanumSquareOTF_ac" panose="020B0600000101010101" pitchFamily="34" charset="-127"/>
      <p:regular r:id="rId111"/>
    </p:embeddedFont>
    <p:embeddedFont>
      <p:font typeface="NanumSquareOTF_ac Bold" panose="020B0600000101010101" pitchFamily="34" charset="-127"/>
      <p:bold r:id="rId112"/>
    </p:embeddedFont>
    <p:embeddedFont>
      <p:font typeface="NanumSquareOTF_ac ExtraBold" panose="020B0600000101010101" pitchFamily="34" charset="-127"/>
      <p:bold r:id="rId113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요약" id="{18EBBE30-93D4-4DD5-828E-FDDDD5D84FC9}">
          <p14:sldIdLst>
            <p14:sldId id="256"/>
            <p14:sldId id="257"/>
            <p14:sldId id="258"/>
          </p14:sldIdLst>
        </p14:section>
        <p14:section name="01 Introduction" id="{2B758D9E-E045-4DB8-B876-26CE156620B2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2 Method" id="{D029EB49-F8D0-4873-9FF3-063EC3CA6474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03 실험 결과" id="{60C163F4-1904-43DC-8E67-1ED031BB1F82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04 Ablation" id="{8B9A9C7C-7D3D-4C40-A9F1-3ACABD7D4C0D}">
          <p14:sldIdLst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05 논의" id="{0EE3A7B3-8E8D-4FF5-A01D-0C1E9D0F4400}">
          <p14:sldIdLst>
            <p14:sldId id="289"/>
            <p14:sldId id="290"/>
            <p14:sldId id="291"/>
          </p14:sldIdLst>
        </p14:section>
        <p14:section name="Appendix A" id="{71856D8C-7169-44C2-BC12-0AE81C127684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3" autoAdjust="0"/>
    <p:restoredTop sz="89795" autoAdjust="0"/>
  </p:normalViewPr>
  <p:slideViewPr>
    <p:cSldViewPr snapToGrid="0" snapToObjects="1">
      <p:cViewPr varScale="1">
        <p:scale>
          <a:sx n="99" d="100"/>
          <a:sy n="99" d="100"/>
        </p:scale>
        <p:origin x="184" y="392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110" Type="http://schemas.openxmlformats.org/officeDocument/2006/relationships/notesMaster" Target="notesMasters/notesMaster1.xml"/><Relationship Id="rId111" Type="http://schemas.openxmlformats.org/officeDocument/2006/relationships/font" Target="fonts/font1.fntdata"/><Relationship Id="rId112" Type="http://schemas.openxmlformats.org/officeDocument/2006/relationships/font" Target="fonts/font2.fntdata"/><Relationship Id="rId113" Type="http://schemas.openxmlformats.org/officeDocument/2006/relationships/font" Target="fonts/font3.fntdata"/><Relationship Id="rId114" Type="http://schemas.openxmlformats.org/officeDocument/2006/relationships/commentAuthors" Target="commentAuthors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Relationship Id="rId1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 문서: PaperWorks/outlines/Outline_v18.md. ScopeAD = Support-Calibrated Observation-expanded Patch Ensemble for Anomaly Detection (이전 이름 SCARF).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피팅: 층 3 × 해상도 4 × bag 4 = 48개 bank, 정상 LSO 거리의 q95로 c_m (1회). B–D 추론: z = d / c → S = z_d + 0.125·z5 → bag·4개 해상도 평균 → 이미지 점수 = 상위 1% 픽셀 평균.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Observation Expansion and Support-Calibrated Fusion</a:t>
            </a:r>
          </a:p>
          <a:p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for Few-Shot Industrial Anomaly Localization</a:t>
            </a:r>
          </a:p>
        </p:txBody>
      </p:sp>
      <p:sp>
        <p:nvSpPr>
          <p:cNvPr id="5" name="Subtitle2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소수 정상 이미지에서 관측을 늘리고, 관측별 점수를 정상 기준으로 맞춰 결합하는 결함 국소화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343400"/>
            <a:ext cx="10515600" cy="0"/>
          </a:xfrm>
          <a:prstGeom prst="line">
            <a:avLst/>
          </a:prstGeom>
          <a:ln w="13716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연구 아웃라인 v18 발표  ·  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발표 순서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흐름 │ 문제와 주장(Introduction) → 방법 → 주 결과 → 구성 요소 분석 → 남은 검증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01 Introduction: 왜 관측을 늘리고, 왜 관측별로 맞춰 결합해야 하는가 · 기여 (4–12쪽)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02 Method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관측별 bank, Scale Calibration, Contribution Control, 맵 통합 (13–18쪽)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03 실험 결과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표 4–6, 그림 2·표 7 (few-shot 주 비교, MVTec AD·VisA, private) (19–26쪽)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04 Ablation · 분석: 표 8–8d, 표 10–10b, 표 11 (27–33쪽)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05 논의와 향후 계획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주장 범위와 남은 검증 (34–36쪽)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Appendix 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결과 표 원본 (A-1–A-10)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한 장 요약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결론 │ 관측을 늘리고 관측별 점수를 맞춰 결합해, AD2 16-shot에서 SuperAD보다 AUPRO +4.17pp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</a:t>
            </a:r>
          </a:p>
        </p:txBody>
      </p:sp>
      <p:graphicFrame>
        <p:nvGraphicFramePr>
          <p:cNvPr id="7" name="SummaryTable"/>
          <p:cNvGraphicFramePr>
            <a:graphicFrameLocks noGrp="1"/>
          </p:cNvGraphicFramePr>
          <p:nvPr/>
        </p:nvGraphicFramePr>
        <p:xfrm>
          <a:off x="640080" y="1600200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383280"/>
                <a:gridCol w="5157216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섹션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문제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소수 정상 support에서 관측을 어떻게 늘리고 합칠까?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큰 거리의 원인이 모호하고, 관측을 늘리면 단위·정상 반응이 섞임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5–8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무엇을 바꿨나?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정상 q95 단위 정렬 + Shallow 고정 가중(λ = 0.125)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13–16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 경쟁력은?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1–16 shot 3개 지표 모두 1위, 16-shot 3-seed 60.06 vs 55.89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21·22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구성 분석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이득은 어디서 오나?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다해상도 +4.95 / +2.10pp, 단일 bank 대비 +2.09pp, λ = 1 대비 +5.55pp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27–31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한계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아직 확인 안 된 것은?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없음, linear0125 private·shift·비용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30·35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배경: 정상 몇 장으로 결함 위치 찾기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목적 │ 재학습 없이 정상 1–16장만으로 결함 영역을 짚는 few-shot 이상 국소화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동결 백본 재사용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대규모 사전학습 표현(DINOv2)은 별도 학습 없이 여러 과제로 전이됨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패치 매칭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query 패치와 가장 가까운 정상 패치의 거리로 결함 위치를 찾음 → 제품별 재학습 불필요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주 지표 AUPRO@0.05: 오경보율 5% 이하에서 결함 영역을 얼마나 덮는가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예시: MVTec AD hazelnut. 맵은 PaperWorks/figures/cache_rsg4_mechanism의 계층별 맵을 z_d + 0.125·z5로 다시 합성한 설명용 그림 (캐시 실행, FP32, 실험 결과 아님). 출처: PaperWorks/outlines/Outline_v18.md §1.1 (Oquab 2023; Roth 2022; Damm 2025)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pic>
        <p:nvPicPr>
          <p:cNvPr id="9" name="ContentFigure" descr="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673" y="2660904"/>
            <a:ext cx="6740748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문제: 큰 거리가 항상 결함은 아니다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문제 │ 큰 거리는 결함에서도, support에 없던 정상 변동에서도 생겨 원인을 구분할 수 없다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정상 support의 한계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소수 정상 이미지는 조명 드리프트·자세·난반사·센서 노이즈를 다 담지 못함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일반 vision 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분포 변화 아래 성능 저하(Hendrycks 2019)와 점수 신뢰도 변화(Ovadia 2019)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결론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"큰 거리"만으로는 결함인지 미관측 정상 변동인지 확정할 수 없음 (High-Score Ambiguity)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그림은 개념도(가상 분포)이며 실측이 아님. 출처: PaperWorks/outlines/Outline_v18.md §1.1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pic>
        <p:nvPicPr>
          <p:cNvPr id="9" name="ContentFigure" descr="ambiguity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29" y="2660904"/>
            <a:ext cx="9978637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동기: 같은 이미지를 더 많이 관찰한다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동기 │ 정상 이미지를 늘릴 수 없으면, 같은 이미지를 여러 깊이·해상도에서 관찰해 단서를 늘린다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표현 계층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Deep(L11·23)은 안정적 의미 기준선, Shallow(L5)는 미세 결함에 민감하나 정상 외관에도 반응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입력 해상도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px 토큰 1개 = 짧은 변 3.1% → 1120 px = 1.25%, 미세 결함의 공간 표본 밀도 증가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다계층(DPT, Raghu 2021)·다중 척도(FPN, S², FeatUp)가 dense prediction을 개선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hazelnut query의 해상도별 ScopeAD 맵. 맵은 PaperWorks/figures/cache_rsg4_mechanism의 계층별 맵을 z_d + 0.125·z5로 다시 합성한 설명용 그림 (캐시 실행, FP32, 실험 결과 아님). 출처: PaperWorks/outlines/Outline_v18.md §1.2, §2.2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pic>
        <p:nvPicPr>
          <p:cNvPr id="9" name="ContentFigure" descr="resolution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23554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결합의 과제 ①: bank를 하나로 합치면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과제 ① │ 계층 특징을 한 bank로 합치면 관측별 정상 변동이 한 거리 안에 섞인다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기존 패치 매칭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여러 계층 특징을 이어 붙여 bank 1개, 점수 1개 (PatchCore 등)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같은 저장 용량에서 단일 bank는 AUPRO@0.05 57.48%, 관측별 bank는 59.57% (표 8)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대가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bank를 나누면 bank마다 정상 거리 분포가 달라 → 결합 전에 점수 단위를 맞춰야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개념도. 수치는 AD2 test_public 16-shot seed 0. 출처: PaperWorks/outlines/Outline_v18.md §1.2 "관측 결합의 어려움",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pic>
        <p:nvPicPr>
          <p:cNvPr id="9" name="ContentFigure" descr="bank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8064"/>
            <a:ext cx="10917936" cy="23266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결합의 과제 ②: Shallow를 그대로 더하면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과제 ② │ 단위를 맞춰도 Shallow 점수에는 정상 질감 반응이 섞여, 그대로 더하면 성능이 떨어진다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1이면 정상 walnut 전체가 밝아짐(최댓값 1.22 → 2.52), λ = 0.125는 Deep만과 비슷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q95 정렬 뒤 Shallow 전체 가산(λ = 1) 54.02% vs 고정 가중(λ = 0.125) 59.57% (표 8b)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의미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척도 보정만으로는 Shallow 기여량 제어를 대신할 수 없음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walnuts 정상·결함 query, 하늘색 = GT(표시용). 맵은 PaperWorks/figures/cache_rsg4_mechanism의 계층별 맵을 z_d + 0.125·z5로 다시 합성한 설명용 그림 (캐시 실행, FP32, 실험 결과 아님). 수치 근거: 표 8b (AD2 16-shot seed 0). 출처: PaperWorks/outlines/Outline_v18.md §1.2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pic>
        <p:nvPicPr>
          <p:cNvPr id="9" name="ContentFigure" descr="shallow_l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251" y="2660904"/>
            <a:ext cx="8185592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해법: 단위와 비중을 따로 정한다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해법 │ 결합을 "단위 맞추기(Scale Calibration)"와 "비중 정하기(Contribution Control)"로 나눈다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Scale Calibration: 관측별 bank의 정상 LSO 거리 q95를 1로 — 레이블 없이 정상 이미지만으로 정한 단위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Contribution Control: Deep 평균 기준선에 Shallow를 λ = 0.125로 가산 (AD2 2-shot에서 선택 후 동결)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q95 정렬은 MAD 정렬보다 AUPRO@0.05 +0.76 ~ +1.69pp (모든 shot, 표 8d)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점수 정규화·이질적 점수 결합의 동기: Kim 2021(CAM), Wang 2022(ViM); 레이블 기반 calibration(Guo 2017)과 구분. 출처: PaperWorks/outlines/Outline_v18.md §1.2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pic>
        <p:nvPicPr>
          <p:cNvPr id="9" name="ContentFigure" descr="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43784"/>
            <a:ext cx="10917936" cy="2219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세 요소의 역할 분담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구조 │ 관측 확장과 두 결합 규칙이 서로 다른 단계를 맡아, 한 요소가 다른 요소를 대신하지 않는다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 16-shot, seed 0, Full = 59.57%. 단일 seed 개발 비교이며 개별 차이를 합산 기여로 해석하지 않음. 출처: PaperWorks/outlines/Outline_v18.md §1.2 "관측과 결합의 역할 분담", 표 8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91639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4206240"/>
                <a:gridCol w="32369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요소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하는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이것만 바꾸면 (AUPRO@0.05)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관측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같은 이미지를 448–1120 px 4개 해상도로 관찰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 단일 해상도: −7.56pp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(층, 해상도, bag)마다 bank와 점수 맵을 따로 유지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concat 단일 bank: −2.09pp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Scale Calibration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정상 q95로 점수 단위 정렬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 보정: −1.05pp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Contribution Control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비중을 λ = 0.125로 고정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3계층 동일 가중 평균: −1.36pp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주요 기여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기여 │ 관측 확장, 관측별 bank의 보정·제어 결합, 그리고 두 이득을 통제 실험으로 분리 검증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모두 개발에 사용한 모집단(AD2 public, MVTec AD, VisA) 결과. "SOTA"는 Outline §1.3 표현. 출처: PaperWorks/outlines/Outline_v18.md §1.3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91639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754880"/>
                <a:gridCol w="2962656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기여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내용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근거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① Observation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Expansion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재학습 없이 해상도(토큰 3.1% → 1.25%)와 계층(Shallow / Deep)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두 관측 축을 확장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해상도 대비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+4.95 / +2.10pp (2 / 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31·32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② Calibrated &amp;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Controlled Fusion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척도 보정 + Shallow 고정 가중 가산,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없는 결정론적 파이프라인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전체 가산 대비 +5.55pp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27·29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③ Disentanglement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&amp; SOTA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 확장(구성) 이득과 결합 이득을 통제 실험으로 분리,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3-seed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 +4.17pp (16-shot)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관련 연구와 차별점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위치 │ 같은 최근접 패치 매칭 계열이지만, 관측별 bank와 정상 기준 단위 정렬로 결합을 다르게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§2.1–2.3, 부록 A.4 (서지 검증 2026-10-08).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834640"/>
                <a:gridCol w="3145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연구 흐름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대표 연구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한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ScopeAD와의 차이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Few-shot 패치 매칭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PatchCore, AnomalyDINO,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특징을 이어 붙인 bank,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최근접 거리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분리 +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 전 정상 기준 단위 정렬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척도·다계층 표현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FPN, S², FeatUp,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DPT, Raghu 2021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척도·계층 표현으로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dense prediction 개선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없이 해상도별 정상 거리 맵 평균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(S²는 타일 재조립·채널 연결)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점수 정규화·결합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Kim 2021 (CAM),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ViM 2022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점수 맵 정규화, 이질적 점수의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척도를 맞춘 뒤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support LSO 거리의 q95로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단위 결정 (레이블 불필요)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분포 변화·저-FPR 평가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ImageNet-C, Guo 2017,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Ovadia 2019, MVTec AD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shift 아래 성능·신뢰도 평가,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변화 산업 벤치마크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저-FPR 곡선 지표와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고정 임계값 결과를 구분해 평가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 전체 흐름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구조 │ 정상 support로 48개 bank와 단위 c_m을 한 번 구하고(A), query마다 정렬 → 가산 → 평균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그림: PaperWorks/figures/draw_scarf_overview.py를 linear0125·ScopeAD 표기로 고친 발표용 버전(CQ 미표시). 히트맵은 캐시된 walnuts 계층 맵 재합성. 원고 그림 1은 재작도 필요(Outline A.3). 출처: PaperWorks/outlines/Outline_v18.md §3.1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pic>
        <p:nvPicPr>
          <p:cNvPr id="8" name="ContentFigure" descr="overview_scop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545" y="1572768"/>
            <a:ext cx="8049006" cy="45994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구성: 4개 해상도 × 4개 bag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설계 │ 해상도마다 토큰 밀도가 다르고, 이미지당 256토큰을 4번 뽑아 bag 평균으로 표본 우연성을 줄인다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Bag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이미지당 256토큰 비복원 추출 × 시드 4개, 세 층은 같은 위치 토큰 공유 → 16-shot bank = 4,096토큰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효과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bag 간 픽셀 표준편차 평균 0.038, 4-bag 평균으로 희소 표본화 차이를 완화 (아래 그림 M1)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M1: hazelnut 1120 px, 이미지당 256토큰, 오른쪽 = 픽셀별 bag 간 표준편차.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5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743200"/>
                <a:gridCol w="3785615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(px)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짧은 변 토큰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 1개가 덮는 길이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관측 특성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3.1%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가장 성긴 관측, 거시 형태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2.1%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중간 수준의 구조 정보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1.6%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국소 결함 표본화 밀도 강화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1.25%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가장 촘촘한 관측, 미세 결함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pic>
        <p:nvPicPr>
          <p:cNvPr id="10" name="ContentFigure" descr="fig_rsg4_mech_bagging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87" y="3934968"/>
            <a:ext cx="10319120" cy="22372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Calibration: 관측 간 단위 정렬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방법 │ 각 bank의 정상 LSO 거리 q95(c_m)로 나눠 z = 1을 관측 공통의 기준점으로 맞춘다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같은 거리, 다른 뜻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 = 0.178은 Layer 5 기준(0.123)은 넘고 Layer 23 기준(0.232)은 못 넘음 (오른쪽)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LSO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support 이미지 하나를 빼고 나머지와 매칭한 정상 거리(16-shot 4,096개)로 기준을 정함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범위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z = 1은 결합 전 관측 간 비중을 맞추는 기준이며, 최종 판정 임계값이 아님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c_m = Q0.95(D_m^LSO), z_m = d_m / c_m. 그림 M2: hazelnut 1120 px, bag 평균, d*는 예시값. 출처: PaperWorks/outlines/Outline_v18.md §3.3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pic>
        <p:nvPicPr>
          <p:cNvPr id="9" name="ContentFigure" descr="fig_rsg4_mech_scale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889" y="2633472"/>
            <a:ext cx="6898317" cy="35387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Contribution Control: Shallow 고정 가중 가산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방법 │ S = z_d + 0.125·z5: Deep 평균을 기준선으로 두고, Shallow는 작은 고정 가중치로만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λ = 0.125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AD2 2-shot seed 0 AUPRO로 {0, 0.125, 0.25, 0.5, 1, 2} 중 선택해 동결 (post-hoc)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전체 가산은 정상 질감 면을 1.90까지 올리지만, ScopeAD는 0.806에 머묾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게이트·임계값·학습 가중치 없음, 계층마다 bank와 점수 맵을 유지한 채 점수 단위에서 결합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z_d = (z11 + z23)/2. 막대 값은 설명용 예시(실측 아님), 전체 가산 = z_d + z5. 다른 데이터셋에서 λ 재조정 없음.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pic>
        <p:nvPicPr>
          <p:cNvPr id="9" name="ContentFigure" descr="fusion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60904"/>
            <a:ext cx="10917936" cy="31657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실제 맵에서 본 Shallow 가산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확인 │ 0.125·z5의 가산분은 작아 Deep 맵을 크게 바꾸지 않고, λ = 1처럼 정상 껍질을 밝히지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Shallow z5 전체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균열 테두리와 함께 정상 껍질 윤곽에도 반응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0.125·z5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같은 색 범위에서 거의 어둡게 보일 만큼 작은 가산분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λ = 1 비교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껍질까지 밝아짐 → 과제 ②의 정상 반응 누적과 같은 현상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hazelnut, 1120 px, bag 평균, 색 범위 [0, 2], 하늘색 = GT(표시용). 맵은 PaperWorks/figures/cache_rsg4_mechanism의 계층별 맵을 z_d + 0.125·z5로 다시 합성한 설명용 그림 (캐시 실행, FP32, 실험 결과 아님). 원고의 그림 M3는 linear0125로 재작도 예정(Outline §3.4).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pic>
        <p:nvPicPr>
          <p:cNvPr id="9" name="ContentFigure" descr="fusion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10917936" cy="20253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맵 통합과 고정 사양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사양 │ bag 평균 → 4개 해상도 보간 평균으로 최종 맵을 만들고, 모든 값은 사전에 고정한다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§3.5–3.6, 표 8 (CQ99는 표 8 실행 조건).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120640"/>
                <a:gridCol w="34198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값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비고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백본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 (동결, 약 304M, 패치 14)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층 / 해상도 / Bag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L5 (Shallow), L11·23 (Deep) / 448·672·896·1120 / 4 × 256토큰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모든 query에 고정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척도 분위수 q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0.95 (정상 LSO 거리)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Scale Calibration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Shallow 가중치 λ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0.125 (Layer 5에만)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2-shot seed 0로 선택, 이후 재조정 없음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맵 통합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해상도별 맵을 원본 크기로 bilinear 보간 → 동일 가중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이미지 점수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최종 맵 상위 1% 픽셀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SuperAD·PatchCore I-AUROC 집계와 동일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정밀도 · 용량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FP16 autocast, bank 256토큰 / source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재현성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0·1·2, 고정 support manifest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역전파·파라미터 갱신·테스트 라벨 없음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설정 (표 1·2)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설정 │ 주 비교는 조명 변화가 섞인 MVTec AD 2 test_public 8클래스, 정상 1–16장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Support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 조명 train/good에서 선택 → Shift 1–3 조명은 support에 없던 변화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Seed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비교군은 seed 0–2 평균 ± SD, ScopeAD는 2·16-shot 3-seed, 1·4·8-shot seed 0 단일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지표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AUPRO@0.05(주), pAUROC@0.05, I-AUROC(맵 상위 1% 평균) — 모두 임계값 없이 계산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1–2. 공식 private F1 임계값: support 제외 train/good 8번째 간격 샘플의 pixel p95 × 1.421 (private GT 미사용).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77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2486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Split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이미지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조명 · 레이블 범위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79145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train/good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2,528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anchor="ctr" marL="109728" marR="109728" marT="27432" marB="27432"/>
                </a:tc>
              </a:tr>
              <a:tr h="479145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validation/good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anchor="ctr" marL="109728" marR="109728" marT="27432" marB="27432"/>
                </a:tc>
              </a:tr>
              <a:tr h="479145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test_public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1,084 (379 normal / 705 anomaly)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조명; 라벨 공개 개발 평가</a:t>
                      </a:r>
                    </a:p>
                  </a:txBody>
                  <a:tcPr anchor="ctr" marL="109728" marR="109728" marT="27432" marB="27432"/>
                </a:tc>
              </a:tr>
              <a:tr h="479145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조명; GT 서버 비공개</a:t>
                      </a:r>
                    </a:p>
                  </a:txBody>
                  <a:tcPr anchor="ctr" marL="109728" marR="109728" marT="27432" marB="27432"/>
                </a:tc>
              </a:tr>
              <a:tr h="479145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test_private,mix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대응 장면의 seen/unseen 조명을 무작위 구성; 별도 split, public/private 합집합 아님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비교군 설정 (표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설정 │ 비교군은 유효 입력을 1120으로 바꿔 다시 실행하고, 백본·계층·후처리는 각 방법 설정을 유지한다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같은 support 경로·query·evaluator 사용. RegAD는 공식 STN이 224 고정. FastRecon·RAD는 논문 식의 독립 구현. SuperAD는 공통 support 사용(원 논문은 전체 train coreset). 외부 비교 = 전체 파이프라인 비교. 출처: PaperWorks/outlines/Outline_v18.md §4.1 표 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2651760"/>
                <a:gridCol w="3145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학습 · support fit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/ layers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· 해상도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(Ours, 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bank·scale fitting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448/672/896/1120; 4-scale memory bank;z_d+0.125 z5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memory / coreset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Project DINOv2 ViT-L/14; [23]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(모든 클래스); 기존 입력 672,sheet_metal 448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(paper)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 gradient training; closed-form support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1120, grid 140×140; 기존 입력 368; 15% coreset; λ=0.3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retrieval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ViT-B/16; [3, 6, 9, 11]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Square 1280 → center crop 1120; 기존 설정 512 → 448; global category bank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PCA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DINOv2-with-registers ViT-G/14; [22–28]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Official source-trained registration model; fixed source checkpoint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STN; learned registration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224×224; official positional Gaussian and Mahalanobis scoring; same 2-shot bottle checkpoint for all AD2 shots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4 · Few-shot 주 비교: AUPRO@0.05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1–16 shot 모두 1위, 16-shot 3-seed 60.06 ± 0.88 vs SuperAD 55.89 ± 1.07 (+4.17pp)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격차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비교군 최고값보다 +3.24 ~ +8.50pp, 정상 이미지가 가장 적은 1-shot에서 가장 큼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통계 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ScopeAD 2·16-shot은 3-seed, 1·4·8-shot은 seed 0 단일값 (비교군은 모두 3-seed)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 8-class macro. 비교군 1120 입력 FP32, ScopeAD FP16·4 해상도. RegAD는 224(공식 모델). 표 원본 A-1. 출처: PaperWorks/outlines/Outline_v18.md §4.2 표 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pic>
        <p:nvPicPr>
          <p:cNvPr id="9" name="ContentFigure" descr="t4_aup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43912"/>
            <a:ext cx="10917936" cy="37333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4 · 보조 지표: pAUROC@0.05 · I-AUROC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pAUROC@0.05와 I-AUROC도 모든 shot에서 1위 (16-shot 77.61 / 75.92)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pAUROC@0.05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16-shot SuperAD 74.60 대비 +3.01pp, 1-shot부터 비교군 최고값을 넘음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16-shot 비교군 최고(AnomalyDINO 72.07) 대비 +3.85pp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굵은 선 = ScopeAD, 진한 회색 = SuperAD, 연한 회색 = 나머지 비교군. 표 원본 A-2. 출처: PaperWorks/outlines/Outline_v18.md §4.2 표 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pic>
        <p:nvPicPr>
          <p:cNvPr id="9" name="ContentFigure" descr="t4_au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72512"/>
            <a:ext cx="10917936" cy="345199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5 · MVTec AD · VisA few-shot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I-AUROC는 10개 조건 중 7개 1위, P-AUROC는 최고값과 0.04–1.36pp 이내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2위인 조건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16-shot, VisA 1·2-shot (모두 SuperAD 다음)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P-AUROC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2-shot·VisA 16-shot 1위, 최대 차이는 VisA 1-shot SubspaceAD 98.09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0, MVTec AD 15·VisA 12 클래스 macro, support hash 일치(E9 매니페스트). AnomalyDINO·RAD·SubspaceAD는 1120 입력. FastRecon = DINOv2 기반 프로젝트 변형. linear0125 hash 재감사는 수집 단계 과제. 표 원본 A-3. 출처: PaperWorks/outlines/Outline_v18.md §4.2 표 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pic>
        <p:nvPicPr>
          <p:cNvPr id="9" name="ContentFigure" descr="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06" y="2572512"/>
            <a:ext cx="10382682" cy="35996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5b · MVTec AD · VisA 3-seed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확인 │ 3-seed 평균도 seed 0와 비슷한 수준을 유지한다 (16-shot I-AUROC 98.52 / 95.78)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seed 0 대비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 I-AUROC 98.74 → 3-seed 98.52, VisA 95.99 → 95.78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seed 1·2의 support는 비교군과 짝지어지지 않아 표 5의 비교군과 직접 순위를 매기지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mean ± sample SD, 각 셀 I-AUROC / P-AUROC (%). 출처: PaperWorks/outlines/Outline_v18.md §4.2 표 5b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463040" y="2572512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3566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96.04 ± 0.30 / 97.38 ± 0.04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 ± 0.20 / 98.05 ± 0.00</a:t>
                      </a:r>
                    </a:p>
                  </a:txBody>
                  <a:tcPr anchor="ctr" marL="109728" marR="109728" marT="27432" marB="27432"/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92.38 ± 1.04 / 97.40 ± 0.08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95.78 ± 0.18 / 98.50 ± 0.02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6 · MVTec AD 2 공식 private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참고 │ 공식 private은 아직 이전 게이트 설정 결과이며, linear0125로 재제출해 교체해야 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게이트 설정 결과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AU-PRO 64.80 / 62.49 — full-data 방법과 같은 범위 (데이터 예산이 달라 순위화 안 함)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SegF1 34.84 / 30.68: 고정 임계값(train/good p95 × 1.421) 성능은 낮음 → 임계값 설계가 과제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● TESTpriv, ○ TESTpriv,mix. † Layer 5 β = 0.99 초과 잔차를 더한 이전 설정의 제출 결과(Outline 표 6 캡션). Full-data 행은 원 논문·리더보드 수치. 전체 표 A-4. 출처: PaperWorks/outlines/Outline_v18.md §4.3.1 표 6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pic>
        <p:nvPicPr>
          <p:cNvPr id="9" name="ContentFigure" descr="t6_priv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72512"/>
            <a:ext cx="10917936" cy="3398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그림 2 · 표 7 · 분포 변화 평가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현황 │ 조명 변화(그림 2)와 합성 손상(표 7)은 linear0125로 아직 평가하지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2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기존 그림의 SCARF 선은 게이트 결과라 사용하지 않음 → strata 집계를 켜고 재평가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7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비교군 결과만 확보 — Gaussian noise에서는 PatchCore 74.03이 가장 높음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표 7 비교군 AUPRO@0.05. MVTec AD 15클래스, 16-shot, seed 0, severity 3, support는 깨끗한 이미지. † DINOv2 기반 프로젝트 변형. 표 원본 A-5. 출처: PaperWorks/outlines/Outline_v18.md §4.3.2–4.3.3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pic>
        <p:nvPicPr>
          <p:cNvPr id="9" name="ContentFigure" descr="t7_corru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" y="2618232"/>
            <a:ext cx="10879907" cy="355396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8 · 구성 요소 소거 (AD2 16-shot)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어느 요소를 하나만 바꿔도 Full(59.57)보다 낮고, 해상도와 bank 구조의 영향이 가장 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단일 해상도 −7.56pp로 다해상도 관측의 영향이 가장 큼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결합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단일 bank −2.09pp, 3계층 동일 가중 −1.36pp, MAD 보정 −1.05pp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정규화 생략은 −0.40pp지만 pAUROC@0.05는 +0.19pp → q95의 정규화 생략 대비 이득은 주장하지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동결 DINOv2 ViT-L/14, FP16, 4 해상도, cap256, 4 bags, CQ99, 동일 support. 각 행은 Full에서 한 구성만 바꿈. 단일 seed 개발 비교. 표 원본 A-6. 출처: PaperWorks/outlines/Outline_v18.md §4.4.1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27</a:t>
            </a:r>
          </a:p>
        </p:txBody>
      </p:sp>
      <p:pic>
        <p:nvPicPr>
          <p:cNvPr id="9" name="ContentFigure" descr="t8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60904"/>
            <a:ext cx="10917936" cy="308101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8a · 데이터셋·shot별 구성 소거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세 데이터셋 모든 shot에서 Full이 3계층 동일 가중 평균과 계층 concat보다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계층 concat 대비 (16-shot): AD2 AUPRO +2.09, MVTec AD I-AUROC +0.55, VisA I-AUROC +1.90pp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정규화 생략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AD·VisA I-AUROC는 0.07–1.06pp 높고, AD2 AUPRO는 −0.40 ~ +0.33pp로 엇갈림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 단일값. AD2 1/4/8-shot은 로컬 4090, 2/16-shot Full은 fusion sensitivity 실행의 동일 설정. P-AUROC 포함 표 원본 A-7. 출처: PaperWorks/outlines/Outline_v18.md §4.4.1 표 8a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28</a:t>
            </a:r>
          </a:p>
        </p:txBody>
      </p:sp>
      <p:pic>
        <p:nvPicPr>
          <p:cNvPr id="9" name="ContentFigure" descr="t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72512"/>
            <a:ext cx="10917936" cy="346832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8b · Shallow 가중치 λ 민감도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λ ≥ 0.5에서 AUPRO@0.05가 빠르게 낮아지고, λ = 0.125가 2·16-shot 모두 가장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16-shot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0.125 59.57 → λ = 1 54.02 (−5.55pp) → λ = 2 47.33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선택 절차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2-shot AUPRO만으로 λ를 고른 뒤 16-shot 해석 전에 동결 (개발 평가 사용, post-hoc)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가중치가 얕은 층의 정상 질감 반응이 결합 점수에 섞이는 정도를 정한다는 해석과 일치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d = (z11+z23)/2, s = z5. FP16, 4-scale, cap256, q95, CQ99, seed 0. 표에는 양의 가중치 조건만 제시. 출처: PaperWorks/outlines/Outline_v18.md §4.4.2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29</a:t>
            </a:r>
          </a:p>
        </p:txBody>
      </p:sp>
      <p:pic>
        <p:nvPicPr>
          <p:cNvPr id="9" name="ContentFigure" descr="t8b_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60904"/>
            <a:ext cx="10917936" cy="34457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8c · 8d · 정규화 방식 비교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q95는 MAD보다 모든 shot에서 높지만, 정규화 생략과는 차이가 작고 방향이 엇갈린다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AD2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q95 − MAD AUPRO +0.76 ~ +1.69pp, q95 − none −0.33 ~ +0.40pp (평균 +0.02)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MVTec AD·VisA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q95가 MAD보다 I-AUROC +0.34 ~ +1.60pp, none보다는 0.07 ~ 1.06pp 낮음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주장 범위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단위 정렬은 관측별 bank의 설계 요구, 성능 근거는 "MAD 대비 우위"로만 서술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전체 방법(linear0125)에서 normalization만 바꾼 대조, 4 해상도, cap256, 같은 support, seed 0. 표 원본 A-8. 출처: PaperWorks/outlines/Outline_v18.md §4.4.1 표 8c·8d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30</a:t>
            </a:r>
          </a:p>
        </p:txBody>
      </p:sp>
      <p:pic>
        <p:nvPicPr>
          <p:cNvPr id="9" name="ContentFigure" descr="t8cd_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98" y="2889504"/>
            <a:ext cx="10627499" cy="32826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10a · 10b · 단일 vs 다중 해상도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4개 해상도 결합은 최선의 단일 해상도보다 AUPRO@0.05 +4.95pp(2-shot), +2.10pp(16-shot)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해상도는 높을수록 항상 좋지 않음: 2-shot 최선 = 672, 16-shot 최선 = 1120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MVTec AD·VisA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1120 단일보다 I-AUROC +0.53 ~ +5.27pp, P-AUROC도 네 조건 모두 상승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bank당 cap은 같지만 총 용량은 달라 총 용량 효과는 이 표로 분리하지 않음 (→ 표 10)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seed 0. 1120 대비 2-shot 이득은 +5.06pp. 표 원본 A-9. 출처: PaperWorks/outlines/Outline_v18.md §4.4.3 표 10a·10b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31</a:t>
            </a:r>
          </a:p>
        </p:txBody>
      </p:sp>
      <p:pic>
        <p:nvPicPr>
          <p:cNvPr id="9" name="ContentFigure" descr="t10ab_re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60904"/>
            <a:ext cx="10917936" cy="288099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10 · 총 bank 용량 통제 비교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참고 │ 총 토큰 수를 맞춰도 다해상도가 1120 단일보다 +2.52pp — 단, 이전 게이트 설정의 결과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용량 통제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1120 단일에 토큰을 4배(1024) 줘도 56.63%로 오히려 −0.33pp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이전 비대칭 게이트 설정(E12) 결과 → linear0125로 같은 비교를 다시 실행해 교체 예정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test_public, 16-shot, seed 0, full8, DINOv2 ViT-L/14. E12 resolution control. 표 원본 A-9. 출처: PaperWorks/outlines/Outline_v18.md §4.4.3 표 10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32</a:t>
            </a:r>
          </a:p>
        </p:txBody>
      </p:sp>
      <p:pic>
        <p:nvPicPr>
          <p:cNvPr id="9" name="ContentFigure" descr="t10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18232"/>
            <a:ext cx="10917936" cy="3440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11 · 척도 분위수 q 민감도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q = 0.80 ~ 0.999에서 AUPRO@0.05 변화는 −0.22 ~ +0.04pp로 평탄하다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중앙값 기준(q = 0.5)만 낮음 (−1.11 / −0.55pp), 꼬리확률 변환·토큰별 로컬 척도도 개선 없음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척도 진단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컴포넌트 간 q95 척도 차이 평균 약 1.8배(deep끼리 약 1.4배) → 정렬이 비중을 완만하게 조정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LSO vs LOO-token: AD2 AUPRO 차이 0.12pp 이내 → LSO 선택 자체의 우위는 주장하지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λ = 0.125 고정, seed 0. 변형 행은 표 원본 A-10. 출처: PaperWorks/outlines/Outline_v18.md §4.4.1 LSO 대조, §4.4.4 표 11·척도 진단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33</a:t>
            </a:r>
          </a:p>
        </p:txBody>
      </p:sp>
      <p:pic>
        <p:nvPicPr>
          <p:cNvPr id="9" name="ContentFigure" descr="t11_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99" y="2660904"/>
            <a:ext cx="10853096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논의: 관측 확장과 관측별 결합의 역할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해석 │ 다해상도와 관측별 bank는 다른 단계에서 기여하고, Shallow 가산은 가중치에 민감하다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 확장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최선 단일 해상도 대비 +4.95 / +2.10pp, 용량 통제(게이트 설정)에서도 +2.52pp (31·32쪽)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관측별 결합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세 데이터셋 모든 shot에서 단일 bank보다 높음 (28쪽)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정렬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MAD보다 높지만 정규화 생략과 차이 작음 → 척도 차이가 큰 관측·조건 변화 query에서 확인 (30쪽)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배포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단위 정렬이 query FPR을 정하지 않음 → 조명 조건별 임계값 보정과 검증이 필요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§5.1–5.2, 부록 A.1.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34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206496"/>
            <a:ext cx="10917936" cy="1097280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rIns="182880" tIns="109728" bIns="109728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주장 범위  </a:t>
            </a:r>
            <a:r>
              <a:rPr sz="15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지지(개발 모집단): 관측별 bank &gt; 단일 bank, q95 &gt; MAD, Shallow 기여량 제어 필요, 다해상도 이득, AD2 2·16-shot SuperAD 대비 우위. 미검증: q95의 정규화 생략 대비 이득, linear0125의 private·shift·corruption·계산 비용.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남은 검증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계획 │ 게이트 설정으로 남은 표 6·10을 교체하고, 분포 변화·비용·다중 seed를 채운다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A.1–A.3, §4.4.4 후속 실험 상태, §4.5.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517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다음 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(표 6)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 64.80 / 62.49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linear0125, 같은 support·임계값 절차로 재제출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용량 통제 해상도 비교 (표 10)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multi-scale vs 1120 (cap256 / 1024) 재실행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조명 strata (그림 2)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선 미사용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condition strata 집계를 켜고 재평가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합성 손상 (표 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미실행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15클래스 × 5조건 실행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 (표 12 · 12a)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미계측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파이프라인 재계측 (구성 요소별 시간 포함)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seed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3-seed 완료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seed 1·2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local-center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 (AD2 2·16-shot)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q95·none을 모두 넘는지 확인 후 판단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원고 그림 1 · M3 · 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표기 포함 / 사양만 확정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기준 재작도 (발표용은 캐시 재합성으로 대체)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결론 및 향후 진행 방향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결론 │ 관측을 늘리고 관측별 점수를 맞춰 결합하는 ScopeAD로 AD2 few-shot 국소화 1위를 얻었다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§6, 부록 A.1. 근거 쪽: 관측 확장 31, 결합 27·30, 성능 21, 남은 항목 35.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2926080"/>
                <a:gridCol w="26883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Summary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문제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향후 진행 방향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 확장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해상도 + Shallow / Deep 관측,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대비 +4.95 / +2.10pp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게이트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10 linear0125 재실행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정렬 + λ = 0.125,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등 정렬 방식 검증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± 0.88,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+4.17pp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1·4·8-shot은 seed 0 단일값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seed 완성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 · 배포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(private은 게이트 설정 결과)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private·shift·corruption·비용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· 재평가 · 재계측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결과 표 원본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4 원본: AUPRO@0.05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21쪽 차트의 수치 (AD2 test_public, 8-class macro,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비교군 seed 0–2 mean ± sample SD. ScopeAD 2·16-shot 3-seed, 1·4·8-shot seed 0 단일값(± 없음). 출처: PaperWorks/outlines/Outline_v18.md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3108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4498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38.45 ± 1.85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35.95 ± 2.24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14.92 ± 2.27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26.42 ± 1.71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44.87 ± 1.87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46.31 ± 3.73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 ± 0.38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54.81</a:t>
                      </a:r>
                    </a:p>
                  </a:txBody>
                  <a:tcPr anchor="ctr" marL="109728" marR="109728" marT="27432" marB="27432"/>
                </a:tc>
              </a:tr>
              <a:tr h="54498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42.25 ± 2.08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38.20 ± 1.90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16.73 ± 2.39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31.61 ± 1.47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45.90 ± 0.75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49.80 ± 2.33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 ± 0.30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56.03 ± 2.99</a:t>
                      </a:r>
                    </a:p>
                  </a:txBody>
                  <a:tcPr anchor="ctr" marL="109728" marR="109728" marT="27432" marB="27432"/>
                </a:tc>
              </a:tr>
              <a:tr h="54498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46.94 ± 1.00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40.32 ± 0.75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21.88 ± 1.73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36.51 ± 1.02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47.14 ± 0.76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54.25 ± 0.86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 ± 1.07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58.69</a:t>
                      </a:r>
                    </a:p>
                  </a:txBody>
                  <a:tcPr anchor="ctr" marL="109728" marR="109728" marT="27432" marB="27432"/>
                </a:tc>
              </a:tr>
              <a:tr h="54498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49.98 ± 1.90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41.64 ± 1.01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27.32 ± 0.14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40.79 ± 0.79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47.28 ± 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55.44 ± 1.21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 ± 0.64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58.68</a:t>
                      </a:r>
                    </a:p>
                  </a:txBody>
                  <a:tcPr anchor="ctr" marL="109728" marR="109728" marT="27432" marB="27432"/>
                </a:tc>
              </a:tr>
              <a:tr h="54498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52.73 ± 1.36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42.30 ± 1.25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35.23 ± 0.57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42.58 ± 1.10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47.63 ± 0.14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55.89 ± 1.07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 ± 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60.06 ± 0.88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결과 표 원본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4 원본: pAUROC@0.05 · I-AUROC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22쪽 차트의 수치 (%)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통계량 표기는 A-1과 같음. 출처: PaperWorks/outlines/Outline_v18.md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A-2</a:t>
            </a:r>
          </a:p>
        </p:txBody>
      </p:sp>
      <p:sp>
        <p:nvSpPr>
          <p:cNvPr id="8" name="TableLabel1"/>
          <p:cNvSpPr txBox="1"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pAUROC@0.05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801368"/>
          <a:ext cx="10917936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64.19 ± 0.68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70.67 ± 0.69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55.70 ± 0.67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± 0.35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70.56 ± 0.56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70.13 ± 1.14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 ± 0.30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73.32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65.43 ± 0.38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72.26 ± 0.56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57.14 ± 1.03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61.78 ± 0.15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71.53 ± 0.18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71.52 ± 0.58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 ± 0.49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75.86 ± 0.59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66.90 ± 0.22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73.09 ± 0.91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59.26 ± 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63.84 ± 0.41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72.45 ± 0.20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73.59 ± 0.13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 ± 0.48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76.87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68.22 ± 0.53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73.71 ± 0.20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61.74 ± 0.50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65.62 ± 0.69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72.56 ± 0.21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74.31 ± 0.38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 ± 0.32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77.35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69.36 ± 0.51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73.97 ± 0.23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65.63 ± 0.43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66.62 ± 0.89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72.78 ± 0.07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 ± 0.52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0.76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77.61 ± 0.37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10" name="TableLabel2"/>
          <p:cNvSpPr txBox="1"/>
          <p:nvPr/>
        </p:nvSpPr>
        <p:spPr>
          <a:xfrm>
            <a:off x="640080" y="36941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I-AUROC</a:t>
            </a:r>
          </a:p>
        </p:txBody>
      </p:sp>
      <p:graphicFrame>
        <p:nvGraphicFramePr>
          <p:cNvPr id="11" name="SummaryTable2"/>
          <p:cNvGraphicFramePr>
            <a:graphicFrameLocks noGrp="1"/>
          </p:cNvGraphicFramePr>
          <p:nvPr/>
        </p:nvGraphicFramePr>
        <p:xfrm>
          <a:off x="640080" y="3986784"/>
          <a:ext cx="10917936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65.51 ± 1.91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66.83 ± 1.08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58.10 ± 4.46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± 3.03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67.02 ± 2.27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67.68 ± 0.32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 ± 1.82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74.47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67.53 ± 1.55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68.95 ± 3.84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57.63 ± 6.82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± 2.54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70.42 ± 1.79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 ± 2.16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 ± 3.94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74.93 ± 1.54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68.62 ± 2.28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70.90 ± 0.97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59.73 ± 4.40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62.31 ± 4.84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71.02 ± 0.56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70.97 ± 2.08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 ± 2.34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75.71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69.20 ± 0.75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71.29 ± 1.69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4.29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65.84 ± 0.43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70.75 ± 0.58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 ± 1.05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75.41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69.00 ± 0.53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72.07 ± 1.27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67.45 ± 1.16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67.60 ± 1.35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69.79 ± 0.52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 ± 1.34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75.92 ± 0.82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결과 표 원본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5 원본: MVTec AD · VisA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23쪽 차트의 수치 (각 셀 I-AUROC / P-AUROC, 전체 FPR,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0, support hash 일치 클래스 macro. — = 검증된 결과 없음. 출처: PaperWorks/outlines/Outline_v18.md 표 5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A-3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752"/>
                <a:gridCol w="1184148"/>
                <a:gridCol w="1184148"/>
                <a:gridCol w="1184148"/>
                <a:gridCol w="1184148"/>
                <a:gridCol w="1184148"/>
                <a:gridCol w="1184148"/>
                <a:gridCol w="1184148"/>
                <a:gridCol w="118414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 · 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160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 / 96.22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92.52 / 94.49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 / 96.60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80.83 / 93.25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89.25 /96.92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92.54 / 96.93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</a:tr>
              <a:tr h="4160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 / 97.29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84.15 / 94.27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90.95 / 97.24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 / 97.36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</a:tr>
              <a:tr h="4160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 / 97.37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95.92 / 96.07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95.61 /97.87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85.38 / 94.67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91.35 / 97.16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 / 97.70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</a:tr>
              <a:tr h="4160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96.67 / 96.45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96.76 /98.16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87.85 / 95.29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</a:tr>
              <a:tr h="4160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98.15 / 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97.48 / 96.80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 /98.38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95.61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92.51 / 97.19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98.94 / 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4160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87.06 / 95.62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 / 96.75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72.67 / 95.37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85.44 /98.09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97.06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71.12 / 93.41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</a:tr>
              <a:tr h="4160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 / 96.29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90.64 / 96.63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 /97.43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77.24 / 96.37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92.20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71.59 / 94.59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</a:tr>
              <a:tr h="4160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 / 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91.37 / 97.57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 /97.91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98.02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76.42 / 96.14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</a:tr>
              <a:tr h="4160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 / 97.18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93.11 / 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 / 98.11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94.50 / 98.29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80.19 / 96.64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</a:tr>
              <a:tr h="4160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 / 97.30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93.53 / 98.30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 / 98.32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81.22 / 96.98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결과 표 원본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6 원본: 공식 private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참고 │ Ours 행은 이전 게이트 설정 결과, few-shot 비교군의 private 결과는 아직 없음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TESTpriv / TESTpriv,mix (%). Full-data 행은 원 논문·리더보드 수치. 출처: PaperWorks/outlines/Outline_v18.md 표 6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A-4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9936"/>
                <a:gridCol w="2286000"/>
                <a:gridCol w="228600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Few-shot 비교군 (PatchCore, AnomalyDINO, SuperAD, RAD, SubspaceAD)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게이트 설정)†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64.80 / 62.49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76.38 / 77.52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34.84 / 30.68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 / 25.0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 / 72.9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18.1 / 16.7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RD++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27.1 / 25.2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 / 73.0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 / 16.7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EfficientAD-S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MSFlow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24.3 / 11.9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 / 72.0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 / 9.0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SimpleNet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21.1 / 13.7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 / 77.1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17.7 / 8.7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DSR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20.3 / 17.4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78.0 / 78.0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10.9 / 9.5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RoBiS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결과 표 원본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7 원본: 합성 손상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26쪽 차트의 수치 (각 셀 AUPRO@0.05 / pAUROC@0.05,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15클래스, 16-shot, seed 0, severity 3. — = 미실행. † DINOv2 기반 프로젝트 변형. 출처: PaperWorks/outlines/Outline_v18.md 표 7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1737360"/>
                <a:gridCol w="1737360"/>
                <a:gridCol w="1737360"/>
                <a:gridCol w="1737360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Brightness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Contrast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Defocus blur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Gaussian noise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5491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83.97 / 88.80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83.43 / 88.38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77.15 / 85.27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81.58 / 87.41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74.03 / 83.66</a:t>
                      </a:r>
                    </a:p>
                  </a:txBody>
                  <a:tcPr anchor="ctr" marL="109728" marR="109728" marT="27432" marB="27432"/>
                </a:tc>
              </a:tr>
              <a:tr h="45491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45491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85.74 / 90.82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77.53 / 86.35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69.72 / 84.47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82.35 / 88.90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57.70 / 77.37</a:t>
                      </a:r>
                    </a:p>
                  </a:txBody>
                  <a:tcPr anchor="ctr" marL="109728" marR="109728" marT="27432" marB="27432"/>
                </a:tc>
              </a:tr>
              <a:tr h="45491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45491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45491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84.49 / 89.15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83.68 /88.47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82.27 /87.86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82.17 / 87.74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/ 82.45</a:t>
                      </a:r>
                    </a:p>
                  </a:txBody>
                  <a:tcPr anchor="ctr" marL="109728" marR="109728" marT="27432" marB="27432"/>
                </a:tc>
              </a:tr>
              <a:tr h="45491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45491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결과 표 원본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8 · 8b 원본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27·29쪽 차트의 수치 (AD2 test_public, seed 0,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위: 표 8 (16-shot). 아래: 표 8b (d = deep 평균, s = z5). 출처: PaperWorks/outlines/Outline_v18.md 표 8, 8b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463040"/>
                <a:gridCol w="1371600"/>
                <a:gridCol w="1463040"/>
                <a:gridCol w="1280160"/>
                <a:gridCol w="1280160"/>
                <a:gridCol w="14081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구조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정규화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Shallow 항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w/o Score normalization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없음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−0.40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(c) Equal-weight 3-layer mean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z5를 동일 가중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−1.36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(d) Layer concat (단일 bank)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합친 단일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−2.09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(e) MAD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−1.05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(f) 448 단일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−7.56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graphicFrame>
        <p:nvGraphicFramePr>
          <p:cNvPr id="9" name="SummaryTable2"/>
          <p:cNvGraphicFramePr>
            <a:graphicFrameLocks noGrp="1"/>
          </p:cNvGraphicFramePr>
          <p:nvPr/>
        </p:nvGraphicFramePr>
        <p:xfrm>
          <a:off x="640080" y="3776472"/>
          <a:ext cx="10917936" cy="1709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736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결합 규칙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 d+0.125s (선택된 λ*)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Lineard+0.25s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77.21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Lineard+0.5s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74.04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Lineard+2s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결과 표 원본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8a 원본: 데이터셋·shot별 구성 소거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28쪽 차트의 수치 (AD2 AUPRO / pAUROC, MVTec AD·VisA I-AUROC / P-AUROC,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 단일값. 출처: PaperWorks/outlines/Outline_v18.md 표 8a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A-7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08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2103120"/>
                <a:gridCol w="2103120"/>
                <a:gridCol w="2103120"/>
                <a:gridCol w="20482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 (linear0125)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정규화 생략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3계층 동일 가중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계층 concat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52.39 / 72.09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46.75 / 69.40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 / 74.39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52.12 / 71.97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56.59 / 75.52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54.60 / 73.44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57.36 / 76.25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55.85 / 74.47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 / 76.31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 / 74.80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90.62 / 96.58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89.63 / 96.14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93.30 / 97.17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93.08 / 96.86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95.33 / 97.23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96.66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96.56 / 97.61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98.22 / 97.98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98.19 / 97.79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87.37 / 95.72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86.55 / 94.99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90.08 / 96.25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89.09 / 95.79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91.08 / 96.38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94.46 / 97.50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93.49 / 96.75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94.09 / 97.02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결과 표 원본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8c · 8d 원본: 정규화 방식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30쪽 차트의 수치 (seed 0,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위: 표 8c (MVTec AD·VisA, I-AUROC / P-AUROC). 아래: 표 8d (AD2, AUPRO / pAUROC / I-AUROC). 출처: PaperWorks/outlines/Outline_v18.md 표 8c·8d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A-8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2560320"/>
                <a:gridCol w="2560320"/>
                <a:gridCol w="25968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91.45 / 96.74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94.53 / 97.38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96.15 / 97.69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96.68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98.27 / 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88.58 / 96.35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91.17 / 97.02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93.46 / 97.55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94.63 / 98.00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95.65 / 98.28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graphicFrame>
        <p:nvGraphicFramePr>
          <p:cNvPr id="9" name="SummaryTable2"/>
          <p:cNvGraphicFramePr>
            <a:graphicFrameLocks noGrp="1"/>
          </p:cNvGraphicFramePr>
          <p:nvPr/>
        </p:nvGraphicFramePr>
        <p:xfrm>
          <a:off x="640080" y="4498848"/>
          <a:ext cx="10917936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514600"/>
                <a:gridCol w="2514600"/>
                <a:gridCol w="2514600"/>
                <a:gridCol w="1280160"/>
                <a:gridCol w="12710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 / 74.46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53.59 / 72.73 / 73.95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 / 74.47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+1.22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 / 76.75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58.57 / 76.34 / 75.85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+0.76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57.00 / 76.29 / 74.86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 / 75.71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+1.69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77.67 / 75.70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57.28 / 76.67 / 74.88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 / 75.41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+1.40</a:t>
                      </a:r>
                    </a:p>
                  </a:txBody>
                  <a:tcPr anchor="ctr" marL="109728" marR="109728" marT="27432" marB="2743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 / 75.11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 / 77.17 / 74.45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 / 74.98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+1.05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결과 표 원본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10 · 10a · 10b 원본: 해상도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31·32쪽 차트의 수치 (%)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10은 이전 게이트 설정(E12). 표 10a: AD2 AUPRO / pAUROC. 표 10b: I-AUROC / P-AUROC. seed 0. 출처: PaperWorks/outlines/Outline_v18.md 표 10·10a·10b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A-9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9776"/>
                <a:gridCol w="914400"/>
                <a:gridCol w="1280160"/>
                <a:gridCol w="1097280"/>
                <a:gridCol w="1280160"/>
                <a:gridCol w="1783080"/>
                <a:gridCol w="1783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표 10 (게이트)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토큰/bag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vs 단일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Regular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Shift 1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Multi-scale (448/672/896/1120)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+2.19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61.26 / 77.94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59.40 / 77.34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(단일 최고해상도)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(Base)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59.16 / 75.28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56.89 / 74.98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(용량 일치, capacity-matched)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56.16 / 75.57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graphicFrame>
        <p:nvGraphicFramePr>
          <p:cNvPr id="9" name="SummaryTable2"/>
          <p:cNvGraphicFramePr>
            <a:graphicFrameLocks noGrp="1"/>
          </p:cNvGraphicFramePr>
          <p:nvPr/>
        </p:nvGraphicFramePr>
        <p:xfrm>
          <a:off x="640080" y="2935224"/>
          <a:ext cx="5577840" cy="1709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표 10a (AD2)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51.14 / 75.80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 / 76.52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54.38 / 74.97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55.01 / 76.17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52.65 / 73.46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55.12 / 74.62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54.27 / 72.47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57.47 / 74.86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 (448/672/896/1120)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graphicFrame>
        <p:nvGraphicFramePr>
          <p:cNvPr id="10" name="SummaryTable3"/>
          <p:cNvGraphicFramePr>
            <a:graphicFrameLocks noGrp="1"/>
          </p:cNvGraphicFramePr>
          <p:nvPr/>
        </p:nvGraphicFramePr>
        <p:xfrm>
          <a:off x="6446520" y="2935224"/>
          <a:ext cx="5074920" cy="144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5156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표 10b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94.90 / 96.51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98.21 / 97.49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86.88 / 96.19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94.39 / 97.80</a:t>
                      </a:r>
                    </a:p>
                  </a:txBody>
                  <a:tcPr anchor="ctr" marL="109728" marR="109728" marT="27432" marB="27432"/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결과 표 원본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표 11 원본: 척도 분위수 q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33쪽 차트의 수치 (AD2 AUPRO / pAUROC, seed 0,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λ = 0.125 고정. 출처: PaperWorks/outlines/Outline_v18.md 표 11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286000"/>
                <a:gridCol w="2286000"/>
                <a:gridCol w="2505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척도 분위수 q / 변형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(2 / 16-shot)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3776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58.22 / 75.47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59.03 / 77.15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−1.11 / −0.55</a:t>
                      </a:r>
                    </a:p>
                  </a:txBody>
                  <a:tcPr anchor="ctr" marL="109728" marR="109728" marT="27432" marB="27432"/>
                </a:tc>
              </a:tr>
              <a:tr h="43776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59.56 / 77.53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−0.02</a:t>
                      </a:r>
                    </a:p>
                  </a:txBody>
                  <a:tcPr anchor="ctr" marL="109728" marR="109728" marT="27432" marB="27432"/>
                </a:tc>
              </a:tr>
              <a:tr h="43776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59.29 / 76.42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59.60 / 77.49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−0.04 / +0.03</a:t>
                      </a:r>
                    </a:p>
                  </a:txBody>
                  <a:tcPr anchor="ctr" marL="109728" marR="109728" marT="27432" marB="27432"/>
                </a:tc>
              </a:tr>
              <a:tr h="43776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0.95 (Default)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/ 0.00</a:t>
                      </a:r>
                    </a:p>
                  </a:txBody>
                  <a:tcPr anchor="ctr" marL="109728" marR="109728" marT="27432" marB="27432"/>
                </a:tc>
              </a:tr>
              <a:tr h="43776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+0.04 / −0.02</a:t>
                      </a:r>
                    </a:p>
                  </a:txBody>
                  <a:tcPr anchor="ctr" marL="109728" marR="109728" marT="27432" marB="27432"/>
                </a:tc>
              </a:tr>
              <a:tr h="43776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77.26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−0.13 / −0.02</a:t>
                      </a:r>
                    </a:p>
                  </a:txBody>
                  <a:tcPr anchor="ctr" marL="109728" marR="109728" marT="27432" marB="27432"/>
                </a:tc>
              </a:tr>
              <a:tr h="43776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꼬리 확률 변환(−log 생존확률), q=0.95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59.25 / 77.14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−0.32</a:t>
                      </a:r>
                    </a:p>
                  </a:txBody>
                  <a:tcPr anchor="ctr" marL="109728" marR="109728" marT="27432" marB="27432"/>
                </a:tc>
              </a:tr>
              <a:tr h="43776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토큰별 로컬 척도(local_reliability=scale)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52.34 / 75.33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57.46 / 78.03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−6.99 / −2.11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82528</TotalTime>
  <Words>22384</Words>
  <Application>Microsoft Macintosh PowerPoint</Application>
  <PresentationFormat>와이드스크린</PresentationFormat>
  <Paragraphs>2621</Paragraphs>
  <Slides>108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4" baseType="lpstr">
      <vt:lpstr>NanumSquareOTF_ac ExtraBold</vt:lpstr>
      <vt:lpstr>Arial</vt:lpstr>
      <vt:lpstr>NanumSquareOTF_ac Bold</vt:lpstr>
      <vt:lpstr>Wingdings</vt:lpstr>
      <vt:lpstr>NanumSquareOTF_ac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2026-10-06 ETRI 외부회의</dc:title>
  <dc:creator>강 형원</dc:creator>
  <cp:lastModifiedBy>임훈</cp:lastModifiedBy>
  <cp:revision>3164</cp:revision>
  <cp:lastPrinted>2025-06-23T01:58:10Z</cp:lastPrinted>
  <dcterms:created xsi:type="dcterms:W3CDTF">2021-02-06T07:11:19Z</dcterms:created>
  <dcterms:modified xsi:type="dcterms:W3CDTF">2026-10-02T09:24:21Z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