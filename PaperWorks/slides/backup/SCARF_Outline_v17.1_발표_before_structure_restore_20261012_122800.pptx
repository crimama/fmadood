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와 요약" id="{5E803ED9-FD3F-47AF-820E-1C4927B32D6F}">
          <p14:sldIdLst>
            <p14:sldId id="256"/>
            <p14:sldId id="257"/>
            <p14:sldId id="258"/>
          </p14:sldIdLst>
        </p14:section>
        <p14:section name="01. 문제와 설계" id="{ABA1DCF0-ED3D-473A-9F22-6A54878448D8}">
          <p14:sldIdLst>
            <p14:sldId id="259"/>
            <p14:sldId id="260"/>
            <p14:sldId id="261"/>
          </p14:sldIdLst>
        </p14:section>
        <p14:section name="02. 방법" id="{36270971-E0B7-4AE7-9BB4-F6BC36A9849B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3. 실험 결과" id="{AD9A6520-2EA3-4FC8-97BE-D5DC34B54D9D}">
          <p14:sldIdLst>
            <p14:sldId id="268"/>
            <p14:sldId id="269"/>
            <p14:sldId id="270"/>
            <p14:sldId id="271"/>
          </p14:sldIdLst>
        </p14:section>
        <p14:section name="04. 소거와 보정 분석" id="{10398562-5E47-4E10-A54A-EC51918C246E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5. 결론과 다음 검증" id="{C86C787A-7DE7-4ADD-AD3F-BD83CBEAC28F}">
          <p14:sldIdLst>
            <p14:sldId id="278"/>
            <p14:sldId id="279"/>
            <p14:sldId id="280"/>
            <p14:sldId id="281"/>
          </p14:sldIdLst>
        </p14:section>
        <p14:section name="Appendix A. 상세 결과와 설정" id="{722EF67C-41E1-490E-9649-E511B78EE52D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54.81</c:v>
                </c:pt>
                <c:pt idx="1">
                  <c:v>56.03</c:v>
                </c:pt>
                <c:pt idx="2">
                  <c:v>58.69</c:v>
                </c:pt>
                <c:pt idx="3">
                  <c:v>58.68</c:v>
                </c:pt>
                <c:pt idx="4">
                  <c:v>60.06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46.31</c:v>
                </c:pt>
                <c:pt idx="1">
                  <c:v>49.8</c:v>
                </c:pt>
                <c:pt idx="2">
                  <c:v>54.25</c:v>
                </c:pt>
                <c:pt idx="3">
                  <c:v>55.44</c:v>
                </c:pt>
                <c:pt idx="4">
                  <c:v>55.89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PatchCore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38.45</c:v>
                </c:pt>
                <c:pt idx="1">
                  <c:v>42.25</c:v>
                </c:pt>
                <c:pt idx="2">
                  <c:v>46.94</c:v>
                </c:pt>
                <c:pt idx="3">
                  <c:v>49.98</c:v>
                </c:pt>
                <c:pt idx="4">
                  <c:v>52.73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SubspaceAD</c:v>
                </c:pt>
              </c:strCache>
            </c:strRef>
          </c:tx>
          <c:spPr>
            <a:solidFill>
              <a:srgbClr val="7D729A"/>
            </a:solidFill>
            <a:ln w="22225">
              <a:solidFill>
                <a:srgbClr val="7D729A"/>
              </a:solidFill>
            </a:ln>
          </c:spPr>
          <c:marker>
            <c:symbol val="circle"/>
            <c:size val="6"/>
            <c:spPr>
              <a:solidFill>
                <a:srgbClr val="7D729A"/>
              </a:solidFill>
              <a:ln>
                <a:solidFill>
                  <a:srgbClr val="7D729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44.87</c:v>
                </c:pt>
                <c:pt idx="1">
                  <c:v>45.9</c:v>
                </c:pt>
                <c:pt idx="2">
                  <c:v>47.14</c:v>
                </c:pt>
                <c:pt idx="3">
                  <c:v>47.28</c:v>
                </c:pt>
                <c:pt idx="4">
                  <c:v>47.63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AnomalyDINO</c:v>
                </c:pt>
              </c:strCache>
            </c:strRef>
          </c:tx>
          <c:spPr>
            <a:solidFill>
              <a:srgbClr val="8593A4"/>
            </a:solidFill>
            <a:ln w="22225">
              <a:solidFill>
                <a:srgbClr val="8593A4"/>
              </a:solidFill>
            </a:ln>
          </c:spPr>
          <c:marker>
            <c:symbol val="circle"/>
            <c:size val="6"/>
            <c:spPr>
              <a:solidFill>
                <a:srgbClr val="8593A4"/>
              </a:solidFill>
              <a:ln>
                <a:solidFill>
                  <a:srgbClr val="8593A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35.95</c:v>
                </c:pt>
                <c:pt idx="1">
                  <c:v>38.2</c:v>
                </c:pt>
                <c:pt idx="2">
                  <c:v>40.32</c:v>
                </c:pt>
                <c:pt idx="3">
                  <c:v>41.64</c:v>
                </c:pt>
                <c:pt idx="4">
                  <c:v>42.3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  <c:min val="30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92.76</c:v>
                </c:pt>
                <c:pt idx="1">
                  <c:v>96.13</c:v>
                </c:pt>
                <c:pt idx="2">
                  <c:v>96.99</c:v>
                </c:pt>
                <c:pt idx="3">
                  <c:v>97.6</c:v>
                </c:pt>
                <c:pt idx="4">
                  <c:v>98.74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92.54</c:v>
                </c:pt>
                <c:pt idx="1">
                  <c:v>95.43</c:v>
                </c:pt>
                <c:pt idx="2">
                  <c:v>96.65</c:v>
                </c:pt>
                <c:pt idx="3">
                  <c:v>97.39</c:v>
                </c:pt>
                <c:pt idx="4">
                  <c:v>98.94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89.88</c:v>
                </c:pt>
                <c:pt idx="1">
                  <c:v>92.15</c:v>
                </c:pt>
                <c:pt idx="2">
                  <c:v>94.19</c:v>
                </c:pt>
                <c:pt idx="3">
                  <c:v>95.01</c:v>
                </c:pt>
                <c:pt idx="4">
                  <c:v>95.99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SuperAD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90.29</c:v>
                </c:pt>
                <c:pt idx="1">
                  <c:v>92.2</c:v>
                </c:pt>
                <c:pt idx="2">
                  <c:v>92.94</c:v>
                </c:pt>
                <c:pt idx="3">
                  <c:v>94.5</c:v>
                </c:pt>
                <c:pt idx="4">
                  <c:v>95.19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2-shot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448</c:v>
                </c:pt>
                <c:pt idx="1">
                  <c:v>672</c:v>
                </c:pt>
                <c:pt idx="2">
                  <c:v>896</c:v>
                </c:pt>
                <c:pt idx="3">
                  <c:v>1120</c:v>
                </c:pt>
                <c:pt idx="4">
                  <c:v>4-scale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51.14</c:v>
                </c:pt>
                <c:pt idx="1">
                  <c:v>54.38</c:v>
                </c:pt>
                <c:pt idx="2">
                  <c:v>52.65</c:v>
                </c:pt>
                <c:pt idx="3">
                  <c:v>54.27</c:v>
                </c:pt>
                <c:pt idx="4">
                  <c:v>59.33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16-shot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448</c:v>
                </c:pt>
                <c:pt idx="1">
                  <c:v>672</c:v>
                </c:pt>
                <c:pt idx="2">
                  <c:v>896</c:v>
                </c:pt>
                <c:pt idx="3">
                  <c:v>1120</c:v>
                </c:pt>
                <c:pt idx="4">
                  <c:v>4-scale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52.01</c:v>
                </c:pt>
                <c:pt idx="1">
                  <c:v>55.01</c:v>
                </c:pt>
                <c:pt idx="2">
                  <c:v>55.12</c:v>
                </c:pt>
                <c:pt idx="3">
                  <c:v>57.47</c:v>
                </c:pt>
                <c:pt idx="4">
                  <c:v>59.57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2.0"/>
          <c:min val="48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2-shot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0.125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59.33</c:v>
                </c:pt>
                <c:pt idx="1">
                  <c:v>58.43</c:v>
                </c:pt>
                <c:pt idx="2">
                  <c:v>54.92</c:v>
                </c:pt>
                <c:pt idx="3">
                  <c:v>48.39</c:v>
                </c:pt>
                <c:pt idx="4">
                  <c:v>40.48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16-shot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0.125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59.57</c:v>
                </c:pt>
                <c:pt idx="1">
                  <c:v>59.48</c:v>
                </c:pt>
                <c:pt idx="2">
                  <c:v>58.21</c:v>
                </c:pt>
                <c:pt idx="3">
                  <c:v>54.02</c:v>
                </c:pt>
                <c:pt idx="4">
                  <c:v>47.33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  <c:min val="35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q95</c:v>
                </c:pt>
              </c:strCache>
            </c:strRef>
          </c:tx>
          <c:spPr>
            <a:solidFill>
              <a:srgbClr val="163866"/>
            </a:solidFill>
            <a:ln w="31750">
              <a:solidFill>
                <a:srgbClr val="163866"/>
              </a:solidFill>
            </a:ln>
          </c:spPr>
          <c:marker>
            <c:symbol val="circle"/>
            <c:size val="6"/>
            <c:spPr>
              <a:solidFill>
                <a:srgbClr val="163866"/>
              </a:solidFill>
              <a:ln>
                <a:solidFill>
                  <a:srgbClr val="16386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54.81</c:v>
                </c:pt>
                <c:pt idx="1">
                  <c:v>59.33</c:v>
                </c:pt>
                <c:pt idx="2">
                  <c:v>58.69</c:v>
                </c:pt>
                <c:pt idx="3">
                  <c:v>58.68</c:v>
                </c:pt>
                <c:pt idx="4">
                  <c:v>59.57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B45D42"/>
            </a:solidFill>
            <a:ln w="22225">
              <a:solidFill>
                <a:srgbClr val="B45D42"/>
              </a:solidFill>
            </a:ln>
          </c:spPr>
          <c:marker>
            <c:symbol val="circle"/>
            <c:size val="6"/>
            <c:spPr>
              <a:solidFill>
                <a:srgbClr val="B45D42"/>
              </a:solidFill>
              <a:ln>
                <a:solidFill>
                  <a:srgbClr val="B45D4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55.06</c:v>
                </c:pt>
                <c:pt idx="1">
                  <c:v>59.06</c:v>
                </c:pt>
                <c:pt idx="2">
                  <c:v>59.02</c:v>
                </c:pt>
                <c:pt idx="3">
                  <c:v>58.69</c:v>
                </c:pt>
                <c:pt idx="4">
                  <c:v>59.17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MAD</c:v>
                </c:pt>
              </c:strCache>
            </c:strRef>
          </c:tx>
          <c:spPr>
            <a:solidFill>
              <a:srgbClr val="508C91"/>
            </a:solidFill>
            <a:ln w="22225">
              <a:solidFill>
                <a:srgbClr val="508C91"/>
              </a:solidFill>
            </a:ln>
          </c:spPr>
          <c:marker>
            <c:symbol val="circle"/>
            <c:size val="6"/>
            <c:spPr>
              <a:solidFill>
                <a:srgbClr val="508C91"/>
              </a:solidFill>
              <a:ln>
                <a:solidFill>
                  <a:srgbClr val="508C9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53.59</c:v>
                </c:pt>
                <c:pt idx="1">
                  <c:v>58.57</c:v>
                </c:pt>
                <c:pt idx="2">
                  <c:v>57.0</c:v>
                </c:pt>
                <c:pt idx="3">
                  <c:v>57.28</c:v>
                </c:pt>
                <c:pt idx="4">
                  <c:v>58.52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1.0"/>
          <c:min val="52.0"/>
        </c:scaling>
        <c:delete val="0"/>
        <c:axPos val="l"/>
        <c:majorGridlines>
          <c:spPr>
            <a:ln>
              <a:solidFill>
                <a:srgbClr val="E4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>
                    <a:latin typeface="NanumSquareOTF_ac"/>
                  </a:rPr>
                  <a:t>AUPRO@0.05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F6B7A"/>
                </a:solidFill>
                <a:latin typeface="NanumSquareOTF_a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NanumSquareOTF_a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Outline_v17.1.md 기준. 기존 SCARF 약어의 Asymmetric 표현은 방법 변경 후 재검토 대상이므로 영문 확장명을 표지에 사용하지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4: 정상 이미지 수는 그대로, 관측 축을 늘린다</a:t>
            </a:r>
          </a:p>
          <a:p>
            <a:r>
              <a:t>문제 │ 소수 정상 reference로 미세 결함과 정상 변동을 구분해야 한다</a:t>
            </a:r>
          </a:p>
          <a:p>
            <a:r>
              <a:t>동결 백본으로 정상 패치와 query 패치를 비교한다.</a:t>
            </a:r>
          </a:p>
          <a:p>
            <a:r>
              <a:t>다해상도·다계층 관측은 같은 이미지의 다른 단서를 제공한다.</a:t>
            </a:r>
          </a:p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5: 관측마다 bank와 거리 맵을 유지한다</a:t>
            </a:r>
          </a:p>
          <a:p>
            <a:r>
              <a:t>구조 │ 특징을 먼저 합치는 대신, 각 관측의 점수를 마지막에 결합한다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11: Shallow를 고정 가중치 0.125로 더한다</a:t>
            </a:r>
          </a:p>
          <a:p>
            <a:r>
              <a:t>결합 │ 계층별 점수 맵을 유지한 뒤 선형 가산한다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2: 관측 확장에서 성능 검증까지</a:t>
            </a:r>
          </a:p>
          <a:p>
            <a:r>
              <a:t>흐름 │ 설계 → 전체 방법 → 주 비교 → 보정의 한계 → 다음 검증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3: 전체 방법은 강하고, 보정 기여는 남아 있다</a:t>
            </a:r>
          </a:p>
          <a:p>
            <a:r>
              <a:t>요약 │ AD2 성능과 관측별 bank의 근거를 중심으로 정리한다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6: 단위 정렬의 동기와 성능 기여를 구분한다</a:t>
            </a:r>
          </a:p>
          <a:p>
            <a:r>
              <a:t>해석 │ 정상 support를 기준으로 거리의 상대 단위를 정의한다</a:t>
            </a:r>
          </a:p>
          <a:p>
            <a:r>
              <a:t>계층·해상도별 거리 크기는 서로 다를 수 있다.</a:t>
            </a:r>
          </a:p>
          <a:p>
            <a:r>
              <a:t>q95는 각 bank의 정상 거리 기준점을 1로 맞추는 연산이다.</a:t>
            </a:r>
          </a:p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7: 정상 support에서 bank와 척도를 한 번 만든다</a:t>
            </a:r>
          </a:p>
          <a:p>
            <a:r>
              <a:t>피팅 │ 동결 백본의 특징과 정상 거리만 사용한다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8: Query는 보정된 점수 맵으로 결합한다</a:t>
            </a:r>
          </a:p>
          <a:p>
            <a:r>
              <a:t>추론 │ 특징 추출 → 거리 → 보정 → 계층 결합 → 공간 평균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9: 48개 bank가 관측 조건을 분리한다</a:t>
            </a:r>
          </a:p>
          <a:p>
            <a:r>
              <a:t>규격 │ 3개 계층 × 4개 해상도 × 4개 bag</a:t>
            </a:r>
          </a:p>
          <a:p>
            <a:r>
              <a:t>Cap256은 이미지당·해상도당·bag당 추출하는 토큰 수다.</a:t>
            </a:r>
          </a:p>
          <a:p>
            <a:r>
              <a:t>16-shot의 한 컴포넌트 bank는 4,096개 토큰으로 구성된다.</a:t>
            </a:r>
          </a:p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10: q95는 정상 거리의 단위를 맞춘다</a:t>
            </a:r>
          </a:p>
          <a:p>
            <a:r>
              <a:t>정의 │ LSO 정상 거리의 95% 분위수를 컴포넌트 척도로 사용한다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12: 공간 평균과 상위 1% 점수로 평가한다</a:t>
            </a:r>
          </a:p>
          <a:p>
            <a:r>
              <a:t>출력 │ 해상도별 맵을 원본 크기로 보간한 뒤 동일 가중 평균한다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13: AD2 저-FPR 국소화를 주 평가로 둔다</a:t>
            </a:r>
          </a:p>
          <a:p>
            <a:r>
              <a:t>평가 │ 데이터셋별 지표와 seed 범위를 구분해 읽는다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14: AD2 16-shot AUPRO는 60.06 ± 0.88이다</a:t>
            </a:r>
          </a:p>
          <a:p>
            <a:r>
              <a:t>주 결과 │ SuperAD 3-seed 평균 55.89 대비 +4.17pp</a:t>
            </a:r>
          </a:p>
          <a:p>
            <a:r>
              <a:t>2-shot도 3-seed 평균 56.03 ± 2.99이며, SuperAD 대비 +6.23pp다.</a:t>
            </a:r>
          </a:p>
          <a:p>
            <a:r>
              <a:t>AUPRO@0.05 (%) · Ours 2·16-shot만 3-seed, 나머지는 seed 0 · 비교군 3-seed · 표 4</a:t>
            </a:r>
          </a:p>
          <a:p>
            <a:r>
              <a:t>표 4. Ours FP16 4-scale, 비교군 FP32. Backbone·관측 수·계산량이 다른 전체 파이프라인 비교다.</a:t>
            </a:r>
          </a:p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15: MVTec AD·VisA의 우위는 지표별로 다르다</a:t>
            </a:r>
          </a:p>
          <a:p>
            <a:r>
              <a:t>범위 │ MVTec AD 고-shot pixel 지표와 VisA 저-shot에서는 비교군이 앞선다</a:t>
            </a:r>
          </a:p>
          <a:p>
            <a:r>
              <a:t>VisA 16-shot에서는 Ours I/P-AUROC가 95.99 / 98.49로 표의 최고값이다.</a:t>
            </a:r>
          </a:p>
          <a:p>
            <a:r>
              <a:t>Seed 0 · I-AUROC / P-AUROC 전체 구간 (%) · 표 5 · 각 방법 설정 상이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16: 2·16-shot의 전체 방법은 3-seed를 확보했다</a:t>
            </a:r>
          </a:p>
          <a:p>
            <a:r>
              <a:t>변동 │ AD2 2-shot은 16-shot보다 seed 간 편차가 크다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17: 별도 bank는 계층 concat보다 높았다</a:t>
            </a:r>
          </a:p>
          <a:p>
            <a:r>
              <a:t>구조 근거 │ AD2 16-shot AUPRO +2.09pp · VisA I-AUROC +1.90pp</a:t>
            </a:r>
          </a:p>
          <a:p>
            <a:r>
              <a:t>같은 float 수·cosine 거리의 계층 concat 대조와 비교한 seed 0 결과다.</a:t>
            </a:r>
          </a:p>
          <a:p>
            <a:r>
              <a:t>표 8a · AD2 AUPRO@.05, MVTec AD/VisA I-AUROC (%) · seed 0 개발 비교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18: 다해상도는 최선 단일보다 AUPRO가 높았다</a:t>
            </a:r>
          </a:p>
          <a:p>
            <a:r>
              <a:t>AD2 │ 2-shot +4.95pp · 16-shot +2.10pp</a:t>
            </a:r>
          </a:p>
          <a:p>
            <a:r>
              <a:t>각 bank의 cap은 같지만 총 bank 용량은 달라, 용량 효과를 분리한 비교는 아니다.</a:t>
            </a:r>
          </a:p>
          <a:p>
            <a:r>
              <a:t>표 10 · linear0125 · q95 · FP16 · seed 0 · AUPRO@0.05 (%)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19: 다해상도 이득은 MVTec AD·VisA에서도 보인다</a:t>
            </a:r>
          </a:p>
          <a:p>
            <a:r>
              <a:t>해상도 │ 두 데이터셋·두 shot의 I/P-AUROC가 모두 상승했다</a:t>
            </a:r>
          </a:p>
          <a:p/>
          <a:p>
            <a:r>
              <a:t>표 10b · I-AUROC / P-AUROC (%) · seed 0 · 총 bank 용량 차이 포함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20: 큰 shallow 가중치는 AD2 성능을 낮춘다</a:t>
            </a:r>
          </a:p>
          <a:p>
            <a:r>
              <a:t>민감도 │ λ=0.125를 개발 평가로 선택하고 다른 데이터셋에도 고정했다</a:t>
            </a:r>
          </a:p>
          <a:p>
            <a:r>
              <a:t>2-shot seed 0의 AUPRO로 선택한 post-hoc 설정이며, 일반적 최적값으로 주장하지 않는다.</a:t>
            </a:r>
          </a:p>
          <a:p>
            <a:r>
              <a:t>표 8b · q95 · FP16 · seed 0 · 양의 가중치 조건 · 후보 전체는 발표자 노트에 기록</a:t>
            </a:r>
          </a:p>
          <a:p>
            <a:r>
              <a:t>λ 후보: {0, 0.125, 0.25, 0.5, 1, 2}. 표에는 양의 가중치만 표시. AD2 public 2-shot에서 선택 후 동결.</a:t>
            </a:r>
          </a:p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21: q95의 none 대비 성능 기여는 확인되지 않았다</a:t>
            </a:r>
          </a:p>
          <a:p>
            <a:r>
              <a:t>보정 │ AD2 AUPRO 차이는 −0.33~+0.40pp로 방향이 엇갈린다</a:t>
            </a:r>
          </a:p>
          <a:p>
            <a:r>
              <a:t>q95는 MAD보다 높지만, 보정을 제거한 none보다 일관되게 높지는 않다.</a:t>
            </a:r>
          </a:p>
          <a:p>
            <a:r>
              <a:t>MVTec AD·VisA의 I-AUROC도 q95가 none보다 0.07~1.06pp 낮다.</a:t>
            </a:r>
          </a:p>
          <a:p>
            <a:r>
              <a:t>표 8d · 전체 방법에서 normalization만 변경 · seed 0 · AUPRO@0.05 (%)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22: 분위수 변경만으로는 개선이 충분하지 않았다</a:t>
            </a:r>
          </a:p>
          <a:p>
            <a:r>
              <a:t>진단 │ q=0.80~0.999에서 AUPRO 변화는 −0.22~+0.04pp다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23: 다음 보정은 정상 거리의 국소 중심을 다룬다</a:t>
            </a:r>
          </a:p>
          <a:p>
            <a:r>
              <a:t>후속 │ Local-center는 bank별 단위 보정을 유지하며 거리 수준을 보정한다</a:t>
            </a:r>
          </a:p>
          <a:p>
            <a:r>
              <a:t>가까운 정상 support의 거리 수준과 전체 평균의 차이를 query 거리에서 뺀다.</a:t>
            </a:r>
          </a:p>
          <a:p>
            <a:r>
              <a:t>강도 0.25 / 0.5를 q95·none과 동일 조건으로 비교한다.</a:t>
            </a:r>
          </a:p>
          <a:p>
            <a:r>
              <a:t>출처: Outline_v17.1.md · 2026-10-12 · linear0125 · 개발 평가</a:t>
            </a:r>
          </a:p>
          <a:p>
            <a:r>
              <a:t>configs/benchmarks/scarf_local_center_fp16_20261012/PROTOCOL.md. Outline 기록 시점 기준 최종 결과 미확정. 라이브 진행률을 반영한 슬라이드가 아니다.</a:t>
            </a:r>
          </a:p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24: 현재 주장할 수 있는 범위를 명확히 한다</a:t>
            </a:r>
          </a:p>
          <a:p>
            <a:r>
              <a:t>논리 │ 관측 확장·bank 구조를 중심으로, 보정 효과는 별도로 검증한다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25: 보정 검증 이후 남은 평가를 마무리한다</a:t>
            </a:r>
          </a:p>
          <a:p>
            <a:r>
              <a:t>계획 │ 현재 방법 설정으로 확보하지 않은 결과는 비워 둔다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26: 성능 근거는 확보했고, 보정 기여가 다음 과제다</a:t>
            </a:r>
          </a:p>
          <a:p>
            <a:r>
              <a:t>결론 │ AD2 중심의 전체 방법과 관측별 bank 구조를 우선 근거로 삼는다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27: AD2 상세 결과 · AUPRO@0.05</a:t>
            </a:r>
          </a:p>
          <a:p>
            <a:r>
              <a:t>표 4 │ 비교군 3-seed · Ours 2·16-shot 3-seed, 나머지는 seed 0</a:t>
            </a:r>
          </a:p>
          <a:p/>
          <a:p>
            <a:r>
              <a:t>단위 % · mean ± sample SD · RegAD 입력 224 · Ours FP16 4-scale, 나머지 FP32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  <a:p>
            <a:r>
              <a:t>각 shot 최고 평균은 굵게, 차상위 평균은 밑줄. 1/4/8-shot Ours는 단일 seed이므로 순위는 동일 통계량 비교가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28: AD2 상세 결과 · pAUROC@0.05</a:t>
            </a:r>
          </a:p>
          <a:p>
            <a:r>
              <a:t>표 4 │ 비교군 3-seed · Ours 2·16-shot 3-seed, 나머지는 seed 0</a:t>
            </a:r>
          </a:p>
          <a:p/>
          <a:p>
            <a:r>
              <a:t>단위 % · mean ± sample SD · RegAD 입력 224 · Ours FP16 4-scale, 나머지 FP32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  <a:p>
            <a:r>
              <a:t>각 shot 최고 평균은 굵게, 차상위 평균은 밑줄. 1/4/8-shot Ours는 단일 seed이므로 순위는 동일 통계량 비교가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29: AD2 상세 결과 · I-AUROC</a:t>
            </a:r>
          </a:p>
          <a:p>
            <a:r>
              <a:t>표 4 │ 비교군 3-seed · Ours 2·16-shot 3-seed, 나머지는 seed 0</a:t>
            </a:r>
          </a:p>
          <a:p/>
          <a:p>
            <a:r>
              <a:t>단위 % · mean ± sample SD · RegAD 입력 224 · Ours FP16 4-scale, 나머지 FP32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  <a:p>
            <a:r>
              <a:t>각 shot 최고 평균은 굵게, 차상위 평균은 밑줄. 1/4/8-shot Ours는 단일 seed이므로 순위는 동일 통계량 비교가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30: AD2 비교군은 최대 입력을 맞춘 설정이다</a:t>
            </a:r>
          </a:p>
          <a:p>
            <a:r>
              <a:t>표 3 │ Backbone·관측 수·정밀도는 달라 전체 파이프라인 비교로 해석한다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  <a:p>
            <a:r>
              <a:t>FastRecon/RAD 독립 재구현. SuperAD는 원 논문 reference 선택과 달리 공통 support 사용. 표 5의 E9 FastRecon DINOv2 변형과 표 4의 ResNet-50 설정을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31: MVTec AD 상세 결과 · I / P-AUROC</a:t>
            </a:r>
          </a:p>
          <a:p>
            <a:r>
              <a:t>표 5 │ 모든 셀 seed 0 단일값 · P-AUROC는 전체 FPR 구간</a:t>
            </a:r>
          </a:p>
          <a:p/>
          <a:p>
            <a:r>
              <a:t>단위 % · E9 기존 설정과 신규 1120 설정 혼재 · linear0125 support hash 재감사 필요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  <a:p>
            <a:r>
              <a:t>표 5: PatchCore/SuperAD/FastRecon은 E9 설정. 신규 AnomalyDINO/RAD/SubspaceAD는1120. FastRecon은 DINOv2 프로젝트 변형. 모든 비교가 동일 입력이라는 주장은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32: VisA 상세 결과 · I / P-AUROC</a:t>
            </a:r>
          </a:p>
          <a:p>
            <a:r>
              <a:t>표 5 │ 모든 셀 seed 0 단일값 · P-AUROC는 전체 FPR 구간</a:t>
            </a:r>
          </a:p>
          <a:p/>
          <a:p>
            <a:r>
              <a:t>단위 % · E9 기존 설정과 신규 1120 설정 혼재 · linear0125 support hash 재감사 필요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  <a:p>
            <a:r>
              <a:t>표 5: PatchCore/SuperAD/FastRecon은 E9 설정. 신규 AnomalyDINO/RAD/SubspaceAD는1120. FastRecon은 DINOv2 프로젝트 변형. 모든 비교가 동일 입력이라는 주장은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33: AD2 보정 factorial · 전체 방법</a:t>
            </a:r>
          </a:p>
          <a:p>
            <a:r>
              <a:t>표 8d │ Normalization만 변경 · 각 셀 AUPRO / pAUROC / I-AUROC</a:t>
            </a:r>
          </a:p>
          <a:p/>
          <a:p>
            <a:r>
              <a:t>단위 % · AD2 seed 0 full8 · q95의 none 대비 일관된 성능 이득 없음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34: 분위수와 보정 변형 상세 결과</a:t>
            </a:r>
          </a:p>
          <a:p>
            <a:r>
              <a:t>표 11 │ AD2 2·16-shot, seed 0 · 각 셀 AUPRO / pAUROC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문서: PaperWorks/outlines/Outline_v17.1.md</a:t>
            </a:r>
          </a:p>
          <a:p>
            <a:r>
              <a:t>슬라이드 35: 재현 설정과 결과의 경계를 고정한다</a:t>
            </a:r>
          </a:p>
          <a:p>
            <a:r>
              <a:t>규격 │ 같은 설정의 linear0125 결과만 현재 방법의 근거로 사용한다</a:t>
            </a:r>
          </a:p>
          <a:p/>
          <a:p>
            <a:r>
              <a:t>출처: Outline_v17.1.md · 2026-10-12 · linear0125 · 개발 평가</a:t>
            </a:r>
          </a:p>
          <a:p/>
          <a:p>
            <a:r>
              <a:t>모든 결과는 이미 개발에 사용한 모집단의 평가다. 이전 게이트 결과를 현재 방법의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4.xml"/><Relationship Id="rId5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5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8.xml"/><Relationship Id="rId5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0.xml"/><Relationship Id="rId5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1.xml"/><Relationship Id="rId5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관측별 Memory Bank와 Support 기반 점수 정렬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Few-shot 산업 이상 국소화 · linear0125 설정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160520"/>
            <a:ext cx="10515600" cy="0"/>
          </a:xfrm>
          <a:prstGeom prst="line">
            <a:avLst/>
          </a:prstGeom>
          <a:ln w="12700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v17.1 발표  ·  2026-10-12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AD2 중심 성능 검증과 score calibration 후속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확장에서 성능 검증까지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흐름 │ 설계 → 전체 방법 → 주 비교 → 보정의 한계 → 다음 검증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 문제와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1168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같은 이미지에서 공간·계층 관측을 늘리는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4320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별도 bank → support q95 → 고정 선형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47472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AD2 주 비교 · MVTec AD/VisA · 3-seed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 소거와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20624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Bank 구조 · 해상도 ·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 다음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93776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보정 기여 확보와 아직 남은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전체 방법은 강하고, 보정 기여는 남아 있다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 │ AD2 성능과 관측별 bank의 근거를 중심으로 정리한다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2880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937760"/>
                <a:gridCol w="3968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해석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전체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16-shot: 60.06 ± 0.88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3-seed AUPRO@0.05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Bank 구조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Concat 대비 +2.09pp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16-shot, seed 0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2 / 16-shot, seed 0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none 대비 −0.33~+0.40pp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일관된 AUPRO 향상 미확인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다음 단계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→ 다중 seed → 외부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최종 결과 미확정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문제와 설계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정상 이미지 수는 그대로, 관측 축을 늘린다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 │ 소수 정상 reference로 미세 결함과 정상 변동을 구분해야 한다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동결 백본으로 정상 패치와 query 패치를 비교한다.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2066544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다해상도·다계층 관측은 같은 이미지의 다른 단서를 제공한다.</a:t>
            </a:r>
          </a:p>
        </p:txBody>
      </p:sp>
      <p:sp>
        <p:nvSpPr>
          <p:cNvPr id="10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공간 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448 / 672 / 896 / 1120: 서로 다른 토큰 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계층 관측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749039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Layer 5 / 11 / 23: 서로 다른 깊이의 표현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해석의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6344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새로운 정상 사례나 센서 정보를 추가하는 것은 아니다.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문제와 설계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관측마다 bank와 거리 맵을 유지한다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│ 특징을 먼저 합치는 대신, 각 관측의 점수를 마지막에 결합한다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965960"/>
          <a:ext cx="10917936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8056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특징 결합 대조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계층의 특징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계층·해상도의 특징</a:t>
                      </a:r>
                    </a:p>
                  </a:txBody>
                  <a:tcPr anchor="ctr" marL="109728" marR="109728" marT="27432" marB="27432"/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reference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 concat → 하나의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조건별 별도 bank</a:t>
                      </a:r>
                    </a:p>
                  </a:txBody>
                  <a:tcPr anchor="ctr" marL="109728" marR="109728" marT="27432" marB="27432"/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Query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특징의 거리 맵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거리 맵</a:t>
                      </a:r>
                    </a:p>
                  </a:txBody>
                  <a:tcPr anchor="ctr" marL="109728" marR="109728" marT="27432" marB="27432"/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최종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하나의 거리 점수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Support 단위 보정 후 점수 결합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별도 bank 구조의 효과와 q95 연산의 효과는 각각 대조한다.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문제와 설계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단위 정렬의 동기와 성능 기여를 구분한다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해석 │ 정상 support를 기준으로 거리의 상대 단위를 정의한다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계층·해상도별 거리 크기는 서로 다를 수 있다.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2066544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q95는 각 bank의 정상 거리 기준점을 1로 맞추는 연산이다.</a:t>
            </a:r>
          </a:p>
        </p:txBody>
      </p:sp>
      <p:sp>
        <p:nvSpPr>
          <p:cNvPr id="10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관측별 거리 dₘ  ÷  정상 기준 cₘ  =  보정 점수 zₘ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설계상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29768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서로 다른 관측의 점수를 일정한 규칙으로 결합한다.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실험상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21208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none 대비 성능 우위와 query FPR 보장은 확인되지 않았다.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정상 support에서 bank와 척도를 한 번 만든다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 │ 동결 백본의 특징과 정상 거리만 사용한다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1. 특징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65960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4개 해상도 × 3개 계층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2. Bank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52928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해상도·bag별 이미지당 256개 위치, 계층 간 위치 공유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39896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3. 정상 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739896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Leave-Source-Out 매칭으로 정상 거리 분포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26864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4. 척도 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26864"/>
            <a:ext cx="8503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컴포넌트별 q95: cₘ = Q₀.₉₅(Dₘ)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Query label을 fitting에 사용하지 않는다. λ 선택은 별도의 개발 평가 기록이다.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Query는 보정된 점수 맵으로 결합한다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추론 │ 특징 추출 → 거리 → 보정 → 계층 결합 → 공간 평균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2880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577840"/>
                <a:gridCol w="43342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출력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동결 DINOv2, 4개 입력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패치 특징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각 bank와 1-NN cosine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48개 거리 맵 dₘ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zₘ = dₘ / cₘ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보정 맵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(z₁₁ + z₂₃) / 2 + 0.125 z₅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해상도·bag별 결합 맵</a:t>
                      </a:r>
                    </a:p>
                  </a:txBody>
                  <a:tcPr anchor="ctr" marL="109728" marR="109728" marT="27432" marB="27432"/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Bag 평균 → 원본 좌표 보간 → 해상도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최종 맵 · 상위 1% 이미지 점수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48개 bank가 관측 조건을 분리한다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규격 │ 3개 계층 × 4개 해상도 × 4개 bag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Cap256은 이미지당·해상도당·bag당 추출하는 토큰 수다.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2066544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16-shot의 한 컴포넌트 bank는 4,096개 토큰으로 구성된다.</a:t>
            </a:r>
          </a:p>
        </p:txBody>
      </p:sp>
      <p:sp>
        <p:nvSpPr>
          <p:cNvPr id="10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graphicFrame>
        <p:nvGraphicFramePr>
          <p:cNvPr id="12" name="SummaryTable"/>
          <p:cNvGraphicFramePr>
            <a:graphicFrameLocks noGrp="1"/>
          </p:cNvGraphicFramePr>
          <p:nvPr/>
        </p:nvGraphicFramePr>
        <p:xfrm>
          <a:off x="640080" y="2788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  <a:gridCol w="3968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짧은 변 토큰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정사각 기준 토큰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1,024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2,304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4,096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6,400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56692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bank는 같은 support와 백본을 공유하며 통계적 독립성을 가정하지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q95는 정상 거리의 단위를 맞춘다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정의 │ LSO 정상 거리의 95% 분위수를 컴포넌트 척도로 사용한다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cₘ = Q₀.₉₅(Dₘᴸˢᴼ)     ·     zₘ = dₘ / cₘ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zₘ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5760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정상 support 기준 거리와 같은 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zₘ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48056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그 기준 거리의 두 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적용 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30352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결함 확률이나 최종 배포 임계값을 뜻하지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Shallow를 고정 가중치 0.125로 더한다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결합 │ 계층별 점수 맵을 유지한 뒤 선형 가산한다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z_d = (z₁₁ + z₂₃)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 = z_d + 0.125 × z₅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가중치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25196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AD2 public 2-shot seed 0 AUPRO로 선택한 post-hoc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1206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Shallow는 관측 추가 장치이며 독립적인 필수성은 주장하지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공간 평균과 상위 1% 점수로 평가한다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출력 │ 해상도별 맵을 원본 크기로 보간한 뒤 동일 가중 평균한다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965960"/>
          <a:ext cx="1091793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577840"/>
                <a:gridCol w="42428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순서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처리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역할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해상도의 4개 bag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샘플링별 점수를 통합</a:t>
                      </a:r>
                    </a:p>
                  </a:txBody>
                  <a:tcPr anchor="ctr" marL="109728" marR="109728" marT="27432" marB="27432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각 맵을 원본 H × W로 양선형 보간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공간 좌표를 일치</a:t>
                      </a:r>
                    </a:p>
                  </a:txBody>
                  <a:tcPr anchor="ctr" marL="109728" marR="109728" marT="27432" marB="27432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맵의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최종 결함 국소화 맵</a:t>
                      </a:r>
                    </a:p>
                  </a:txBody>
                  <a:tcPr anchor="ctr" marL="109728" marR="109728" marT="27432" marB="27432"/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최종 맵의 상위 1% 픽셀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I-AUROC용 이미지 점수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비교 실험의 공통 설정: FP16 · cap256 · 4 bags · CQ99 · noise guard k9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저-FPR 국소화를 주 평가로 둔다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평가 │ 데이터셋별 지표와 seed 범위를 구분해 읽는다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74519"/>
          <a:ext cx="10917936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114800"/>
                <a:gridCol w="3968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평가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지표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 public · 8 classes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AUPRO@.05 / pAUROC@.05 / I-AUROC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 / 2 / 4 / 8 / 16-shot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15 classes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 / P-AUROC 전체 구간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 / 2 / 4 / 8 / 16-shot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12 classes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 / P-AUROC 전체 구간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 / 2 / 4 / 8 / 16-shot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seed 범위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2·16-shot: 3-seed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1·4·8-shot: seed 0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평가 해석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 macro · 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모두 반복 사용한 개발 모집단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16-shot AUPRO는 60.06 ± 0.88이다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결과 │ SuperAD 3-seed 평균 55.89 대비 +4.17pp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2-shot도 3-seed 평균 56.03 ± 2.99이며, SuperAD 대비 +6.23pp다.</a:t>
            </a:r>
          </a:p>
        </p:txBody>
      </p:sp>
      <p:sp>
        <p:nvSpPr>
          <p:cNvPr id="9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 (%) · Ours 2·16-shot만 3-seed, 나머지는 seed 0 · 비교군 3-seed · 표 4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331720"/>
          <a:ext cx="1069848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AD·VisA의 우위는 지표별로 다르다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범위 │ MVTec AD 고-shot pixel 지표와 VisA 저-shot에서는 비교군이 앞선다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VisA 16-shot에서는 Ours I/P-AUROC가 95.99 / 98.49로 표의 최고값이다.</a:t>
            </a:r>
          </a:p>
        </p:txBody>
      </p:sp>
      <p:sp>
        <p:nvSpPr>
          <p:cNvPr id="9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· I-AUROC / P-AUROC 전체 구간 (%) · 표 5 · 각 방법 설정 상이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MVTec AD · I-AUROC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5800" y="2606040"/>
          <a:ext cx="5166360" cy="3154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VisA · I-AUROC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09360" y="2606040"/>
          <a:ext cx="5166360" cy="31546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2·16-shot의 전체 방법은 3-seed를 확보했다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변동 │ AD2 2-shot은 16-shot보다 seed 간 편차가 크다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74519"/>
          <a:ext cx="10917936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87368"/>
                <a:gridCol w="408736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데이터셋 · 지표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 · AUPRO@.05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56.03 ± 2.99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60.06 ± 0.88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 · pAUROC@.05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75.86 ± 0.59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77.61 ± 0.37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 · I-AUROC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74.93 ± 1.54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75.92 ± 0.82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I / 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96.04 ± 0.30 / 97.38 ± 0.04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± 0.20 / 98.05 ± 0.00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I / 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92.38 ± 1.04 / 97.40 ± 0.08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95.78 ± 0.18 / 98.50 ± 0.02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Mean ± sample SD (%) · MVTec AD/VisA 추가 seed는 외부 비교군과 support가 짝지어지지 않음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소거와 보정 분석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별도 bank는 계층 concat보다 높았다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근거 │ AD2 16-shot AUPRO +2.09pp · VisA I-AUROC +1.90pp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같은 float 수·cosine 거리의 계층 concat 대조와 비교한 seed 0 결과다.</a:t>
            </a:r>
          </a:p>
        </p:txBody>
      </p:sp>
      <p:sp>
        <p:nvSpPr>
          <p:cNvPr id="9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8a · AD2 AUPRO@.05, MVTec AD/VisA I-AUROC (%) · seed 0 개발 비교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graphicFrame>
        <p:nvGraphicFramePr>
          <p:cNvPr id="11" name="SummaryTable"/>
          <p:cNvGraphicFramePr>
            <a:graphicFrameLocks noGrp="1"/>
          </p:cNvGraphicFramePr>
          <p:nvPr/>
        </p:nvGraphicFramePr>
        <p:xfrm>
          <a:off x="640080" y="2560320"/>
          <a:ext cx="10917936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2468880"/>
                <a:gridCol w="246888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데이터셋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차이 (pp)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+7.21</a:t>
                      </a:r>
                    </a:p>
                  </a:txBody>
                  <a:tcPr anchor="ctr" marL="109728" marR="109728" marT="27432" marB="27432"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+2.09</a:t>
                      </a:r>
                    </a:p>
                  </a:txBody>
                  <a:tcPr anchor="ctr" marL="109728" marR="109728" marT="27432" marB="27432"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+0.55</a:t>
                      </a:r>
                    </a:p>
                  </a:txBody>
                  <a:tcPr anchor="ctr" marL="109728" marR="109728" marT="27432" marB="27432"/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7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+1.90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소거와 보정 분석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다해상도는 최선 단일보다 AUPRO가 높았다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 │ 2-shot +4.95pp · 16-shot +2.10pp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각 bank의 cap은 같지만 총 bank 용량은 달라, 용량 효과를 분리한 비교는 아니다.</a:t>
            </a:r>
          </a:p>
        </p:txBody>
      </p:sp>
      <p:sp>
        <p:nvSpPr>
          <p:cNvPr id="9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10 · linear0125 · q95 · FP16 · seed 0 · AUPRO@0.05 (%)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331720"/>
          <a:ext cx="1069848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소거와 보정 분석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다해상도 이득은 MVTec AD·VisA에서도 보인다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해상도 │ 두 데이터셋·두 shot의 I/P-AUROC가 모두 상승했다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10b · I-AUROC / P-AUROC (%) · seed 0 · 총 bank 용량 차이 포함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2011680"/>
          <a:ext cx="10917936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3447288"/>
                <a:gridCol w="344728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1120 단일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 해상도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8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입력 해상도를 높이기만 하는 경우와 여러 해상도를 결합하는 경우를 구분한다.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소거와 보정 분석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큰 shallow 가중치는 AD2 성능을 낮춘다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민감도 │ λ=0.125를 개발 평가로 선택하고 다른 데이터셋에도 고정했다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2-shot seed 0의 AUPRO로 선택한 post-hoc 설정이며, 일반적 최적값으로 주장하지 않는다.</a:t>
            </a:r>
          </a:p>
        </p:txBody>
      </p:sp>
      <p:sp>
        <p:nvSpPr>
          <p:cNvPr id="9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8b · q95 · FP16 · seed 0 · 양의 가중치 조건 · 후보 전체는 발표자 노트에 기록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2331720"/>
          <a:ext cx="1069848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소거와 보정 분석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q95의 none 대비 성능 기여는 확인되지 않았다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보정 │ AD2 AUPRO 차이는 −0.33~+0.40pp로 방향이 엇갈린다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q95는 MAD보다 높지만, 보정을 제거한 none보다 일관되게 높지는 않다.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2066544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MVTec AD·VisA의 I-AUROC도 q95가 none보다 0.07~1.06pp 낮다.</a:t>
            </a:r>
          </a:p>
        </p:txBody>
      </p:sp>
      <p:sp>
        <p:nvSpPr>
          <p:cNvPr id="10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8d · 전체 방법에서 normalization만 변경 · seed 0 · AUPRO@0.05 (%)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31520" y="2697480"/>
          <a:ext cx="10698480" cy="3154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소거와 보정 분석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분위수 변경만으로는 개선이 충분하지 않았다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진단 │ q=0.80~0.999에서 AUPRO 변화는 −0.22~+0.04pp다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28800"/>
          <a:ext cx="10917936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950208"/>
                <a:gridCol w="395020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변형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기본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</a:tr>
              <a:tr h="576072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local scale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척도 차이는 평균 약 1.8배다. 완만한 상대 가중 조정이라는 해석과 부합하지만,
none과 비슷한 성능을 내는 원인으로 확정하지 않는다.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결론과 다음 검증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다음 보정은 정상 거리의 국소 중심을 다룬다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후속 │ Local-center는 bank별 단위 보정을 유지하며 거리 수준을 보정한다</a:t>
            </a:r>
          </a:p>
        </p:txBody>
      </p:sp>
      <p:sp>
        <p:nvSpPr>
          <p:cNvPr id="8" name="Detail"/>
          <p:cNvSpPr txBox="1"/>
          <p:nvPr/>
        </p:nvSpPr>
        <p:spPr>
          <a:xfrm>
            <a:off x="731520" y="1673352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가까운 정상 support의 거리 수준과 전체 평균의 차이를 query 거리에서 뺀다.</a:t>
            </a:r>
          </a:p>
        </p:txBody>
      </p:sp>
      <p:sp>
        <p:nvSpPr>
          <p:cNvPr id="9" name="Detail"/>
          <p:cNvSpPr txBox="1"/>
          <p:nvPr/>
        </p:nvSpPr>
        <p:spPr>
          <a:xfrm>
            <a:off x="731520" y="2066544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• 강도 0.25 / 0.5를 q95·none과 동일 조건으로 비교한다.</a:t>
            </a:r>
          </a:p>
        </p:txBody>
      </p:sp>
      <p:sp>
        <p:nvSpPr>
          <p:cNvPr id="10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[d − α × (국소 정상 거리 − 전체 평균)] / q95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판정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38912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AD2 2·16-shot에서 q95와 none 모두 대비 개선 여부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현재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257800"/>
            <a:ext cx="8503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최종 결과 미확정 · 성능 기여로 서술하지 않음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결론과 다음 검증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현재 주장할 수 있는 범위를 명확히 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논리 │ 관측 확장·bank 구조를 중심으로, 보정 효과는 별도로 검증한다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74519"/>
          <a:ext cx="10917936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3931920"/>
                <a:gridCol w="41970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주장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발표 표현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전체 방법의 AD2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비교에서 높은 성능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bank 구조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Concat 대조, seed 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현재 비교 조건에서 지지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세 데이터셋, seed 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총 용량 차이를 포함한 이득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성능 필수성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none 대비 일관된 이득 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기여를 주장하지 않음</a:t>
                      </a:r>
                    </a:p>
                  </a:txBody>
                  <a:tcPr anchor="ctr" marL="109728" marR="109728" marT="27432" marB="27432"/>
                </a:tc>
              </a:tr>
              <a:tr h="667512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Shallow 자체의 필수성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현재 원고의 주장 대상 아님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추가의 설계로 설명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결론과 다음 검증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보정 검증 이후 남은 평가를 마무리한다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계획 │ 현재 방법 설정으로 확보하지 않은 결과는 비워 둔다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874519"/>
          <a:ext cx="10917936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800600"/>
                <a:gridCol w="4791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우선순위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남은 작업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완료 기준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보정 결과 취합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 대조에서 개선 판단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AD2·MVTec AD·VisA의 통계량 통일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공식 private · shift · corruption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결과와 threshold 검증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계산 비용 · 구성 요소별 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동일 장비·조건에서 절대값과 비율</a:t>
                      </a:r>
                    </a:p>
                  </a:txBody>
                  <a:tcPr anchor="ctr" marL="109728" marR="109728" marT="27432" marB="27432"/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비교 감사 · 정성 맵 · 방법 명칭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Support pairing·조건 명시·그림 정비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결론과 다음 검증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성능 근거는 확보했고, 보정 기여가 다음 과제다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AD2 중심의 전체 방법과 관측별 bank 구조를 우선 근거로 삼는다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성능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116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AD2 16-shot: 60.06 ± 0.88 AUPRO@0.05 (3-seed)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0632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Concat 대비 +2.09pp · 최선 단일 해상도 대비 +2.10pp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보정의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14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q95의 none 대비 일관된 성능 기여는 아직 없다.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다음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166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Local-center를 통제 비교한 뒤 보정 설계를 판단한다.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상세 결과 · AUPRO@0.05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4 │ 비교군 3-seed · Ours 2·16-shot 3-seed, 나머지는 seed 0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단위 % · mean ± sample SD · RegAD 입력 224 · Ours FP16 4-scale, 나머지 FP32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772107"/>
                <a:gridCol w="1772107"/>
                <a:gridCol w="1772107"/>
                <a:gridCol w="1772107"/>
                <a:gridCol w="177210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 (224)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54.81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56.03 ± 2.99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60.06 ± 0.88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상세 결과 · pAUROC@0.05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4 │ 비교군 3-seed · Ours 2·16-shot 3-seed, 나머지는 seed 0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단위 % · mean ± sample SD · RegAD 입력 224 · Ours FP16 4-scale, 나머지 FP32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A-2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772107"/>
                <a:gridCol w="1772107"/>
                <a:gridCol w="1772107"/>
                <a:gridCol w="1772107"/>
                <a:gridCol w="177210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 (224)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75.86 ± 0.59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77.61 ± 0.37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상세 결과 · I-AUROC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4 │ 비교군 3-seed · Ours 2·16-shot 3-seed, 나머지는 seed 0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단위 % · mean ± sample SD · RegAD 입력 224 · Ours FP16 4-scale, 나머지 FP32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A-3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772107"/>
                <a:gridCol w="1772107"/>
                <a:gridCol w="1772107"/>
                <a:gridCol w="1772107"/>
                <a:gridCol w="177210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 (224)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74.93 ± 1.54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75.92 ± 0.82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비교군은 최대 입력을 맞춘 설정이다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3 │ Backbone·관측 수·정밀도는 달라 전체 파이프라인 비교로 해석한다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A-4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4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029200"/>
                <a:gridCol w="4014215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·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/ 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· 5/11/23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 · FP16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· 5/11/17/23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· 5/11/17/23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 · 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 · paper configuration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 · 독립 재구현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 · 3/6/9/11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1280 → crop1120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DINOv2-reg ViT-G/14 · 22–28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· FP32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 ·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 · 공식 고정 입력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상세 결과 · I / P-AUROC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5 │ 모든 셀 seed 0 단일값 · P-AUROC는 전체 FPR 구간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단위 % · E9 기존 설정과 신규 1120 설정 혼재 · linear0125 support hash 재감사 필요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A-5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772107"/>
                <a:gridCol w="1772107"/>
                <a:gridCol w="1772107"/>
                <a:gridCol w="1772107"/>
                <a:gridCol w="177210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97.99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96.80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98.38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97.19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98.94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98.09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 (224)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92.76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97.60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98.05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VisA 상세 결과 · I / P-AUROC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5 │ 모든 셀 seed 0 단일값 · P-AUROC는 전체 FPR 구간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단위 % · E9 기존 설정과 신규 1120 설정 혼재 · linear0125 support hash 재감사 필요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A-6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772107"/>
                <a:gridCol w="1772107"/>
                <a:gridCol w="1772107"/>
                <a:gridCol w="1772107"/>
                <a:gridCol w="1772107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4-shot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8-shot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97.30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98.30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98.32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85.44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90.29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92.20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98.43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 (224)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96.98</a:t>
                      </a:r>
                    </a:p>
                  </a:txBody>
                  <a:tcPr anchor="ctr" marL="109728" marR="109728" marT="27432" marB="27432"/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94.19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none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95.01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</a:t>
                      </a:r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 / </a:t>
                      </a:r>
                      <a:r>
                        <a:rPr sz="1200" b="1" lang="ko-KR" u="none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보정 factorial · 전체 방법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8d │ Normalization만 변경 · 각 셀 AUPRO / pAUROC / I-AUROC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단위 % · AD2 seed 0 full8 · q95의 none 대비 일관된 성능 이득 없음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A-7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965960"/>
          <a:ext cx="10917936" cy="335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328416"/>
                <a:gridCol w="3328416"/>
                <a:gridCol w="3346704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anchor="ctr" marL="109728" marR="109728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anchor="ctr" marL="109728" marR="109728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anchor="ctr" marL="109728" marR="109728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anchor="ctr" marL="109728" marR="109728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 q95 − none AUPRO: −0.25 / +0.27 / −0.33 / −0.01 / +0.40pp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분위수와 보정 변형 상세 결과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표 11 │ AD2 2·16-shot, seed 0 · 각 셀 AUPRO / pAUROC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A-8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6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30168"/>
                <a:gridCol w="363016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/ 변형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= 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=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= 0.90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= 0.95 (기본)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= 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= 0.999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local scale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SectionLabel"/>
          <p:cNvSpPr txBox="1"/>
          <p:nvPr/>
        </p:nvSpPr>
        <p:spPr>
          <a:xfrm>
            <a:off x="246888" y="182880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결과와 설정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40080" y="612648"/>
            <a:ext cx="10058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재현 설정과 결과의 경계를 고정한다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40080" y="1179576"/>
            <a:ext cx="10917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규격 │ 같은 설정의 linear0125 결과만 현재 방법의 근거로 사용한다</a:t>
            </a:r>
          </a:p>
        </p:txBody>
      </p:sp>
      <p:sp>
        <p:nvSpPr>
          <p:cNvPr id="8" name="MetricNote"/>
          <p:cNvSpPr txBox="1"/>
          <p:nvPr/>
        </p:nvSpPr>
        <p:spPr>
          <a:xfrm>
            <a:off x="640080" y="6245352"/>
            <a:ext cx="10917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Outline_v17.1.md · 2026-10-12 · linear0125 · 개발 평가</a:t>
            </a:r>
          </a:p>
        </p:txBody>
      </p:sp>
      <p:sp>
        <p:nvSpPr>
          <p:cNvPr id="9" name="Page"/>
          <p:cNvSpPr txBox="1"/>
          <p:nvPr/>
        </p:nvSpPr>
        <p:spPr>
          <a:xfrm>
            <a:off x="8796528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A-9</a:t>
            </a:r>
          </a:p>
        </p:txBody>
      </p:sp>
      <p:graphicFrame>
        <p:nvGraphicFramePr>
          <p:cNvPr id="10" name="SummaryTable"/>
          <p:cNvGraphicFramePr>
            <a:graphicFrameLocks noGrp="1"/>
          </p:cNvGraphicFramePr>
          <p:nvPr/>
        </p:nvGraphicFramePr>
        <p:xfrm>
          <a:off x="640080" y="1783080"/>
          <a:ext cx="10917936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0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고정 설정 / 기록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Backbone / precision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 DINOv2 ViT-L/14 · FP16 autocast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/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Layers 5/11/23 · 448/672/896/1120 · cap256 · 4 bags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거리 /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L2-normalized features · 1-NN cosine · support q95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(z11 + z23)/2 + 0.125 × z5 · bag/scale 평균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평가 옵션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CQ99 · noise guard k9 · image score = top-1% mean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선택 기록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λ: AD2 public 2-shot seed 0 post-hoc 선택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미확보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현재 방법의 private · shift · corruption · 계산 비용</a:t>
                      </a:r>
                    </a:p>
                  </a:txBody>
                  <a:tcPr anchor="ctr" marL="109728" marR="109728" marT="27432" marB="27432"/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원본 추적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Outline_v17.1.md 표 4/5/5b/8a/8d/10/10b/11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SCARF · Outline v17.1 · linear0125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  <dc:subject>관측별 bank, 다해상도, support score calibration</dc:subject>
  <dc:description>Updated from Outline_v17.1.md on 2026-10-12. Original v16.3 retained.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