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10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</p:sldIdLst>
  <p:sldSz cx="12192000" cy="6858000"/>
  <p:notesSz cx="6858000" cy="9144000"/>
  <p:embeddedFontLst>
    <p:embeddedFont>
      <p:font typeface="NanumSquareOTF_ac" panose="020B0600000101010101" pitchFamily="34" charset="-127"/>
      <p:regular r:id="rId111"/>
    </p:embeddedFont>
    <p:embeddedFont>
      <p:font typeface="NanumSquareOTF_ac Bold" panose="020B0600000101010101" pitchFamily="34" charset="-127"/>
      <p:bold r:id="rId112"/>
    </p:embeddedFont>
    <p:embeddedFont>
      <p:font typeface="NanumSquareOTF_ac ExtraBold" panose="020B0600000101010101" pitchFamily="34" charset="-127"/>
      <p:bold r:id="rId113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요약" id="{83B1D0BA-10D5-4645-8F8F-583840C0B145}">
          <p14:sldIdLst>
            <p14:sldId id="256"/>
            <p14:sldId id="257"/>
            <p14:sldId id="258"/>
          </p14:sldIdLst>
        </p14:section>
        <p14:section name="01 Introduction" id="{4EB013AE-33DB-4201-943E-76183B6835F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2 Method" id="{7646FA90-E5EE-4634-9057-10C939091AB1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03 실험 결과" id="{93FDBC74-1CCB-4B94-98A7-536EC362372F}">
          <p14:sldIdLst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04 Ablation" id="{77EBD73A-9062-429C-9005-5015A3AFA6B0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05 논의" id="{C2779314-30B8-4EAB-A479-B8D698CBC1B9}">
          <p14:sldIdLst>
            <p14:sldId id="298"/>
            <p14:sldId id="299"/>
            <p14:sldId id="300"/>
          </p14:sldIdLst>
        </p14:section>
        <p14:section name="Appendix A" id="{49509DA7-9F9A-4CAF-BE9B-02D8C04076B3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83" autoAdjust="0"/>
    <p:restoredTop sz="89795" autoAdjust="0"/>
  </p:normalViewPr>
  <p:slideViewPr>
    <p:cSldViewPr snapToGrid="0" snapToObjects="1">
      <p:cViewPr varScale="1">
        <p:scale>
          <a:sx n="99" d="100"/>
          <a:sy n="99" d="100"/>
        </p:scale>
        <p:origin x="184" y="392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110" Type="http://schemas.openxmlformats.org/officeDocument/2006/relationships/notesMaster" Target="notesMasters/notesMaster1.xml"/><Relationship Id="rId111" Type="http://schemas.openxmlformats.org/officeDocument/2006/relationships/font" Target="fonts/font1.fntdata"/><Relationship Id="rId112" Type="http://schemas.openxmlformats.org/officeDocument/2006/relationships/font" Target="fonts/font2.fntdata"/><Relationship Id="rId113" Type="http://schemas.openxmlformats.org/officeDocument/2006/relationships/font" Target="fonts/font3.fntdata"/><Relationship Id="rId114" Type="http://schemas.openxmlformats.org/officeDocument/2006/relationships/commentAuthors" Target="commentAuthors.xml"/><Relationship Id="rId115" Type="http://schemas.openxmlformats.org/officeDocument/2006/relationships/presProps" Target="presProps.xml"/><Relationship Id="rId116" Type="http://schemas.openxmlformats.org/officeDocument/2006/relationships/viewProps" Target="viewProps.xml"/><Relationship Id="rId117" Type="http://schemas.openxmlformats.org/officeDocument/2006/relationships/theme" Target="theme/theme1.xml"/><Relationship Id="rId118" Type="http://schemas.openxmlformats.org/officeDocument/2006/relationships/tableStyles" Target="tableStyles.xml"/><Relationship Id="rId1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 문서: PaperWorks/outlines/Outline_v18.md. ScopeAD = Support-Calibrated Observation-expanded Patch Ensemble for Anomaly Detection (이전 이름 SCARF).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A: 정상 support에서 48개 관측별 뱅크 구축, LSO 거리의 q=0.95 분위수 c_m 사전 계산. B: 4개 해상도 × 3개 계층으로 관측 확장, 컴포넌트별 1-NN 코사인 거리를 c_m으로 정규화. C: Deep 평균에 0.125·z5 가산. D: 4-bag 평균, bilinear 역투영, 4-scale 평균, 상위 1% 픽셀 평균으로 이미지 점수.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Observation Expansion and Support-Calibrated Fusion</a:t>
            </a:r>
          </a:p>
          <a:p>
            <a:r>
              <a:rPr sz="20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for Few-Shot Industrial Anomaly Localization</a:t>
            </a:r>
          </a:p>
        </p:txBody>
      </p:sp>
      <p:sp>
        <p:nvSpPr>
          <p:cNvPr id="5" name="Subtitle2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소수 정상 이미지에서 관측을 늘리고, 관측별 점수를 정상 기준으로 맞춰 결합하는 결함 국소화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343400"/>
            <a:ext cx="10515600" cy="0"/>
          </a:xfrm>
          <a:prstGeom prst="line">
            <a:avLst/>
          </a:prstGeom>
          <a:ln w="13716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연구 아웃라인 v18 발표  ·  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발표 순서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문제와 주장 → 방법 → 주 결과 → 구성 요소 분석 → 남은 검증 순으로 진행한다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01 Introduction: 왜 관측을 늘리고, 왜 관측별로 맞춰 결합하는가 · 기여 (4–12쪽)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02 Method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절차, 메모리 뱅크와 bag, Scale Calibration, Contribution Control, 맵 통합 (13–24쪽)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03 실험 결과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표 1–7 (설정, few-shot 주 비교, MVTec AD·VisA, private, 분포 변화) (25–32쪽)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04 Ablation · 분석: 표 8–8d, 10–10b, 11, 12 (33–42쪽)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05 논의와 향후 계획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주장 범위와 남은 검증 (43–45쪽)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Appendix 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Claim–evidence–status matrix (A-1)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한 장 요약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결합해, AD2 16-shot에서 SuperAD보다 AUPRO@0.05 +4.17pp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</a:t>
            </a:r>
          </a:p>
        </p:txBody>
      </p:sp>
      <p:graphicFrame>
        <p:nvGraphicFramePr>
          <p:cNvPr id="7" name="SummaryTable"/>
          <p:cNvGraphicFramePr>
            <a:graphicFrameLocks noGrp="1"/>
          </p:cNvGraphicFramePr>
          <p:nvPr/>
        </p:nvGraphicFramePr>
        <p:xfrm>
          <a:off x="640080" y="1600200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291840"/>
                <a:gridCol w="5248656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섹션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결론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문제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소수 정상 support에서 관측을 어떻게 늘리고 합칠까?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큰 거리의 원인이 모호하고, 관측을 늘리면 단위·정상 반응이 섞임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5–8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무엇을 하나?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특징·해상도·bag별 48개 bank + 정상 q95 단위 정렬 + Shallow 고정 가중(λ = 0.125)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13–23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 경쟁력은?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1–16 shot 3개 지표 모두 1위, 16-shot 3-seed 60.06 vs 55.89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구성 분석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이득은 어디서 오나?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다해상도 +4.95 / +2.10pp, 단일 bank 대비 +2.09pp, λ = 1 대비 +5.55pp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33–40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한계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아직 확인 안 된 것은?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없음, linear0125 private·shift·비용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36·44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연구 배경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재학습 없이 정상 1–16장만으로 결함 영역을 찾는 few-shot 이상 국소화를 다룬다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동결 백본 재사용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대규모 사전학습 표현(DINOv2)은 별도 학습 없이 여러 과제로 전이됨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패치 매칭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query 패치와 가장 가까운 정상 패치의 거리로 결함 위치를 찾음 → 제품별 재학습 불필요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주 지표 AUPRO@0.05: 오경보율 5% 이하에서 결함 영역을 얼마나 덮는가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예시: MVTec AD hazelnut. 맵은 캐시된 bag 평균 계층별 정규화 맵을 z_d + 0.125·z5로 재구성한 표시용 예시 (새 평가 아님). 출처: PaperWorks/outlines/Outline_v18.md §1.1 (Oquab 2023; Roth 2022; Damm 2025)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pic>
        <p:nvPicPr>
          <p:cNvPr id="9" name="ContentFigure" descr="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673" y="2660904"/>
            <a:ext cx="6740748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High-Score Ambiguity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큰 거리는 결함에서도, support에 없던 정상 변동에서도 생겨 원인을 구분할 수 없다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정상 support의 한계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소수 정상 이미지는 조명 드리프트·자세·난반사·센서 노이즈를 다 담지 못함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일반 vision 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분포 변화 아래 성능 저하(Hendrycks 2019)와 점수 신뢰도 변화(Ovadia 2019)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결론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"큰 거리"만으로는 결함인지 미관측 정상 변동인지 확정할 수 없음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그림은 개념도(가상 분포)이며 실측이 아님. 출처: PaperWorks/outlines/Outline_v18.md §1.1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pic>
        <p:nvPicPr>
          <p:cNvPr id="9" name="ContentFigure" descr="ambiguity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29" y="2660904"/>
            <a:ext cx="9978637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확장의 동기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이미지를 늘릴 수 없으면, 같은 이미지를 여러 깊이·해상도에서 관찰해 단서를 늘린다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표현 계층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Deep(L11·23)은 안정적 의미 기준선, Shallow(L5)는 미세 결함에 민감하나 정상 외관에도 반응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입력 해상도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px 토큰 1개 = 짧은 변 3.1% → 1120 px = 1.25%, 미세 결함의 공간 표본 밀도 증가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다계층(DPT, Raghu 2021)·다중 척도(FPN, S², FeatUp)가 dense prediction을 개선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hazelnut query의 해상도별 ScopeAD 맵. 맵은 캐시된 bag 평균 계층별 정규화 맵을 z_d + 0.125·z5로 재구성한 표시용 예시 (새 평가 아님). 출처: PaperWorks/outlines/Outline_v18.md §1.2, §2.2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pic>
        <p:nvPicPr>
          <p:cNvPr id="9" name="ContentFigure" descr="resolution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23554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관측별 bank가 필요한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특징을 통합해 bank 하나를 만들면, 관측마다 다른 정상 변동이 한 거리 안에 섞인다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기존 패치 매칭은 여러 계층의 특징을 이어 붙여 bank 하나를 만들고, 점수도 하나만 계산한다 (PatchCore 등)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이렇게 하면 계층마다 성격이 다른 정상 변동이 하나의 거리 안에 섞여, 어느 관측의 반응인지 구분되지 않는다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반대로 관측마다 bank를 따로 두면 bank마다 정상 거리 분포가 달라지므로, 결합 전에 점수 단위를 맞춰야 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 16-shot seed 0, 같은 저장 float 수·코사인 거리 정의. 구축 방식의 도식은 15쪽. 출처: PaperWorks/outlines/Outline_v18.md §1.2,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2980944"/>
            <a:ext cx="10917936" cy="566928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rIns="182880" tIns="109728" bIns="109728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근거  </a:t>
            </a:r>
            <a:r>
              <a:rPr sz="15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같은 저장 용량에서 계층 특징을 하나로 합친 단일 bank는 AUPRO@0.05 57.48%, 관측별 bank는 59.57% (+2.09pp, 표 8)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Shallow 기여량 제어가 필요한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단위를 맞춰도 Shallow 점수에는 정상 질감 반응이 섞여, 그대로 더하면 성능이 떨어진다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1이면 정상 walnut 전체가 밝아짐(최댓값 1.22 → 2.52), λ = 0.125는 Deep만과 비슷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q95 정렬 뒤 Shallow 전체 가산(λ = 1) 54.02% vs 고정 가중(λ = 0.125) 59.57% (표 8b)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의미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척도 보정만으로는 Shallow 기여량 제어를 대신할 수 없음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walnuts 정상·결함 query, 하늘색 = GT(표시용). 맵은 캐시된 bag 평균 계층별 정규화 맵을 z_d + 0.125·z5로 재구성한 표시용 예시 (새 평가 아님). 수치: 표 8b (AD2 16-shot seed 0). 출처: PaperWorks/outlines/Outline_v18.md §1.2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pic>
        <p:nvPicPr>
          <p:cNvPr id="9" name="ContentFigure" descr="shallow_l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251" y="2660904"/>
            <a:ext cx="8185592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두 결합 문제의 분리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결합을 "단위 맞추기(Scale Calibration)"와 "비중 정하기(Contribution Control)"로 나눈다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Scale Calibration: 관측별 bank의 정상 LSO 거리 q95를 1로 — 레이블 없이 정상 이미지만으로 정한 단위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Contribution Control: Deep 평균 기준선에 Shallow를 λ = 0.125로 가산 (AD2 2-shot에서 선택 후 동결)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q95 정렬은 MAD 정렬보다 AUPRO@0.05 +0.76 ~ +1.69pp (모든 shot, 표 8d)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점수 정규화·이질적 점수 결합의 동기: Kim 2021(CAM), Wang 2022(ViM); 레이블 기반 calibration(Guo 2017)과 구분. 출처: PaperWorks/outlines/Outline_v18.md §1.2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pic>
        <p:nvPicPr>
          <p:cNvPr id="9" name="ContentFigure" descr="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43784"/>
            <a:ext cx="10917936" cy="22196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세 요소의 역할 분담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 확장과 두 결합 규칙이 서로 다른 단계를 맡아, 한 요소가 다른 요소를 대신하지 않는다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 16-shot, seed 0, Full = 59.57%. 단일 seed 개발 비교이며 개별 차이를 합산 기여로 해석하지 않음. 출처: PaperWorks/outlines/Outline_v18.md §1.2 "관측과 결합의 역할 분담", 표 8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91639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4206240"/>
                <a:gridCol w="32369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요소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하는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이것만 바꾸면 (AUPRO@0.05)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관측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같은 이미지를 448–1120 px 4개 해상도로 관찰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 단일 해상도: −7.56pp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(층, 해상도, bag)마다 bank와 점수 맵을 따로 유지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concat 단일 bank: −2.09pp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Scale Calibration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정상 q95로 점수 단위 정렬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 보정: −1.05pp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Contribution Control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비중을 λ = 0.125로 고정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3계층 동일 가중 평균: −1.36pp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주요 기여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 확장, 관측별 bank의 보정·제어 결합, 그리고 두 이득을 통제 실험으로 분리 검증한다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모두 개발에 사용한 모집단(AD2 public, MVTec AD, VisA) 결과. "SOTA"는 Outline §1.3 표현. 출처: PaperWorks/outlines/Outline_v18.md §1.3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91639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754880"/>
                <a:gridCol w="2962656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기여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내용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근거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① Observation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Expansion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재학습 없이 해상도(토큰 3.1% → 1.25%)와 계층(Shallow / Deep)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두 관측 축을 확장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해상도 대비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+4.95 / +2.10pp (2 / 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39·38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② Calibrated &amp;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Controlled Fusion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척도 보정 + Shallow 고정 가중 가산,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없는 결정론적 파이프라인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전체 가산 대비 +5.55pp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33·35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③ Disentanglement</a:t>
                      </a:r>
                    </a:p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&amp; SOTA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 확장(구성) 이득과 결합 이득을 통제 실험으로 분리,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3-seed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 +4.17pp (16-shot)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관련 연구와 차별점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같은 최근접 패치 매칭 계열이지만, 관측별 bank와 정상 기준 단위 정렬로 결합을 다르게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§2.1–2.3, 부록 A.4 (서지 검증 2026-10-08).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834640"/>
                <a:gridCol w="3145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연구 흐름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대표 연구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한 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ScopeAD와의 차이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Few-shot 패치 매칭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PatchCore, AnomalyDINO,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특징을 이어 붙인 bank,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최근접 거리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분리 +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 전 정상 기준 단위 정렬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척도·다계층 표현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FPN, S², FeatUp,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DPT, Raghu 2021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척도·계층 표현으로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dense prediction 개선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없이 해상도별 정상 거리 맵 평균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(S²는 타일 재조립·채널 연결)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점수 정규화·결합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Kim 2021 (CAM),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ViM 2022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점수 맵 정규화, 이질적 점수의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척도를 맞춘 뒤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support LSO 거리의 q95로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단위 결정 (레이블 불필요)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분포 변화·저-FPR 평가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ImageNet-C, Guo 2017,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Ovadia 2019, MVTec AD 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shift 아래 성능·신뢰도 평가,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변화 산업 벤치마크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저-FPR 곡선 지표와</a:t>
                      </a:r>
                    </a:p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고정 임계값 결과를 구분해 평가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 개요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support로 48개 bank와 단위 c_m을 한 번 구하고, query마다 정렬 → 가산 → 평균한다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1 (PaperWorks/figures/fig_scopead_overview.png). Heatmap은 캐시된 bag 평균 계층별 정규화 맵에서 linear0125로 재구성한 표시용 예시, CQ는 개요도에서 제외. 출처: PaperWorks/outlines/Outline_v18.md §3.1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pic>
        <p:nvPicPr>
          <p:cNvPr id="8" name="ContentFigure" descr="fig_scopead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545" y="1572768"/>
            <a:ext cx="8049006" cy="45994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피팅과 추론의 2단계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피팅은 support마다 한 번, 추론은 query마다 같은 규칙으로 수행하며 학습되는 값은 없다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입력은 정상 support N장, query, 동결 DINOv2-L/14이고, 출력은 픽셀 결함 맵 A(x^q)와 이미지 점수 s(x^q)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피팅: 컴포넌트 m = (l, r, b) 48개 정의 → 전용 bank B_m 생성 → LSO 정상 거리 D_m 측정 → c_m = Q0.95(D_m). 추론: 4 해상도 특징 추출 → 48개 bank 1-NN 거리 d_m → z_m = d_m / c_m → (r, b)마다 S = z_d + 0.125·z5 → bag 평균 → 해상도 보간 평균 → A, s. 컴포넌트는 같은 support·backbone을 공유하며 독립성을 가정하지 않음. 출처: PaperWorks/outlines/Outline_v18.md §3.1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pic>
        <p:nvPicPr>
          <p:cNvPr id="9" name="ContentFigure" descr="two_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27" y="2072640"/>
            <a:ext cx="10754840" cy="40995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뱅크 구축 방식의 차이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기존 방법은 특징을 통합해 bank 하나를 만들고, ScopeAD는 특징·해상도·bag마다 bank를 따로 만든다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기존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계층 특징을 이어 붙인 bank 1개 → 1-NN 거리 1개라 단위 정렬은 필요 없지만 계층별 정상 변동이 섞임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ScopeAD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층 3 × 해상도 4 × bag 4 = 48개 bank를 두고, bank마다 1-NN 거리 맵을 따로 계산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결합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bank마다 정상 거리 분포가 다르므로 c_m = Q0.95(LSO 거리)로 단위를 맞춘 뒤 z_d + 0.125·z5로 더함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기존 방법은 Outline §1.2·§2.1의 서술(계층 특징 concat, coreset 메모리)과 표 3 기준. 같은 저장 용량에서 단일 bank 57.48% vs 관측별 bank 59.57% (표 8 (d), AD2 16-shot seed 0). 출처: PaperWorks/outlines/Outline_v18.md §3.1–3.3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pic>
        <p:nvPicPr>
          <p:cNvPr id="9" name="ContentFigure" descr="bank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31638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해상도와 계층 구성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패치 크기는 14 px로 고정되므로, 해상도가 높을수록 같은 영역을 더 많은 토큰으로 관찰한다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해상도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짧은 변을 448 / 672 / 896 / 1120 px로 맞춰, 토큰 1개가 덮는 길이가 3.1% → 1.25%로 줄어듦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계층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DINOv2-L/14의 5·11·23번째 블록 출력 (5 = Shallow, 11·23 = Deep), 모든 query에 같은 구성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같은 확대 영역(짧은 변의 1/4)을 덮는 토큰 격자. 정사각 기준 토큰 수 1,024 / 2,304 / 4,096 / 6,400. 높은 해상도는 기존 영상의 세밀한 표본화이며 새로운 정상 변동을 만들지 않음.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pic>
        <p:nvPicPr>
          <p:cNvPr id="9" name="ContentFigure" descr="resolution_gr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35352"/>
            <a:ext cx="10917936" cy="261731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배깅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이미지당 256토큰을 4번 독립 추출해 bag 4개를 만들고, bag마다 별도 bank와 단위를 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① 해상도 r에서 support 이미지마다 패치 토큰 256개를 무작위 비복원 추출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② 서로 다른 난수 시드 4개로 반복 → 독립 bag b ∈ {1, 2, 3, 4}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③ 같은 bag 안에서 세 계층은 같은 공간 위치의 토큰을 공유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④ (l, r, b) 조합 = 컴포넌트 m, 총 48개 · 16-shot bank 1개 = 16 × 256 = 4,096토큰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 그림 M1: hazelnut query(1120 px)의 bag별 점수 맵, 4-bag 평균, 픽셀별 bag 간 표준편차(평균 0.038).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pic>
        <p:nvPicPr>
          <p:cNvPr id="9" name="ContentFigure" descr="fig_rsg4_mech_bagging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7896"/>
            <a:ext cx="10917936" cy="23670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Bag를 사용하는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bag는 메모리를 줄이는 부분 추출과, 그 추출이 만드는 표본 우연성을 평균으로 상쇄하는 장치다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메모리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모든 토큰 대신 이미지당 256토큰만 저장 → 16-shot bank 1개 = 4,096토큰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표본 우연성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한 번만 뽑으면 어떤 정상 토큰이 뽑혔는지에 따라 거리가 흔들림 → 시드가 다른 bag 4개의 점수를 평균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단위 정렬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bag마다 뽑힌 토큰이 달라 정상 거리 분포도 다름 → bag도 컴포넌트로 보고 c_m을 따로 구함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효과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그림 M1에서 bag 간 픽셀 표준편차 평균 0.038, 4-bag 평균이 희소 표본화 차이를 완화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 (§3.2): "VRAM 사용량을 낮추고 표본화 분산을 줄이면서 다층·다해상도 패치 특징을 저장하는 참조 뱅크를 구축한다". 참고: 1120 px에서 모든 토큰을 저장하면 정사각 기준 6,400 × 16장 = 102,400토큰/계층 (§3.2 표로 계산). 그림의 선택 위치는 예시용 무작위 추출(실제 실행 인덱스 아님). 출처: PaperWorks/outlines/Outline_v18.md §3.1–3.2, §3.5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pic>
        <p:nvPicPr>
          <p:cNvPr id="9" name="ContentFigure" descr="bag_samp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48" y="2977896"/>
            <a:ext cx="10656198" cy="31943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각 bank의 정상 LSO 거리 분포에서 q95를 구해, query 거리를 그 단위로 나눈다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bank B_m, query 특징 f_m(x^q, p), q (기본 0.95). 출력: 단위 척도 c_m, 무차원 점수 맵 z_m. 출처: PaperWorks/outlines/Outline_v18.md §3.1 공통 연산자, §3.3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pic>
        <p:nvPicPr>
          <p:cNvPr id="8" name="ContentFigure" descr="eq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10917936" cy="416849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해석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 = 1은 그 bank의 정상 상위 5% 경계이며, 결합 전 관측 간 비중을 맞추는 기준이다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z = 1.0 / 2.0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패치 거리가 정상 상위 5% 경계와 같음 / 그 2배 — 결합 전 support 참조 단위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support 기준점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LSO 정상 거리 표본에서 z ≤ 1인 비율 ≈ 95%, 최종 판정 임계값은 결합 맵에서 따로 정함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(오른쪽)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같은 d = 0.178이 Layer 5 기준(0.123)은 넘고 Layer 23 기준(0.232)은 못 넘음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M2: hazelnut 1120 px, bag 평균, d*는 예시값. 파라미터 상태: q 민감도 표 11, 정규화 방식 비교 표 8c·8d. 출처: PaperWorks/outlines/Outline_v18.md §3.3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pic>
        <p:nvPicPr>
          <p:cNvPr id="9" name="ContentFigure" descr="fig_rsg4_mech_scale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889" y="2633472"/>
            <a:ext cx="6898317" cy="353872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Contribution Control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Deep 평균을 기준선으로 두고, 정규화된 Shallow 점수를 고정 가중치 0.125로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규격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임계값·게이트·학습되는 가중치 없음, 계층마다 bank와 점수 맵을 유지한 채 점수 단위에서 결합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λ 선택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AD2 2-shot seed 0 AUPRO로 {0, 0.125, 0.25, 0.5, 1, 2} 중 선택해 동결 (post-hoc, 재조정 없음)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z5는 정규화 뒤 점수라 λ의 상대 기여는 정규화 방식에 따라 다름 → 방식 간 같은 λ를 직접 비교하지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목적: Deep 기준선에 shallow 관측을 고정 가중치로 가산해 관측 축을 깊이 방향으로 확장. 입력: z_l,r,b (l = 5, 11, 23), λ = 0.125.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pic>
        <p:nvPicPr>
          <p:cNvPr id="9" name="ContentFigure" descr="eq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10917936" cy="148543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Contribution Control 예시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Shallow 가산분은 0.05–0.375로 작아, 정상 면의 점수를 크게 올리지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값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질감 변화 면은 0.806, 미세 스크래치는 1.200 — z5 전체를 더하면 각각 1.90과 3.65까지 오름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실제 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0.125·z5는 같은 색 범위에서 거의 보이지 않을 만큼 작고, λ = 1이면 정상 껍질까지 밝아짐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위: Outline §3.4 예시 계산(실측 아님, 전체 가산 = z_d + z5). 아래: hazelnut 1120 px, bag 평균, 색 범위 [0, 2]. 맵은 캐시된 bag 평균 계층별 정규화 맵을 z_d + 0.125·z5로 재구성한 표시용 예시 (새 평가 아님).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pic>
        <p:nvPicPr>
          <p:cNvPr id="9" name="ContentFigure" descr="fusion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08" y="2343912"/>
            <a:ext cx="7801679" cy="2262167"/>
          </a:xfrm>
          <a:prstGeom prst="rect">
            <a:avLst/>
          </a:prstGeom>
        </p:spPr>
      </p:pic>
      <p:pic>
        <p:nvPicPr>
          <p:cNvPr id="10" name="ContentFigure" descr="fusion_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208" y="4697519"/>
            <a:ext cx="7801679" cy="144724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맵 통합과 이미지 점수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 평균 → 4개 해상도 보간 평균으로 픽셀 맵을 만들고, 상위 1% 픽셀 평균을 이미지 점수로 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각 (r, b)의 결합 점수 맵 S_r,b, R = {448, 672, 896, 1120}. 출력: A(x^q) ∈ R^(H×W), s(x^q). 출처: PaperWorks/outlines/Outline_v18.md §3.5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pic>
        <p:nvPicPr>
          <p:cNvPr id="8" name="ContentFigure" descr="eq_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10917936" cy="323545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파라미터 규격과 재현성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모든 값은 사전에 고정하고, 추론에는 역전파·파라미터 갱신·테스트 라벨을 쓰지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백본은 동결 DINOv2-L/14(약 304M, 패치 14)이고, support 수 N은 1, 2, 4, 8, 16장이다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관측은 계층 {5, 11, 23}, 짧은 변 {448, 672, 896, 1120}, bag 4개 × 이미지당 256토큰으로 고정한다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결합은 q = 0.95와 λ = 0.125(Layer 5에만)이며, λ는 AD2 2-shot seed 0로 고른 뒤 고정했다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계산은 FP16 autocast, bank 256토큰/source이며, 선택적으로 연결 성분 최댓값 채움(CQ) 후처리를 쓴다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모든 실험은 seed 0·1·2와 고정 support manifest로 결정론적으로 실행된다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 등 ablation 실행 조건은 CQ99. 출처: PaperWorks/outlines/Outline_v18.md §3.6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569208"/>
            <a:ext cx="10917936" cy="566928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rIns="182880" tIns="109728" bIns="109728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학습되는 값 없음  </a:t>
            </a:r>
            <a:r>
              <a:rPr sz="15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임계값·게이트·학습 가중치 없이, 정상 support에서 계산한 bank와 단위 c_m만 query 추론에 쓴다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데이터 (표 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평가는 여러 조명이 섞인 MVTec AD 2 test_public이고, support는 regular 조명에서 고른다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Shift 1–3 조명은 support에 없던 변화 → 조명 변화 아래의 국소화를 함께 평가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test_private,mix는 대응 장면의 seen/unseen 조명을 섞은 별도 split (public·private 합집합 아님)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3096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54315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Split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이미지 수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조명 · 레이블 범위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train/good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2,528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validation/good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test_public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1,084 (379 normal / 705 anomaly)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조명; 라벨 공개 개발 평가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조명; GT 서버 비공개</a:t>
                      </a:r>
                    </a:p>
                  </a:txBody>
                  <a:tcPr anchor="ctr" marL="109728" marR="109728" marT="27432" marB="27432"/>
                </a:tc>
              </a:tr>
              <a:tr h="542543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test_private,mix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대응 장면의 seen/unseen 조명을 무작위 구성; 별도 split, public/private 합집합 아님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설정 (표 2)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지표는 AUPRO@0.05이며, 연속 점수 지표는 임계값 없이 점수 맵에서 바로 계산한다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2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404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설정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few-shot 평가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2test_public; 8 classes; 1/2/4/8/16 normal support images per class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Seed / 집계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4: 비교군은 seed 0–2 mean ± sample SD, Ours(linear0125)는 2·16-shot이 seed 0–2, 1·4·8-shot은 seed 0 단일값. 표 5: 모든 방법 seed 0 단일값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/ VisA 범위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 classes, VisA 12 classes; 1/2/4-shot 표는 §4.2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Primary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AUPRO@0.05 (%)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보조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pAUROC@0.05, I-AUROC (%)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연속 score metric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AUPRO·pAUROC는 anomaly score map에서 계산; I-AUROC는 SuperAD/PatchCore와 동일하게 anomaly score map 상위 1% 평균(top-1% mean)을 기준으로 집계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F1 threshold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train/good 중 16-shot support 제외 후 매 8번째 이미지를 calibration에 사용; class별 calibration pixel score p95 × 1.421. Private GT 미사용</a:t>
                      </a:r>
                    </a:p>
                  </a:txBody>
                  <a:tcPr anchor="ctr" marL="109728" marR="109728" marT="27432" marB="27432"/>
                </a:tc>
              </a:tr>
              <a:tr h="477774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F1 oracle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Query label로 threshold를 선택하는 진단값; 운영 지표 표에는 포함하지 않음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비교군 설정 (표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비교군은 유효 입력을 1120으로 바꿔 다시 실행했고, 백본·계층·후처리는 각 방법 설정을 유지한다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모든 방법은 같은 support 경로·query·evaluator 사용. FastRecon·RAD는 논문 식의 독립 구현, SuperAD는 공통 support 사용 (원 논문은 전체 train coreset) → 외부 비교는 전체 파이프라인 비교. 출처: PaperWorks/outlines/Outline_v18.md §4.1 표 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27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560320"/>
                <a:gridCol w="35112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학습 · support fit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/ feature layers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· resolution · 추가 설정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(Ours, 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bank·scale fitting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448/672/896/1120; 4-scale memory bank;z_d+0.125 z5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memory / coreset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Project DINOv2 ViT-L/14; [23]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(모든 클래스); 기존 입력 672,sheet_metal 448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(paper configuration)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 gradient training; closed-form support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1120, grid 140×140; 기존 입력 368; 15% coreset; λ=0.3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retrieval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ViT-B/16; [3, 6, 9, 11]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Square 1280 → center crop 1120; 기존 설정 512 → 448; global category bank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PCA fit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DINOv2-with-registers ViT-G/14; [22–28]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anchor="ctr" marL="109728" marR="109728" marT="27432" marB="27432"/>
                </a:tc>
              </a:tr>
              <a:tr h="520065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Official source-trained registration model; fixed source checkpoint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STN; learned registration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224×224; official positional Gaussian and Mahalanobis scoring; same 2-shot bottle checkpoint for all AD2 shots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Few-shot 주 비교 (표 4)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1–16 shot 세 지표 모두 1위, 16-shot 3-seed AUPRO@0.05는 SuperAD보다 +4.17pp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AUPRO@0.05는 비교군 최고값 대비 +3.24–8.50pp (1-shot 최대). 비교군: seed 0–2 8-class macro의 mean ± sample SD, 1120 입력 FP32. ‡ ScopeAD: 2·16-shot 3-seed, 1·4·8-shot seed 0 단일값, FP16·4 해상도. † RegAD는 공식 STN 구조상 224. 굵게 = 최고, 밑줄 = 차상위. 출처: PaperWorks/outlines/Outline_v18.md §4.2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28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188720"/>
                <a:gridCol w="1147572"/>
                <a:gridCol w="1147572"/>
                <a:gridCol w="1147572"/>
                <a:gridCol w="1147572"/>
                <a:gridCol w="1147572"/>
                <a:gridCol w="1147572"/>
                <a:gridCol w="1147572"/>
                <a:gridCol w="1147572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Metric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(224)†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ScopeAD‡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38.45 ± 1.85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35.95 ± 2.24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14.92 ± 2.27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26.42 ± 1.71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44.87 ± 1.87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46.31 ± 3.73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64.19 ± 0.68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70.67 ± 0.69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55.70 ± 0.67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± 0.35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70.56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70.13 ± 1.14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 ± 0.30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73.32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65.51 ± 1.91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66.83 ± 1.08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58.10 ± 4.46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± 3.03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67.02 ± 2.27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67.68 ± 0.32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 ± 1.82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74.47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42.25 ± 2.08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38.20 ± 1.90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16.73 ± 2.39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31.61 ± 1.47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45.90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49.80 ± 2.33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 ± 0.30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56.03 ± 2.99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65.43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72.26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57.14 ± 1.03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61.78 ± 0.15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71.53 ± 0.18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71.52 ± 0.58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 ± 0.49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75.86 ± 0.59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67.53 ± 1.55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68.95 ± 3.84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57.63 ± 6.82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± 2.54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70.42 ± 1.79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 ± 2.16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 ± 3.94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74.93 ± 1.54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46.94 ± 1.00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40.32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21.88 ± 1.73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36.51 ± 1.02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47.14 ± 0.76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54.25 ± 0.86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66.90 ± 0.22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73.09 ± 0.91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59.26 ± 0.80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63.84 ± 0.41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72.45 ± 0.20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73.59 ± 0.13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 ± 0.48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68.62 ± 2.28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70.90 ± 0.97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59.73 ± 4.40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62.31 ± 4.84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71.02 ± 0.56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70.97 ± 2.08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 ± 2.34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75.71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49.98 ± 1.90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41.64 ± 1.01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27.32 ± 0.14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40.79 ± 0.79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47.28 ± 0.40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55.44 ± 1.21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 ± 0.64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68.22 ± 0.53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73.71 ± 0.20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61.74 ± 0.50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65.62 ± 0.69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72.56 ± 0.21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74.31 ± 0.38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 ± 0.32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77.35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69.20 ± 0.75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71.29 ± 1.69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4.29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65.84 ± 0.43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1.18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70.75 ± 0.58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 ± 1.05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75.41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52.73 ± 1.36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42.30 ± 1.25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35.23 ± 0.57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42.58 ± 1.10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47.63 ± 0.14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55.89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 ± 0.80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60.06 ± 0.88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69.36 ± 0.51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73.97 ± 0.23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65.63 ± 0.43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66.62 ± 0.89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72.78 ± 0.07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 ± 0.52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0.76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77.61 ± 0.37</a:t>
                      </a:r>
                    </a:p>
                  </a:txBody>
                  <a:tcPr anchor="ctr" marL="109728" marR="109728" marT="4572" marB="4572"/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69.00 ± 0.53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72.07 ± 1.27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67.45 ± 1.16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67.60 ± 1.35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69.79 ± 0.52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 ± 1.34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75.92 ± 0.82</a:t>
                      </a:r>
                    </a:p>
                  </a:txBody>
                  <a:tcPr anchor="ctr" marL="109728" marR="109728" marT="4572" marB="4572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비교 (표 5)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I-AUROC는 10개 조건 중 7개에서 1위, P-AUROC는 최고값과 0.04–1.36pp 이내다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2위 조건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16-shot, VisA 1·2-shot (모두 SuperAD 다음)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 단일, support hash 일치 클래스 macro (MVTec AD 15, VisA 12). 각 셀 I-AUROC / P-AUROC(전체 FPR). FastRecon = E9 DINOv2 기반 변형. linear0125 hash 재감사는 수집 단계 과제. 출처: PaperWorks/outlines/Outline_v18.md §4.2 표 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026920"/>
          <a:ext cx="10917936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66928"/>
                <a:gridCol w="1179576"/>
                <a:gridCol w="1179576"/>
                <a:gridCol w="1179576"/>
                <a:gridCol w="1179576"/>
                <a:gridCol w="1179576"/>
                <a:gridCol w="1179576"/>
                <a:gridCol w="1179576"/>
                <a:gridCol w="11795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 / 96.22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92.52 / 94.49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 / 96.60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80.83 / 93.25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89.25 /96.92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92.54 / 96.93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 / 97.29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84.15 / 94.27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90.95 / 97.24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 / 97.36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 / 97.37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95.92 / 96.07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95.61 /97.87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85.38 / 94.67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91.35 / 97.16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 / 97.70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96.67 / 96.45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96.76 /98.16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87.85 / 95.29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98.15 / 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97.48 / 96.80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 /98.38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95.61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92.51 / 97.19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98.94 / 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 / 95.56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87.06 / 95.62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 / 96.75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72.67 / 95.37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85.44 /98.09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97.06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71.12 / 93.41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 / 96.29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90.64 / 96.63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 /97.43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77.24 / 96.37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92.20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71.59 / 94.59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 / 96.92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91.37 / 97.57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 /97.91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98.02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76.42 / 96.14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 / 97.18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93.11 / 97.99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 / 98.11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94.50 / 98.29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80.19 / 96.64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 u="sng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 / 97.30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93.53 / 98.30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 / 98.32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81.22 / 96.98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3-seed 결과 (표 5b)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3-seed 평균도 seed 0와 비슷한 수준이다 (16-shot I-AUROC MVTec AD 98.52, VisA 95.78)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seed 0 대비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 I-AUROC 98.74 → 3-seed 98.52, VisA 95.99 → 95.78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seed 1·2의 support는 비교군과 짝지어지지 않아 표 5의 비교군과 직접 순위를 매기지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mean ± sample SD, 각 셀 I-AUROC / P-AUROC (%). 출처: PaperWorks/outlines/Outline_v18.md §4.2 표 5b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463040" y="2572512"/>
          <a:ext cx="93268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356616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96.04 ± 0.30 / 97.38 ± 0.04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98.52 ± 0.20 / 98.05 ± 0.00</a:t>
                      </a:r>
                    </a:p>
                  </a:txBody>
                  <a:tcPr anchor="ctr" marL="109728" marR="109728" marT="27432" marB="27432"/>
                </a:tc>
              </a:tr>
              <a:tr h="539496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92.38 ± 1.04 / 97.40 ± 0.08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95.78 ± 0.18 / 98.50 ± 0.02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공식 private 평가 (표 6)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Ours 행은 이전 게이트 설정의 제출 결과이며, linear0125로 같은 절차로 재제출해 교체해야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TESTpriv / TESTpriv,mix. † Layer 5 β = 0.99 초과 잔차를 더한 이전 설정. ClassF1·SegF1 임계값: support 제외 train/good 8번째 간격 샘플 pixel p95 × 1.421 (private label 미사용). Full-data 행은 원 논문·리더보드 수치로 데이터 예산·백본·입력·후처리가 달라 순위화하지 않음. 출처: PaperWorks/outlines/Outline_v18.md §4.3.1 표 6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9936"/>
                <a:gridCol w="2286000"/>
                <a:gridCol w="228600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anchor="ctr" marL="109728" marR="109728" marT="4572" marB="4572">
                    <a:solidFill>
                      <a:srgbClr val="16386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(a) Few-shot (16-shot)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게이트 설정)†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64.80 / 62.49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76.38 / 77.52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34.84 / 30.68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Full-data Reference (출판/리더보드)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/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 / 25.0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 / 72.9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18.1 / 16.7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RD++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27.1 / 25.2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 / 73.0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 / 16.7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EfficientAD-S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MSFlow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24.3 / 11.9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 / 72.0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 / 9.0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SimpleNet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21.1 / 13.7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 / 77.1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17.7 / 8.7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DSR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20.3 / 17.4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78.0 / 78.0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10.9 / 9.5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RoBiS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anchor="ctr" marL="109728" marR="109728" marT="4572" marB="4572"/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SuperADD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anchor="ctr" marL="109728" marR="109728" marT="4572" marB="457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anchor="ctr" marL="109728" marR="109728" marT="4572" marB="4572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분포 변화 평가 (그림 2 · 표 7)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조명 strata(그림 2)와 합성 손상(표 7)은 linear0125로 아직 평가하지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2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기존 그림의 ScopeAD 선은 게이트 결과라 사용하지 않음 → condition strata 집계를 켜고 재평가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7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비교군만 확보, Gaussian noise에서 PatchCore 74.03 / 83.66이 가장 높음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pAUROC@0.05. MVTec AD 15클래스, 16-shot, seed 0, severity 3, support는 깨끗한 이미지. † DINOv2 기반 프로젝트 변형(표 4의 fastrecon_paper와 다른 구성). 출처: PaperWorks/outlines/Outline_v18.md §4.3.2–4.3.3 표 7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36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Brightness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Contrast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Defocus blur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Gaussian noise s3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83.97 / 88.80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83.43 / 88.38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77.15 / 85.27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81.58 / 87.41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74.03 / 83.66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85.74 / 90.82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77.53 / 86.35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69.72 / 84.47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82.35 / 88.90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57.70 / 77.37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84.49 / 89.15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83.68 /88.47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82.27 /87.86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82.17 / 87.74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/ 82.45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구성 요소 소거 (표 8)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어느 구성을 하나만 바꿔도 Full(59.57)보다 낮고, 해상도와 bank 구조의 영향이 가장 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단일 해상도 −7.56pp / 결합: 단일 bank −2.09, 3계층 동일 가중 −1.36, MAD −1.05pp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bank는 같은 저장 float 수·코사인 거리 정의를 유지 → bank 구조 차이만 분리 (pAUROC −2.66pp)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정규화 생략은 AUPRO −0.40pp, pAUROC +0.19pp → q95의 정규화 생략 대비 이득은 주장하지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동결 DINOv2 ViT-L/14, FP16, 4 해상도, cap256, 4 bags, CQ99, top-1% mean 이미지 점수, 동일 support. 각 행은 Full에서 한 구성만 바꿈. 단일 seed 개발 비교. 출처: PaperWorks/outlines/Outline_v18.md §4.4.1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33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660904"/>
          <a:ext cx="10917936" cy="337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  <a:gridCol w="1463040"/>
                <a:gridCol w="1463040"/>
                <a:gridCol w="1188720"/>
                <a:gridCol w="1188720"/>
                <a:gridCol w="14081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구조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Score normalization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Shallow 항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Full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w/o Score normalization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없음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−0.40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(c) Equal-weight 3-layer mean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z5를 동일 가중 평균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−1.36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(d) Layer concat (단일 bank)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합친 단일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−2.09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(e) MAD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−1.05</a:t>
                      </a:r>
                    </a:p>
                  </a:txBody>
                  <a:tcPr anchor="ctr" marL="109728" marR="109728" marT="27432" marB="27432"/>
                </a:tc>
              </a:tr>
              <a:tr h="498347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(f) 448 단일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−7.56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데이터셋 · shot별 구성 소거 (표 8a)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세 데이터셋 모든 shot에서 Full이 3계층 동일 가중 평균과 계층 concat보다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정규화 생략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AD·VisA I-AUROC는 0.07–1.06pp 높고 AD2 AUPRO는 −0.40 ~ +0.33pp로 엇갈림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= AUPRO@0.05 / pAUROC@0.05, MVTec AD·VisA = I-AUROC / P-AUROC(전체 FPR). seed 0 단일값. AD2 1/4/8-shot은 로컬 4090, 2/16-shot Full은 fusion sensitivity 실행의 동일 설정. 출처: PaperWorks/outlines/Outline_v18.md §4.4.1 표 8a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999488"/>
          <a:ext cx="10917936" cy="408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822960"/>
                <a:gridCol w="2148840"/>
                <a:gridCol w="2148840"/>
                <a:gridCol w="2148840"/>
                <a:gridCol w="209397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 (linear0125)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 normalization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Equal-weight mean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Layer concat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52.39 / 72.09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46.75 / 69.40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 / 74.39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52.12 / 71.97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56.59 / 75.52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54.60 / 73.44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77.67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57.36 / 76.25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55.85 / 74.47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 / 76.31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 / 74.80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90.62 / 96.58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89.63 / 96.14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93.30 / 97.17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93.08 / 96.86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95.33 / 97.23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96.66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96.56 / 97.61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98.22 / 97.98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98.19 / 97.79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87.37 / 95.72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86.55 / 94.99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90.08 / 96.25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89.09 / 95.79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96.97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91.08 / 96.38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94.46 / 97.50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93.49 / 96.75</a:t>
                      </a:r>
                    </a:p>
                  </a:txBody>
                  <a:tcPr anchor="ctr" marL="109728" marR="109728" marT="27432" marB="27432"/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97.82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94.09 / 97.02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Shallow 가중치 민감도 (표 8b)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λ ≥ 0.5에서 AUPRO@0.05가 빠르게 낮아지고, λ = 0.125가 2·16-shot 모두 가장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16-shot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0.125 59.57 → λ = 1 54.02 (−5.55pp) → λ = 2 47.33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선택 절차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2-shot AUPRO만으로 λ를 고른 뒤 16-shot 해석 전에 동결 (개발 평가 사용, post-hoc)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d = (z11 + z23)/2, s = z5. FP16, 4-scale, cap256, q95, CQ99 고정, seed 0. 표에는 양의 가중치 조건만 제시. 출처: PaperWorks/outlines/Outline_v18.md §4.4.2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685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736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결합 규칙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AUPRO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 d+0.125s (선택된 λ*)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Lineard+0.25s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77.21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Lineard+0.5s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74.04</a:t>
                      </a:r>
                    </a:p>
                  </a:txBody>
                  <a:tcPr anchor="ctr" marL="109728" marR="109728" marT="27432" marB="27432"/>
                </a:tc>
              </a:tr>
              <a:tr h="460247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Lineard+2s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MVTec AD · VisA (표 8c)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q95는 MAD보다 모든 shot에서 I-AUROC가 높지만, 정규화 생략(none)보다는 0.07–1.06pp 낮다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MAD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I-AUROC +0.47 ~ +1.60pp, VisA +0.34 ~ +1.30pp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P-AUROC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AD에서만 q95가 none보다 +0.09 ~ +0.18pp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전체 방법(linear0125)에서 normalization만 바꾼 대조, 4 해상도, cap256, 같은 support, seed 0. 각 셀 I-AUROC / P-AUROC. 출처: PaperWorks/outlines/Outline_v18.md §4.4.1 표 8c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36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2560320"/>
                <a:gridCol w="2560320"/>
                <a:gridCol w="259689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91.45 / 96.74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94.53 / 97.38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96.15 / 97.69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96.68 / 97.95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98.27 / 98.09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88.58 / 96.35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91.17 / 97.02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93.46 / 97.55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94.63 / 98.00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anchor="ctr" marL="109728" marR="109728" marT="27432" marB="27432"/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95.65 / 98.28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AD2 (표 8d)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AD2에서 q95는 MAD보다 AUPRO@0.05 +0.76–1.69pp 높고, none과는 −0.33 ~ +0.40pp로 엇갈린다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none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AUPRO 평균 +0.02pp, pAUROC는 4개 shot에서 q95가 0.19–0.52pp 낮음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LOO-token vs LSO: AD2 AUPRO 59.45 vs 59.33 (2-shot), 59.55 vs 59.57 (16-shot) → LSO 우위 주장 안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 / I-AUROC. 4 해상도, cap256, 같은 support. none·q95 열은 dsba3 재실행으로 로컬 ablation과 소수 둘째 자리까지 일치 확인. 출처: PaperWorks/outlines/Outline_v18.md §4.4.1 표 8d, calibration support 제외 단위 대조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37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776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514600"/>
                <a:gridCol w="2514600"/>
                <a:gridCol w="2514600"/>
                <a:gridCol w="1280160"/>
                <a:gridCol w="12710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none (AUPRO)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MAD (AUPRO)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 / 74.46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53.59 / 72.73 / 73.95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 / 74.47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+1.22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 / 76.75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58.57 / 76.34 / 75.85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+0.27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+0.76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57.00 / 76.29 / 74.86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 / 75.71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+1.69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77.67 / 75.70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57.28 / 76.67 / 74.88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 / 75.41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+1.40</a:t>
                      </a:r>
                    </a:p>
                  </a:txBody>
                  <a:tcPr anchor="ctr" marL="109728" marR="109728" marT="27432" marB="27432"/>
                </a:tc>
              </a:tr>
              <a:tr h="478536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 / 75.11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 / 77.17 / 74.45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 / 74.98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+0.40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+1.05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총 bank 용량 통제 해상도 비교 (표 10)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총 토큰 수를 맞춰도 다해상도가 1120 단일보다 +2.52pp 높다 — 이전 게이트 설정의 결과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용량 통제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1120 단일에 토큰을 4배(1024) 줘도 56.63%로 오히려 −0.33pp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최고 해상도와 총 bank 용량만으로 다해상도 결합의 이득을 설명할 수 없음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이전 비대칭 게이트 설정(E12, RSG3) 결과 → linear0125로 같은 비교를 다시 실행해 교체 예정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test_public, 16-shot, seed 0, full8, DINOv2 ViT-L/14. 출처: PaperWorks/outlines/Outline_v18.md §4.4.3 표 10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38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216"/>
                <a:gridCol w="1188720"/>
                <a:gridCol w="1188720"/>
                <a:gridCol w="1097280"/>
                <a:gridCol w="1188720"/>
                <a:gridCol w="1691640"/>
                <a:gridCol w="16916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 수 / Bag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AUPRO@0.05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vs 단일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pAUROC@0.05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Regular AUPRO /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Shift 1 AUPRO / pAUROC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Multi-scale (448/672/896/1120)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+2.19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61.26 / 77.94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59.40 / 77.34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(단일 최고해상도)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(Base)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59.16 / 75.28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56.89 / 74.98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(용량 일치, capacity-matched)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56.63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76.06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56.16 / 75.57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단일 · 다중 해상도 비교 (표 10a)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4개 해상도 결합은 최선의 단일 해상도보다 AUPRO@0.05가 +4.95pp(2-shot), +2.10pp(16-shot)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해상도는 높을수록 좋지 않음: 2-shot 최선 672, 16-shot 최선 1120 (1120 대비 2-shot +5.06pp)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bank당 cap은 같지만 총 용량은 달라, 총 용량 효과는 이 표로 분리하지 않음 (→ 표 10)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같은 support, seed 0, full8. 각 셀 AUPRO@0.05 / pAUROC@0.05. 출처: PaperWorks/outlines/Outline_v18.md §4.4.3 표 10a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35352"/>
          <a:ext cx="9509760" cy="2959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51.14 / 75.80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 / 76.52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54.38 / 74.97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55.01 / 76.17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52.65 / 73.46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55.12 / 74.62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54.27 / 72.47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57.47 / 74.86</a:t>
                      </a:r>
                    </a:p>
                  </a:txBody>
                  <a:tcPr anchor="ctr" marL="109728" marR="109728" marT="27432" marB="27432"/>
                </a:tc>
              </a:tr>
              <a:tr h="515112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 (448/672/896/1120)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해상도 비교 (표 10b)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전체 방법에서 4 해상도 결합이 두 데이터셋 · 두 shot의 I-AUROC와 P-AUROC 모두 1120 단일보다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이득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+1.23 / +0.53pp, VisA +5.27 / +1.60pp (2 / 16-shot)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총 bank 용량 효과는 분리하지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seed 0. 각 셀 I-AUROC / P-AUROC. 출처: PaperWorks/outlines/Outline_v18.md §4.4.3 표 10b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81072"/>
          <a:ext cx="9509760" cy="2456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468880"/>
                <a:gridCol w="24688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94.90 / 96.51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98.21 / 97.49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86.88 / 96.19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94.39 / 97.80</a:t>
                      </a:r>
                    </a:p>
                  </a:txBody>
                  <a:tcPr anchor="ctr" marL="109728" marR="109728" marT="27432" marB="27432"/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 해상도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척도 분위수 민감도 (표 11)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 = 0.80–0.999에서 AUPRO@0.05 변화는 −0.22 ~ +0.04pp로 평탄하다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중앙값 기준(q = 0.5)만 낮고, 꼬리확률 변환·토큰별 로컬 척도도 두 shot에서 일관된 개선 없음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척도 진단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12개 컴포넌트 q95 척도 차이 평균 약 1.8배(deep 사이 약 1.4배), 변동계수 0.18–0.24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잔차 게이트 분위수 β는 방법에서 제거. λ = 0.125 고정, seed 0, AD2. 후속: local-center 보정(AD2 2·16-shot, 강도 0.25/0.5) 검증 중, 확정 전에는 성능 기여로 기술하지 않음. 출처: PaperWorks/outlines/Outline_v18.md §4.4.4 표 11·척도 진단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41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505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척도 분위수 q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Default (2 / 16-shot)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0.50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58.22 / 75.47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59.03 / 77.15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−1.11 / −0.55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0.80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76.29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59.56 / 77.53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0.90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59.29 / 76.42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59.60 / 77.49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−0.04 / +0.03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0.95 (Default)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/ 0.00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/ 76.52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77.39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+0.04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76.22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77.26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−0.13 / −0.02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꼬리 확률 변환(−log 생존확률), q=0.95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76.65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59.25 / 77.14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−0.32</a:t>
                      </a:r>
                    </a:p>
                  </a:txBody>
                  <a:tcPr anchor="ctr" marL="109728" marR="109728" marT="27432" marB="27432"/>
                </a:tc>
              </a:tr>
              <a:tr h="301752">
                <a:tc>
                  <a:txBody>
                    <a:bodyPr wrap="square"/>
                    <a:lstStyle/>
                    <a:p>
                      <a:pPr algn="ctr"/>
                      <a:r>
                        <a:rPr sz="11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토큰별 로컬 척도(local_reliability=scale)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52.34 / 75.33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57.46 / 78.03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−6.99 / −2.11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효율 · 정성 분석 (표 12 · 12a · 그림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linear0125의 계산 비용과 정성 비교 그림은 아직 계측·작성하지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12·12a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게이트 설정 측정값은 제외, bank 벡터 수만 구성에서 계산 (16-shot, 컴포넌트당 4,096토큰)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3 사양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Regular·Shift 1·Gaussian noise 3행 × (Input, GT, SuperAD, PatchCore, ScopeAD, λ·z5)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SuperAD 측정 조건: AD2 full8 test_public, seed 0, 16-shot, DINOv2 ViT-L/14, FP32, batch 1. 구성 요소별 시간 분해도 linear0125에서 재계측 필요. 출처: PaperWorks/outlines/Outline_v18.md §4.5 표 12·12a, 그림 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011680"/>
                <a:gridCol w="1280160"/>
                <a:gridCol w="1371600"/>
                <a:gridCol w="1463040"/>
                <a:gridCol w="1554480"/>
                <a:gridCol w="149961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Arm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vectors / class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Pooled mean / p95 (ms)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GPU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196,608 (48 component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1120-only (linear0125)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49,152 (12 component banks)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All tokens; count unspec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10.48 ± 2.17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793.95 ± 154.16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803.03 / 1,069.34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1.42 / 1.42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9.04 / 9.04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  <p:graphicFrame>
        <p:nvGraphicFramePr>
          <p:cNvPr id="10" name="SummaryTable2"/>
          <p:cNvGraphicFramePr>
            <a:graphicFrameLocks noGrp="1"/>
          </p:cNvGraphicFramePr>
          <p:nvPr/>
        </p:nvGraphicFramePr>
        <p:xfrm>
          <a:off x="640080" y="4145280"/>
          <a:ext cx="1091793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2377440"/>
                <a:gridCol w="2560320"/>
                <a:gridCol w="250545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Cap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(s/class)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(s/image)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클래스별 query p95 (s/image)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256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1024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논의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다해상도와 관측별 bank는 서로 다른 단계에서 기여하고, Shallow 가산은 가중치에 민감하다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 확장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최선 단일 해상도 대비 +4.95 / +2.10pp, 용량 통제(게이트 설정)에서도 +2.52pp (39·38쪽)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관측별 결합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세 데이터셋 모든 shot에서 단일 bank보다 높음 (34쪽)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정렬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MAD보다 높지만 정규화 생략과 차이 작음 → 척도 차이가 큰 관측·조건 변화 query에서 확인 (37쪽)</a:t>
            </a:r>
          </a:p>
          <a:p>
            <a:pPr marL="920759" indent="-285750" lvl="2">
              <a:lnSpc>
                <a:spcPct val="130000"/>
              </a:lnSpc>
              <a:buFont typeface="Arial"/>
              <a:buChar char="•"/>
            </a:pPr>
            <a:r>
              <a:rPr sz="1600" b="1" lang="ko-KR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배포</a:t>
            </a:r>
            <a:r>
              <a:rPr sz="16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단위 정렬이 query FPR을 정하지 않음 → 조명 조건별 임계값 보정과 검증이 필요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§5.1–5.2, 부록 A.1.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43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206496"/>
            <a:ext cx="10917936" cy="1097280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rIns="182880" tIns="109728" bIns="109728">
            <a:spAutoFit/>
          </a:bodyPr>
          <a:lstStyle/>
          <a:p>
            <a:r>
              <a:rPr sz="15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주장 범위  </a:t>
            </a:r>
            <a:r>
              <a:rPr sz="1500" b="0" lang="ko-KR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지지(개발 모집단): 관측별 bank &gt; 단일 bank, q95 &gt; MAD, Shallow 기여량 제어 필요, 다해상도 이득, AD2 2·16-shot SuperAD 대비 우위. 미검증: q95의 정규화 생략 대비 이득, linear0125의 private·shift·corruption·계산 비용.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남은 검증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게이트 설정으로 남은 표 6·10을 교체하고, 분포 변화·비용·다중 seed를 채운다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A.1–A.3, §4.4.4 후속 실험 상태, §4.5.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44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517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다음 단계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(표 6)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 64.80 / 62.49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linear0125, 같은 support·임계값 절차로 재제출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용량 통제 해상도 비교 (표 10)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multi-scale vs 1120 (cap256 / 1024) 재실행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조명 strata (그림 2)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선 미사용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condition strata 집계를 켜고 재평가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합성 손상 (표 7)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미실행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15클래스 × 5조건 실행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 (표 12 · 12a)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미계측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파이프라인 재계측 (구성 요소별 시간 포함)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seed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3-seed 완료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seed 1·2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local-center 보정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 (AD2 2·16-shot)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q95·none을 모두 넘는지 확인 후 판단</a:t>
                      </a:r>
                    </a:p>
                  </a:txBody>
                  <a:tcPr anchor="ctr" marL="109728" marR="109728" marT="27432" marB="27432"/>
                </a:tc>
              </a:tr>
              <a:tr h="489204">
                <a:tc>
                  <a:txBody>
                    <a:bodyPr wrap="square"/>
                    <a:lstStyle/>
                    <a:p>
                      <a:pPr algn="ctr"/>
                      <a:r>
                        <a:rPr sz="12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원고 그림 M3 · 3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M3는 게이트 맵, 그림 3은 사양만 확정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기준 Deep·Shallow·결합 맵으로 작성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결론 및 향후 진행 방향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결합하는 ScopeAD로 AD2 few-shot 국소화 1위를 얻었다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§6, 부록 A.1. 근거 쪽: 관측 확장 39, 결합 33·37, 성능 28, 남은 항목 44.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2926080"/>
                <a:gridCol w="26883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Summary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문제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향후 진행 방향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 확장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해상도 + Shallow / Deep 관측,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대비 +4.95 / +2.10pp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게이트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10 linear0125 재실행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결합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정렬 + λ = 0.125,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등 정렬 방식 검증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± 0.88,</a:t>
                      </a:r>
                    </a:p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+4.17pp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1·4·8-shot은 seed 0 단일값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seed 완성</a:t>
                      </a:r>
                    </a:p>
                  </a:txBody>
                  <a:tcPr anchor="ctr" marL="109728" marR="109728" marT="27432" marB="27432"/>
                </a:tc>
              </a:tr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3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 · 배포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(private은 게이트 설정 결과)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private·shift·corruption·비용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· 재평가 · 재계측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연구 노트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lang="ko-KR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Claim–evidence–status matrix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sz="1600" b="1" lang="ko-KR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원고의 각 주장과 근거, 현재 지지 상태를 정리한 저자용 표 (Outline 부록 A.1 그대로)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lang="ko-KR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1371600"/>
                <a:gridCol w="2231136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Claim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핵심 근거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상태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원고 내 기술 원칙</a:t>
                      </a:r>
                    </a:p>
                  </a:txBody>
                  <a:tcPr anchor="ctr" marL="109728" marR="109728" marT="27432" marB="27432">
                    <a:solidFill>
                      <a:srgbClr val="163866"/>
                    </a:solidFill>
                  </a:tcPr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보정이 MAD보다 높다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+0.76~+1.69pp 전 shot (표 8d); MVTec AD·VisA I-AUROC 전 shot (표 8c)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본문에서 사용하는 보정 우위의 범위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보정의 정규화 생략(none) 대비 성능 기여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−0.33~+0.40pp, pAUROC 4/5 shot에서 q95가 낮음 (표 8d); MVTec AD·VisA I-AUROC −0.07~−1.06pp (표 8c)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지지되지 않음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본문은 관측별 bank의 설계 요구와 MAD 대비 우위로 서술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정렬 후에도 shallow 기여량 제어가 필요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16-shotλ=1 54.02, λ=0.5 58.21, λ=0.125 59.57 (표 8b)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λ는 post-hoc 선택임을 명시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결합 이득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최선 단일 대비 AUPRO +4.95/+2.10pp(2/16-shot, 표 10a); MVTec AD·VisA I/P-AUROC 모두 상승(표 10b); 게이트 설정의 용량 통제 비교 +2.52pp(표 10)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 개발 비교에서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linear0125로 재실행해 교체 예정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λ=0.125 선택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public 2-shot seed 0 AUPRO로 선택(표 8b)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post-hoc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개발 평가로 선택했음을 명시; 다른 데이터셋에서 재조정하지 않음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 등 외부 비교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vs 55.89 (+4.17pp), 2-shot 56.03 vs 49.80 (+6.23pp) (표 4); MVTec AD·VisA Ours 3-seed는 표 5b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지지됨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Ours는 seed 0 단일값임을 명시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private 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6의 64.80 / 62.49는 게이트 설정 결과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후 교체; 본문 초록·결론에서는 인용하지 않음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shift·corruption 성능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결과 미확보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7, 그림 2는 비움</a:t>
                      </a:r>
                    </a:p>
                  </a:txBody>
                  <a:tcPr anchor="ctr" marL="109728" marR="109728" marT="27432" marB="27432"/>
                </a:tc>
              </a:tr>
              <a:tr h="465328">
                <a:tc>
                  <a:txBody>
                    <a:bodyPr wrap="square"/>
                    <a:lstStyle/>
                    <a:p>
                      <a:pPr algn="ctr"/>
                      <a:r>
                        <a:rPr sz="1000" b="1" lang="ko-KR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미계측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anchor="ctr" marL="109728" marR="109728" marT="27432" marB="27432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lang="ko-KR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12, 12a는 비움</a:t>
                      </a:r>
                    </a:p>
                  </a:txBody>
                  <a:tcPr anchor="ctr" marL="109728" marR="109728" marT="27432" marB="27432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82528</TotalTime>
  <Words>22384</Words>
  <Application>Microsoft Macintosh PowerPoint</Application>
  <PresentationFormat>와이드스크린</PresentationFormat>
  <Paragraphs>2621</Paragraphs>
  <Slides>108</Slides>
  <Notes>43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108</vt:i4>
      </vt:variant>
    </vt:vector>
  </HeadingPairs>
  <TitlesOfParts>
    <vt:vector size="114" baseType="lpstr">
      <vt:lpstr>NanumSquareOTF_ac ExtraBold</vt:lpstr>
      <vt:lpstr>Arial</vt:lpstr>
      <vt:lpstr>NanumSquareOTF_ac Bold</vt:lpstr>
      <vt:lpstr>Wingdings</vt:lpstr>
      <vt:lpstr>NanumSquareOTF_ac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2026-10-06 ETRI 외부회의</dc:title>
  <dc:creator>강 형원</dc:creator>
  <cp:lastModifiedBy>임훈</cp:lastModifiedBy>
  <cp:revision>3164</cp:revision>
  <cp:lastPrinted>2025-06-23T01:58:10Z</cp:lastPrinted>
  <dcterms:created xsi:type="dcterms:W3CDTF">2021-02-06T07:11:19Z</dcterms:created>
  <dcterms:modified xsi:type="dcterms:W3CDTF">2026-10-02T09:24:21Z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