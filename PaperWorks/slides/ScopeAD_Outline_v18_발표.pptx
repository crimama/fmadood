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44"/>
  </p:notesMasterIdLst>
  <p:sldIdLst>
    <p:sldId id="256" r:id="rId2"/>
    <p:sldId id="259" r:id="rId3"/>
    <p:sldId id="260" r:id="rId4"/>
    <p:sldId id="302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embeddedFontLst>
    <p:embeddedFont>
      <p:font typeface="NanumSquareOTF_ac" panose="020B0600000101010101" pitchFamily="34" charset="-127"/>
      <p:regular r:id="rId45"/>
    </p:embeddedFont>
    <p:embeddedFont>
      <p:font typeface="NanumSquareOTF_ac Bold" panose="020B0600000101010101" pitchFamily="34" charset="-127"/>
      <p:bold r:id="rId46"/>
    </p:embeddedFont>
    <p:embeddedFont>
      <p:font typeface="NanumSquareOTF_ac ExtraBold" panose="020B0600000101010101" pitchFamily="34" charset="-127"/>
      <p:bold r:id="rId47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18B41912-417A-4961-9CCA-19F152633573}">
          <p14:sldIdLst>
            <p14:sldId id="256"/>
          </p14:sldIdLst>
        </p14:section>
        <p14:section name="01 Introduction" id="{9A6C3FAC-3C6D-48D7-9536-D95A90431691}">
          <p14:sldIdLst>
            <p14:sldId id="259"/>
            <p14:sldId id="260"/>
            <p14:sldId id="302"/>
            <p14:sldId id="262"/>
            <p14:sldId id="263"/>
            <p14:sldId id="264"/>
            <p14:sldId id="265"/>
            <p14:sldId id="266"/>
          </p14:sldIdLst>
        </p14:section>
        <p14:section name="02 Method" id="{D78D1EE9-4649-453B-8A87-F15D657F1BB5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3 실험 결과" id="{B444D26D-A843-44D2-A8F7-018395E93F1F}">
          <p14:sldIdLst>
            <p14:sldId id="278"/>
            <p14:sldId id="279"/>
            <p14:sldId id="280"/>
            <p14:sldId id="281"/>
            <p14:sldId id="282"/>
            <p14:sldId id="283"/>
            <p14:sldId id="285"/>
            <p14:sldId id="286"/>
          </p14:sldIdLst>
        </p14:section>
        <p14:section name="04 Ablation" id="{CFD519D2-0D8C-4F99-ACF1-3C6E15E790FA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05 논의" id="{08D964CA-69E8-4673-9D9C-59AAB6AC1C16}">
          <p14:sldIdLst>
            <p14:sldId id="297"/>
            <p14:sldId id="298"/>
            <p14:sldId id="299"/>
          </p14:sldIdLst>
        </p14:section>
        <p14:section name="Appendix A" id="{D4835E2E-37BE-42E8-B03B-4628517F1A5F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3" autoAdjust="0"/>
    <p:restoredTop sz="89795" autoAdjust="0"/>
  </p:normalViewPr>
  <p:slideViewPr>
    <p:cSldViewPr snapToGrid="0" snapToObjects="1">
      <p:cViewPr varScale="1">
        <p:scale>
          <a:sx n="92" d="100"/>
          <a:sy n="92" d="100"/>
        </p:scale>
        <p:origin x="200" y="544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10/12/26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Support fitting: 동결 DINOv2, 계층 {5, 11, 23} × 4 해상도 × 4 bag = 48개 bank, LSO 1-NN 정상 거리의 q95로 c_m. B Query inference: 4 해상도 × 3 계층 1-NN 거리 → z_m = d_m / c_m. C Support-calibrated layer fusion: (r, b)마다 S = z_d + 0.125·z5 (발표 본문의 Deep-Anchored Weighting). D Map aggregation: 4-bag 평균 → bilinear 역투영 → 4-scale 평균, 이미지 점수 = 상위 1% 픽셀 평균.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44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0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lang="ko-KR" sz="20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52044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37033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6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연구 배경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재학습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없이 정상 1–16장만으로 결함 영역을 찾는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few-shot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이상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탐지를 다룸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캐시된 bag 평균 계층별 정규화 맵을 z_d + 0.125·z5로 재구성한 표시용 예시 (새 평가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정의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en-US" alt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High anomaly score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는 결함에서도</a:t>
            </a:r>
            <a:r>
              <a:rPr lang="en-US" alt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,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support에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없던 정상 변동에서도 생겨, 소수 정상 이미지로는 원인을 가리기 어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려움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High-Score Ambiguity: "큰 거리"만으로는 결함인지 미관측 정상 변동(조명·자세·반사)인지 알 수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① 단서 부족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이미지를 늘릴 수 없어, 미세 결함과 정상 변동을 가를 시각 단서 자체가 적음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② 결합의 어려움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관측을 늘리면 관측마다 거리 척도가 다르고(②-a) Shallow의 정상 반응이 섞임(②-b)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일반 vision 근거: 분포 변화 아래 성능 저하(Hendrycks 2019), 점수 신뢰도 변화(Ovadia 2019). 출처: PaperWorks/outlines/Outline_v18.md §1.1–1.2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· 동기 · 기여의 대응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문제에 동기와 방법 방향을 하나씩 대응시키고, ③에서 두 종류의 이득을 분리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①은 관측 단계, ②-a·②-b는 결합 단계의 문제. 근거 수치는 AD2 test_public seed 0 개발 비교(표 8, 8b, 8d, 10a)와 16-shot 3-seed 주 비교(표 4). 문제별 상세는 7–9쪽. 출처: PaperWorks/outlines/Outline_v18.md §1.1–1.3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sp>
        <p:nvSpPr>
          <p:cNvPr id="20" name="ColHeader 문제 정의"/>
          <p:cNvSpPr txBox="1"/>
          <p:nvPr/>
        </p:nvSpPr>
        <p:spPr>
          <a:xfrm>
            <a:off x="1574800" y="1612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anchor="ctr">
            <a:noAutofit/>
          </a:bodyPr>
          <a:lstStyle/>
          <a:p>
            <a:pPr algn="ctr"/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 정의</a:t>
            </a:r>
          </a:p>
        </p:txBody>
      </p:sp>
      <p:sp>
        <p:nvSpPr>
          <p:cNvPr id="21" name="ColHeader 동기 (근거)"/>
          <p:cNvSpPr txBox="1"/>
          <p:nvPr/>
        </p:nvSpPr>
        <p:spPr>
          <a:xfrm>
            <a:off x="4445000" y="16129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anchor="ctr">
            <a:noAutofit/>
          </a:bodyPr>
          <a:lstStyle/>
          <a:p>
            <a:pPr algn="ctr"/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동기 (근거)</a:t>
            </a:r>
          </a:p>
        </p:txBody>
      </p:sp>
      <p:sp>
        <p:nvSpPr>
          <p:cNvPr id="22" name="ColHeader 기여 · 방법 방향"/>
          <p:cNvSpPr txBox="1"/>
          <p:nvPr/>
        </p:nvSpPr>
        <p:spPr>
          <a:xfrm>
            <a:off x="7899400" y="16129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anchor="ctr">
            <a:noAutofit/>
          </a:bodyPr>
          <a:lstStyle/>
          <a:p>
            <a:pPr algn="ctr"/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기여 · 방법 방향</a:t>
            </a:r>
          </a:p>
        </p:txBody>
      </p:sp>
      <p:sp>
        <p:nvSpPr>
          <p:cNvPr id="23" name="Background Bar"/>
          <p:cNvSpPr/>
          <p:nvPr/>
        </p:nvSpPr>
        <p:spPr>
          <a:xfrm>
            <a:off x="1574800" y="2032000"/>
            <a:ext cx="9575800" cy="406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D0D5DD"/>
            </a:solidFill>
          </a:ln>
        </p:spPr>
        <p:txBody>
          <a:bodyPr wrap="square" lIns="127000" tIns="25400" rIns="101600" bIns="25400" anchor="ctr">
            <a:noAutofit/>
          </a:bodyPr>
          <a:lstStyle/>
          <a:p>
            <a:pPr algn="l"/>
            <a:r>
              <a:rPr lang="ko-KR" sz="1200" b="1" dirty="0">
                <a:solidFill>
                  <a:srgbClr val="5F6B7A"/>
                </a:solidFill>
                <a:latin typeface="NanumSquareOTF_ac Bold"/>
                <a:ea typeface="NanumSquareOTF_ac Bold"/>
                <a:cs typeface="NanumSquareOTF_ac Bold"/>
              </a:rPr>
              <a:t>배경</a:t>
            </a:r>
            <a:r>
              <a:rPr lang="ko-KR" sz="12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   정상 몇 장 + 동결 백본의 패치 매칭 — 큰 거리가 결함인지 support에 없던 정상 변동인지 모호함 (High-Score Ambiguity)</a:t>
            </a:r>
          </a:p>
        </p:txBody>
      </p:sp>
      <p:sp>
        <p:nvSpPr>
          <p:cNvPr id="24" name="RowLabel ①"/>
          <p:cNvSpPr txBox="1"/>
          <p:nvPr/>
        </p:nvSpPr>
        <p:spPr>
          <a:xfrm>
            <a:off x="965200" y="2667000"/>
            <a:ext cx="584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600" b="0" dirty="0">
                <a:solidFill>
                  <a:srgbClr val="163866"/>
                </a:solidFill>
                <a:latin typeface="NanumSquareOTF_ac"/>
                <a:ea typeface="NanumSquareOTF_ac"/>
                <a:cs typeface="NanumSquareOTF_ac"/>
              </a:rPr>
              <a:t>①</a:t>
            </a:r>
          </a:p>
        </p:txBody>
      </p:sp>
      <p:sp>
        <p:nvSpPr>
          <p:cNvPr id="25" name="Problem ①"/>
          <p:cNvSpPr/>
          <p:nvPr/>
        </p:nvSpPr>
        <p:spPr>
          <a:xfrm>
            <a:off x="1574800" y="2667000"/>
            <a:ext cx="25400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5B8"/>
            </a:solidFill>
          </a:ln>
        </p:spPr>
        <p:txBody>
          <a:bodyPr wrap="square" lIns="127000" tIns="50800" rIns="76200" bIns="50800" anchor="ctr">
            <a:noAutofit/>
          </a:bodyPr>
          <a:lstStyle/>
          <a:p>
            <a:pPr algn="l"/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정상 이미지가 적어, 미세 결함과</a:t>
            </a:r>
            <a:br>
              <a:rPr lang="ko-KR" sz="1300"/>
            </a:br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정상 변동을 가를 단서가 부족</a:t>
            </a:r>
          </a:p>
        </p:txBody>
      </p:sp>
      <p:sp>
        <p:nvSpPr>
          <p:cNvPr id="26" name="Motivation ①"/>
          <p:cNvSpPr/>
          <p:nvPr/>
        </p:nvSpPr>
        <p:spPr>
          <a:xfrm>
            <a:off x="4445000" y="2667000"/>
            <a:ext cx="31242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5B8"/>
            </a:solidFill>
          </a:ln>
        </p:spPr>
        <p:txBody>
          <a:bodyPr wrap="square" lIns="127000" tIns="50800" rIns="76200" bIns="50800" anchor="ctr">
            <a:noAutofit/>
          </a:bodyPr>
          <a:lstStyle/>
          <a:p>
            <a:pPr algn="l"/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다중 </a:t>
            </a:r>
            <a:r>
              <a:rPr lang="ko-KR" sz="1300" b="0" dirty="0" err="1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깊이·척도</a:t>
            </a:r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 관찰이 </a:t>
            </a:r>
            <a:r>
              <a:rPr lang="ko-KR" altLang="en-US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활용</a:t>
            </a:r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 </a:t>
            </a:r>
            <a:br>
              <a:rPr lang="en-US" alt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</a:br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(DPT, S², </a:t>
            </a:r>
            <a:r>
              <a:rPr lang="ko-KR" sz="1300" b="0" dirty="0" err="1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FeatUp</a:t>
            </a:r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)</a:t>
            </a:r>
          </a:p>
        </p:txBody>
      </p:sp>
      <p:sp>
        <p:nvSpPr>
          <p:cNvPr id="27" name="Contribution ①"/>
          <p:cNvSpPr/>
          <p:nvPr/>
        </p:nvSpPr>
        <p:spPr>
          <a:xfrm>
            <a:off x="7848600" y="2667000"/>
            <a:ext cx="3302000" cy="8382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5875">
            <a:solidFill>
              <a:srgbClr val="163866"/>
            </a:solidFill>
          </a:ln>
        </p:spPr>
        <p:txBody>
          <a:bodyPr wrap="square" lIns="114300" tIns="50800" rIns="38100" bIns="50800" anchor="ctr">
            <a:noAutofit/>
          </a:bodyPr>
          <a:lstStyle/>
          <a:p>
            <a:pPr algn="l"/>
            <a:r>
              <a:rPr lang="ko-KR" sz="14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</a:t>
            </a:r>
          </a:p>
          <a:p>
            <a:pPr algn="l"/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4 해상도 × 3 계층으로 관측 확장</a:t>
            </a:r>
          </a:p>
          <a:p>
            <a:pPr algn="l"/>
            <a:r>
              <a:rPr lang="ko-KR" sz="11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최선 단일 해상도 대비 +4.95 / +2.10pp</a:t>
            </a:r>
          </a:p>
        </p:txBody>
      </p:sp>
      <p:sp>
        <p:nvSpPr>
          <p:cNvPr id="28" name="Arrow 1 ①"/>
          <p:cNvSpPr/>
          <p:nvPr/>
        </p:nvSpPr>
        <p:spPr>
          <a:xfrm>
            <a:off x="4165600" y="3016250"/>
            <a:ext cx="215900" cy="139700"/>
          </a:xfrm>
          <a:prstGeom prst="rightArrow">
            <a:avLst/>
          </a:prstGeom>
          <a:solidFill>
            <a:srgbClr val="16386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29" name="Arrow 2 ①"/>
          <p:cNvSpPr/>
          <p:nvPr/>
        </p:nvSpPr>
        <p:spPr>
          <a:xfrm rot="5400000">
            <a:off x="7632700" y="3009900"/>
            <a:ext cx="152400" cy="152400"/>
          </a:xfrm>
          <a:prstGeom prst="triangle">
            <a:avLst/>
          </a:prstGeom>
          <a:solidFill>
            <a:srgbClr val="16386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0" name="RowLabel ②-a"/>
          <p:cNvSpPr txBox="1"/>
          <p:nvPr/>
        </p:nvSpPr>
        <p:spPr>
          <a:xfrm>
            <a:off x="965200" y="3632200"/>
            <a:ext cx="584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600" b="0" dirty="0">
                <a:solidFill>
                  <a:srgbClr val="163866"/>
                </a:solidFill>
                <a:latin typeface="NanumSquareOTF_ac"/>
                <a:ea typeface="NanumSquareOTF_ac"/>
                <a:cs typeface="NanumSquareOTF_ac"/>
              </a:rPr>
              <a:t>②-a</a:t>
            </a:r>
          </a:p>
        </p:txBody>
      </p:sp>
      <p:sp>
        <p:nvSpPr>
          <p:cNvPr id="31" name="Problem ②-a"/>
          <p:cNvSpPr/>
          <p:nvPr/>
        </p:nvSpPr>
        <p:spPr>
          <a:xfrm>
            <a:off x="1574800" y="3632200"/>
            <a:ext cx="25400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5B8"/>
            </a:solidFill>
          </a:ln>
        </p:spPr>
        <p:txBody>
          <a:bodyPr wrap="square" lIns="127000" tIns="50800" rIns="76200" bIns="50800" anchor="ctr">
            <a:noAutofit/>
          </a:bodyPr>
          <a:lstStyle/>
          <a:p>
            <a:pPr algn="l"/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늘린 관측은 거리 척도가 다르고,</a:t>
            </a:r>
            <a:br>
              <a:rPr lang="ko-KR" sz="1300"/>
            </a:br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한 bank로 합치면 정상 변동이 섞임</a:t>
            </a:r>
          </a:p>
        </p:txBody>
      </p:sp>
      <p:sp>
        <p:nvSpPr>
          <p:cNvPr id="32" name="Motivation ②-a"/>
          <p:cNvSpPr/>
          <p:nvPr/>
        </p:nvSpPr>
        <p:spPr>
          <a:xfrm>
            <a:off x="4445000" y="3632200"/>
            <a:ext cx="31242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5B8"/>
            </a:solidFill>
          </a:ln>
        </p:spPr>
        <p:txBody>
          <a:bodyPr wrap="square" lIns="127000" tIns="50800" rIns="76200" bIns="50800" anchor="ctr">
            <a:noAutofit/>
          </a:bodyPr>
          <a:lstStyle/>
          <a:p>
            <a:pPr algn="l"/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결합 전에 점수 척도를 데이터 기준으로</a:t>
            </a:r>
            <a:br>
              <a:rPr lang="ko-KR" sz="1300"/>
            </a:br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맞춰야 함 (Kim 2021, ViM 2022)</a:t>
            </a:r>
          </a:p>
        </p:txBody>
      </p:sp>
      <p:sp>
        <p:nvSpPr>
          <p:cNvPr id="33" name="Contribution ②-a"/>
          <p:cNvSpPr/>
          <p:nvPr/>
        </p:nvSpPr>
        <p:spPr>
          <a:xfrm>
            <a:off x="7848600" y="3632200"/>
            <a:ext cx="3302000" cy="8382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5875">
            <a:solidFill>
              <a:srgbClr val="163866"/>
            </a:solidFill>
          </a:ln>
        </p:spPr>
        <p:txBody>
          <a:bodyPr wrap="square" lIns="114300" tIns="50800" rIns="38100" bIns="50800" anchor="ctr">
            <a:noAutofit/>
          </a:bodyPr>
          <a:lstStyle/>
          <a:p>
            <a:pPr algn="l"/>
            <a:r>
              <a:rPr lang="ko-KR" sz="14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관측별 bank + Scale Calibration</a:t>
            </a:r>
          </a:p>
          <a:p>
            <a:pPr algn="l"/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정상 support LSO 거리의 q95를 1로</a:t>
            </a:r>
          </a:p>
          <a:p>
            <a:pPr algn="l"/>
            <a:r>
              <a:rPr lang="ko-KR" sz="11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단일 bank 대비 +2.09pp, MAD 대비 최대 +1.69pp</a:t>
            </a:r>
          </a:p>
        </p:txBody>
      </p:sp>
      <p:sp>
        <p:nvSpPr>
          <p:cNvPr id="34" name="Arrow 1 ②-a"/>
          <p:cNvSpPr/>
          <p:nvPr/>
        </p:nvSpPr>
        <p:spPr>
          <a:xfrm>
            <a:off x="4165600" y="3981450"/>
            <a:ext cx="215900" cy="139700"/>
          </a:xfrm>
          <a:prstGeom prst="rightArrow">
            <a:avLst/>
          </a:prstGeom>
          <a:solidFill>
            <a:srgbClr val="16386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5" name="Arrow 2 ②-a"/>
          <p:cNvSpPr/>
          <p:nvPr/>
        </p:nvSpPr>
        <p:spPr>
          <a:xfrm rot="5400000">
            <a:off x="7632700" y="3975100"/>
            <a:ext cx="152400" cy="152400"/>
          </a:xfrm>
          <a:prstGeom prst="triangle">
            <a:avLst/>
          </a:prstGeom>
          <a:solidFill>
            <a:srgbClr val="16386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36" name="RowLabel ②-b"/>
          <p:cNvSpPr txBox="1"/>
          <p:nvPr/>
        </p:nvSpPr>
        <p:spPr>
          <a:xfrm>
            <a:off x="965200" y="4610100"/>
            <a:ext cx="584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600" b="0" dirty="0">
                <a:solidFill>
                  <a:srgbClr val="163866"/>
                </a:solidFill>
                <a:latin typeface="NanumSquareOTF_ac"/>
                <a:ea typeface="NanumSquareOTF_ac"/>
                <a:cs typeface="NanumSquareOTF_ac"/>
              </a:rPr>
              <a:t>②-b</a:t>
            </a:r>
          </a:p>
        </p:txBody>
      </p:sp>
      <p:sp>
        <p:nvSpPr>
          <p:cNvPr id="37" name="Problem ②-b"/>
          <p:cNvSpPr/>
          <p:nvPr/>
        </p:nvSpPr>
        <p:spPr>
          <a:xfrm>
            <a:off x="1574800" y="4610100"/>
            <a:ext cx="25400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5B8"/>
            </a:solidFill>
          </a:ln>
        </p:spPr>
        <p:txBody>
          <a:bodyPr wrap="square" lIns="127000" tIns="50800" rIns="76200" bIns="50800" anchor="ctr">
            <a:noAutofit/>
          </a:bodyPr>
          <a:lstStyle/>
          <a:p>
            <a:pPr algn="l"/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Shallow 점수에는 결함뿐 아니라</a:t>
            </a:r>
            <a:br>
              <a:rPr lang="ko-KR" sz="1300"/>
            </a:br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정상 질감 반응도 섞임</a:t>
            </a:r>
          </a:p>
        </p:txBody>
      </p:sp>
      <p:sp>
        <p:nvSpPr>
          <p:cNvPr id="38" name="Motivation ②-b"/>
          <p:cNvSpPr/>
          <p:nvPr/>
        </p:nvSpPr>
        <p:spPr>
          <a:xfrm>
            <a:off x="4445000" y="4610100"/>
            <a:ext cx="31242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AA5B8"/>
            </a:solidFill>
          </a:ln>
        </p:spPr>
        <p:txBody>
          <a:bodyPr wrap="square" lIns="127000" tIns="50800" rIns="76200" bIns="50800" anchor="ctr">
            <a:noAutofit/>
          </a:bodyPr>
          <a:lstStyle/>
          <a:p>
            <a:pPr algn="l"/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Deep은 안정적 기준선, Shallow는 민감하나</a:t>
            </a:r>
            <a:br>
              <a:rPr lang="ko-KR" sz="1300"/>
            </a:br>
            <a:r>
              <a:rPr lang="ko-KR" sz="13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정상 외관에도 반응 (Raghu 2021)</a:t>
            </a:r>
          </a:p>
        </p:txBody>
      </p:sp>
      <p:sp>
        <p:nvSpPr>
          <p:cNvPr id="39" name="Contribution ②-b"/>
          <p:cNvSpPr/>
          <p:nvPr/>
        </p:nvSpPr>
        <p:spPr>
          <a:xfrm>
            <a:off x="7848600" y="4610100"/>
            <a:ext cx="3302000" cy="8382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5875">
            <a:solidFill>
              <a:srgbClr val="163866"/>
            </a:solidFill>
          </a:ln>
        </p:spPr>
        <p:txBody>
          <a:bodyPr wrap="square" lIns="114300" tIns="50800" rIns="38100" bIns="50800" anchor="ctr">
            <a:noAutofit/>
          </a:bodyPr>
          <a:lstStyle/>
          <a:p>
            <a:pPr algn="l"/>
            <a:r>
              <a:rPr lang="ko-KR" sz="14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Deep-Anchored Weighting</a:t>
            </a:r>
          </a:p>
          <a:p>
            <a:pPr algn="l"/>
            <a:r>
              <a:rPr lang="ko-KR" sz="13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S = z_d + 0.125·z5</a:t>
            </a:r>
          </a:p>
          <a:p>
            <a:pPr algn="l"/>
            <a:r>
              <a:rPr lang="ko-KR" sz="11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Shallow 전체 가산(λ = 1) 대비 +5.55pp</a:t>
            </a:r>
          </a:p>
        </p:txBody>
      </p:sp>
      <p:sp>
        <p:nvSpPr>
          <p:cNvPr id="40" name="Arrow 1 ②-b"/>
          <p:cNvSpPr/>
          <p:nvPr/>
        </p:nvSpPr>
        <p:spPr>
          <a:xfrm>
            <a:off x="4165600" y="4959350"/>
            <a:ext cx="215900" cy="139700"/>
          </a:xfrm>
          <a:prstGeom prst="rightArrow">
            <a:avLst/>
          </a:prstGeom>
          <a:solidFill>
            <a:srgbClr val="16386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1" name="Arrow 2 ②-b"/>
          <p:cNvSpPr/>
          <p:nvPr/>
        </p:nvSpPr>
        <p:spPr>
          <a:xfrm rot="5400000">
            <a:off x="7632700" y="4953000"/>
            <a:ext cx="152400" cy="152400"/>
          </a:xfrm>
          <a:prstGeom prst="triangle">
            <a:avLst/>
          </a:prstGeom>
          <a:solidFill>
            <a:srgbClr val="16386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cxnSp>
        <p:nvCxnSpPr>
          <p:cNvPr id="42" name="Divider"/>
          <p:cNvCxnSpPr/>
          <p:nvPr/>
        </p:nvCxnSpPr>
        <p:spPr>
          <a:xfrm>
            <a:off x="1193800" y="5511800"/>
            <a:ext cx="9956800" cy="0"/>
          </a:xfrm>
          <a:prstGeom prst="line">
            <a:avLst/>
          </a:prstGeom>
          <a:ln w="9525">
            <a:solidFill>
              <a:srgbClr val="B8C0CC"/>
            </a:solidFill>
          </a:ln>
        </p:spPr>
      </p:cxnSp>
      <p:sp>
        <p:nvSpPr>
          <p:cNvPr id="43" name="Verification Label"/>
          <p:cNvSpPr txBox="1"/>
          <p:nvPr/>
        </p:nvSpPr>
        <p:spPr>
          <a:xfrm>
            <a:off x="965200" y="5664200"/>
            <a:ext cx="584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600" b="0" dirty="0">
                <a:solidFill>
                  <a:srgbClr val="163866"/>
                </a:solidFill>
                <a:latin typeface="NanumSquareOTF_ac"/>
                <a:ea typeface="NanumSquareOTF_ac"/>
                <a:cs typeface="NanumSquareOTF_ac"/>
              </a:rPr>
              <a:t>③</a:t>
            </a:r>
          </a:p>
        </p:txBody>
      </p:sp>
      <p:sp>
        <p:nvSpPr>
          <p:cNvPr id="44" name="Verification Text"/>
          <p:cNvSpPr txBox="1"/>
          <p:nvPr/>
        </p:nvSpPr>
        <p:spPr>
          <a:xfrm>
            <a:off x="1574800" y="5664200"/>
            <a:ext cx="1003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5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검증</a:t>
            </a:r>
            <a:r>
              <a:rPr lang="ko-KR" sz="1500" b="0" dirty="0">
                <a:solidFill>
                  <a:srgbClr val="222B38"/>
                </a:solidFill>
                <a:latin typeface="NanumSquareOTF_ac"/>
                <a:ea typeface="NanumSquareOTF_ac"/>
                <a:cs typeface="NanumSquareOTF_ac"/>
              </a:rPr>
              <a:t>   관측 확장(구성) 이득과 결합 이득을 통제 실험으로 분리  ·  AD2 16-shot 3-seed AUPRO@0.05 SuperAD 대비 +4.17pp</a:t>
            </a:r>
          </a:p>
        </p:txBody>
      </p:sp>
    </p:spTree>
    <p:extLst>
      <p:ext uri="{BB962C8B-B14F-4D97-AF65-F5344CB8AC3E}">
        <p14:creationId xmlns:p14="http://schemas.microsoft.com/office/powerpoint/2010/main" val="74101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① 단서 부족 → 관측 확장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few-shot에서는 정상 표본이 희소해, 미세 결함을 가를 시각 단서가 부족함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 관찰이 dense prediction을 개선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해상도(토큰 1개 = 짧은 변 3.1% → 1.25%) × 3 계층(Deep 11·23, Shallow 5)으로 관측 확장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 결합이 최선 단일 해상도보다 AUPRO@0.05 +4.95pp(2-shot), +2.10pp(16-shot) (표 10a)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캐시된 bag 평균 계층별 정규화 맵을 z_d + 0.125·z5로 재구성한 표시용 예시 (새 평가 아님). 높은 해상도는 기존 영상의 세밀한 표본화이며 새 정상 변동을 만들지 않음. 출처: PaperWorks/outlines/Outline_v18.md §1.2 (1)(2), §2.2,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②-a 관측 간 척도 차이 → 단위 정렬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관측마다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bank를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따로 두면 정상 거리 척도가 달라지므로, 결합 전에 정상 기준으로 단위를 맞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춤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134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 dirty="0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한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bank로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합치면 정상 변동이 섞이고, 나누면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bank마다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거리 척도가 다름 (아래 왼쪽)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 dirty="0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점수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맵의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정규화</a:t>
            </a:r>
            <a:r>
              <a:rPr lang="ko-KR" altLang="en-US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에 따라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결과</a:t>
            </a:r>
            <a:r>
              <a:rPr lang="ko-KR" altLang="en-US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가 바뀌며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(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Kim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2021), 이질적 점수는 결합 전 척도를 맞춤(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ViM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2022)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 dirty="0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관측별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bank를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유지하고, 각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bank의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정상 LSO 거리 q95를 1로 정렬 (아래 오른쪽)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 dirty="0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단일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57.48%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vs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관측별 </a:t>
            </a:r>
            <a:r>
              <a:rPr lang="ko-KR" sz="1600" b="0" dirty="0" err="1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</a:t>
            </a:r>
            <a:r>
              <a:rPr lang="ko-KR" sz="1600" b="0" dirty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 59.57% (+2.09pp, 표 8), q95 &gt; MAD +0.76–1.69pp (표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실제 support LSO 거리 (AD2 walnuts, 16-shot, 672 px, bag 0, 계층당 4,096개; 캐시). 원고 진단: 12개 컴포넌트의 q95 척도 차이 평균 약 1.8배. q95의 정규화 생략 대비 이득은 주장하지 않음. 출처: PaperWorks/outlines/Outline_v18.md §1.2 "관측 결합의 어려움", 표 8, 8d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lso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874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②-b Shallow 정상 반응 → Deep 기준 가중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단위를 맞춰도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점수에는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서로 다른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정상 질감 반응이 섞이므로,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Deep을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기준선으로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Shallow는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작게 더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함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Shallow(L5)는 미세 결함에 민감하지만 정상 질감·외관에도 반응 → λ = 1이면 정상 walnut 전체가 밝아짐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조명·색 변화에 둔감한 안정적 의미 기준선을 제공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Deep-Anchored Weighting — S = z_d + 0.125·z5 (임계값·학습 가중치 없음)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 전체 가산(λ = 1) 54.02% vs λ = 0.125 59.57% (+5.55pp, 표 8b)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캐시된 bag 평균 계층별 정규화 맵을 z_d + 0.125·z5로 재구성한 표시용 예시 (새 평가 아님). λ는 AD2 2-shot seed 0로 선택(post-hoc). 출처: PaperWorks/outlines/Outline_v18.md §1.2 (1),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40" y="2977896"/>
            <a:ext cx="7446615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①의 관측 확장과 ②의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보정·가중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결합을 제안하고, ③에서 두 이득을 통제 실험으로 분리해 검증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011352"/>
              </p:ext>
            </p:extLst>
          </p:nvPr>
        </p:nvGraphicFramePr>
        <p:xfrm>
          <a:off x="640079" y="1691639"/>
          <a:ext cx="1092707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해결하는 문제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 단서 부족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계층(Shallow / Deep) 두 관측 축을 확장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 rowSpan="2"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Deep-Anchored Fusion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②-a 척도 차이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정상 q95 척도 보정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대비 +0.76–1.69pp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②-b Shallow 정상 반응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기준선 + Shallow 고정 가중 가산 (λ = 0.125),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+5.55pp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①·② 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통제 실험으로 분리, AD2 few-shot 비교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  <a:r>
                        <a:rPr lang="ko-KR" sz="1200" b="0" dirty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대비 3-seed</a:t>
                      </a:r>
                    </a:p>
                    <a:p>
                      <a:pPr algn="ctr"/>
                      <a:r>
                        <a:rPr lang="ko-KR" sz="1200" b="0" dirty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 (②-a)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 (①)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 (②-a)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 (문제)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개요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support로 48개 bank와 단위 c_m을 한 번 구하고(A), query마다 정렬 → 가중 결합 → 평균한다(B)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1 (PaperWorks/figures/fig_scopead_overview.png, 2026-10-12 14:46 수정본). Heatmap은 캐시된 bag 평균 계층별 정규화 맵에서 linear0125로 재구성한 표시용 예시(r = 672 표시), GT 윤곽은 최종 맵 표시용, CQ는 개요도에서 제외.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pic>
        <p:nvPicPr>
          <p:cNvPr id="8" name="ContentFigure" descr="fig_scopead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68" y="1572768"/>
            <a:ext cx="10220960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피팅과 추론의 2단계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피팅은 support마다 한 번, 추론은 query마다 같은 규칙으로 수행하며 학습되는 값은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입력은 정상 support N장, query, 동결 DINOv2-L/14이고, 출력은 픽셀 결함 맵 A(x^q)와 이미지 점수 s(x^q)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피팅: 컴포넌트 m = (l, r, b) 48개 정의 → 전용 bank B_m 생성 → LSO 정상 거리 D_m 측정 → c_m = Q0.95(D_m). 추론: 4 해상도 특징 추출 → 48개 bank 1-NN 거리 d_m → z_m = d_m / c_m → (r, b)마다 S = z_d + 0.125·z5 → bag 평균 → 해상도 보간 평균 → A, s. 컴포넌트는 같은 support·backbone을 공유하며 독립성을 가정하지 않음. 출처: PaperWorks/outlines/Outline_v18.md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9" name="ContentFigure" descr="two_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27" y="2072640"/>
            <a:ext cx="10754840" cy="40995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뱅크 구축 방식의 차이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기존 방법은 특징을 통합해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bank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하나를 만들고,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ScopeAD는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특징·해상도·bag마다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bank를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따로 만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듦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이어 붙인 bank 1개 → 1-NN 거리 1개라 단위 정렬은 필요 없지만 계층별 정상 변동이 섞임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ScopeAD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 3 × 해상도 4 × bag 4 = 48개 bank를 두고, bank마다 1-NN 거리 맵을 따로 계산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bank마다 정상 거리 분포가 다르므로 c_m = Q0.95(LSO 거리)로 단위를 맞춘 뒤 z_d + 0.125·z5로 더함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방법은 Outline §1.2·§2.1의 서술(계층 특징 concat, coreset 메모리)과 표 3 기준. 같은 저장 용량에서 단일 bank 57.48% vs 관측별 bank 59.57% (표 8 (d), AD2 16-shot seed 0). 출처: PaperWorks/outlines/Outline_v18.md §3.1–3.3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31638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해상도와 계층 구성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패치 크기는 14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px로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고정되므로, 해상도가 높을수록 같은 영역을 더 많은 토큰으로 관찰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해상도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짧은 변을 448 / 672 / 896 / 1120 px로 맞춰, 토큰 1개가 덮는 길이가 3.1% → 1.25%로 줄어듦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계층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DINOv2-L/14의 5·11·23번째 블록 출력 (5 = Shallow, 11·23 = Deep), 모든 query에 같은 구성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같은 확대 영역(짧은 변의 1/4)을 덮는 토큰 격자. 정사각 기준 토큰 수 1,024 / 2,304 / 4,096 / 6,400. 높은 해상도는 기존 영상의 세밀한 표본화이며 새로운 정상 변동을 만들지 않음.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resolution_gr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6173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배깅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이미지당 256토큰을 4번 독립 추출해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4개를 만들고,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bag마다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별도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bank와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기준을 둠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① 해상도 r에서 support 이미지마다 패치 토큰 256개를 무작위 비복원 추출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② 서로 다른 난수 시드 4개로 반복 → 독립 bag b ∈ {1, 2, 3, 4}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③ 같은 bag 안에서 세 계층은 같은 공간 위치의 토큰을 공유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④ (l, r, b) 조합 = 컴포넌트 m, 총 48개 · 16-shot bank 1개 = 16 × 256 = 4,096토큰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 그림 M1: hazelnut query(1120 px)의 bag별 점수 맵, 4-bag 평균, 픽셀별 bag 간 표준편차(평균 0.038).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7896"/>
            <a:ext cx="10917936" cy="23670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Bag를 사용하는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bag는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</a:t>
            </a:r>
            <a:r>
              <a:rPr lang="en-US" alt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computational cost</a:t>
            </a:r>
            <a:r>
              <a:rPr lang="ko-KR" altLang="en-US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를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줄이며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, 표본 우연성을 평균으로 상쇄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메모리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토큰 대신 이미지당 256토큰만 저장 → 16-shot bank 1개 = 4,096토큰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표본 우연성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한 번만 뽑으면 어떤 정상 토큰이 뽑혔는지에 따라 거리가 흔들림 → 시드가 다른 bag 4개의 점수를 평균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단위 정렬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bag마다 뽑힌 토큰이 달라 정상 거리 분포도 다름 → bag도 컴포넌트로 보고 c_m을 따로 구함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그림 M1에서 bag 간 픽셀 표준편차 평균 0.038, 4-bag 평균이 희소 표본화 차이를 완화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 (§3.2): "VRAM 사용량을 낮추고 표본화 분산을 줄이면서 다층·다해상도 패치 특징을 저장하는 참조 뱅크를 구축한다". 참고: 1120 px에서 모든 토큰을 저장하면 정사각 기준 6,400 × 16장 = 102,400토큰/계층 (§3.2 표로 계산). 그림의 선택 위치는 예시용 무작위 추출(실제 실행 인덱스 아님). 출처: PaperWorks/outlines/Outline_v18.md §3.1–3.2, §3.5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bag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48" y="2977896"/>
            <a:ext cx="10656198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bank의 정상 LSO 거리 분포에서 q95를 구해, query 거리를 그 단위로 나눈다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bank B_m, query 특징 f_m(x^q, p), q (기본 0.95). 출력: 단위 척도 c_m, 무차원 점수 맵 z_m. 출처: PaperWorks/outlines/Outline_v18.md §3.1 공통 연산자, §3.3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8" name="ContentFigure" descr="eq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17936" cy="41684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해석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= 1은 그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bank의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정상 상위 5% 경계이며, 결합 전 관측 간 비중을 맞추는 기준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z = 1.0 / 2.0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패치 거리가 정상 상위 5% 경계와 같음 / 그 2배 — 결합 전 support 참조 단위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 기준점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LSO 정상 거리 표본에서 z ≤ 1인 비율 ≈ 95%, 최종 판정 임계값은 결합 맵에서 따로 정함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(오른쪽)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d = 0.178이 Layer 5 기준(0.123)은 넘고 Layer 23 기준(0.232)은 못 넘음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M2: hazelnut 1120 px, bag 평균, d*는 예시값. 파라미터 상태: q 민감도 표 11, 정규화 방식 비교 표 8c·8d.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평균을 기준선으로 두고,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정규화된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</a:t>
            </a: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점수를 고정 가중치로 더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함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규격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임계값·게이트·학습되는 가중치 없음, 계층마다 bank와 점수 맵을 유지한 채 점수 단위에서 결합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선택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(post-hoc, 재조정 없음)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z5는 정규화 뒤 점수라 λ의 상대 기여는 정규화 방식에 따라 다름 → 방식 간 같은 λ를 직접 비교하지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Deep 기준선에 shallow 관측을 고정 가중치로 가산해 관측 축을 깊이 방향으로 확장. 입력: z_l,r,b (l = 5, 11, 23), λ = 0.125.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eq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14854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예시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 dirty="0" err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</a:t>
            </a:r>
            <a:r>
              <a:rPr lang="ko-KR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 가산분은 0.05–0.375로 작아, 정상 면의 점수를 크게 올리지 않</a:t>
            </a:r>
            <a:r>
              <a:rPr lang="ko-KR" altLang="en-US" sz="16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음</a:t>
            </a:r>
            <a:endParaRPr lang="ko-KR" sz="1600" b="1" dirty="0">
              <a:solidFill>
                <a:srgbClr val="163866"/>
              </a:solidFill>
              <a:latin typeface="NanumSquareOTF_ac Bold"/>
              <a:ea typeface="NanumSquareOTF_ac Bold"/>
              <a:cs typeface="NanumSquareOTF_ac Bold"/>
            </a:endParaRP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값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변화 면은 0.806, 미세 스크래치는 1.200 — z5 전체를 더하면 각각 1.90과 3.65까지 오름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실제 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0.125·z5는 같은 색 범위에서 거의 보이지 않을 만큼 작고, λ = 1이면 정상 껍질까지 밝아짐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Outline §3.4 예시 계산(실측 아님, 전체 가산 = z_d + z5). 아래: hazelnut 1120 px, bag 평균, 색 범위 [0, 2]. 맵은 캐시된 bag 평균 계층별 정규화 맵을 z_d + 0.125·z5로 재구성한 표시용 예시 (새 평가 아님).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08" y="2343912"/>
            <a:ext cx="7801679" cy="2262167"/>
          </a:xfrm>
          <a:prstGeom prst="rect">
            <a:avLst/>
          </a:prstGeom>
        </p:spPr>
      </p:pic>
      <p:pic>
        <p:nvPicPr>
          <p:cNvPr id="10" name="ContentFigure" descr="fusion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08" y="4697519"/>
            <a:ext cx="7801679" cy="1447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이미지 점수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 평균 → 4개 해상도 보간 평균으로 픽셀 맵을 만들고, 상위 1% 픽셀 평균을 이미지 점수로 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각 (r, b)의 결합 점수 맵 S_r,b, R = {448, 672, 896, 1120}. 출력: A(x^q) ∈ R^(H×W), s(x^q). 출처: PaperWorks/outlines/Outline_v18.md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8" name="ContentFigure" descr="eq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917936" cy="32354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파라미터 규격과 재현성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모든 값은 사전에 고정하고, 추론에는 역전파·파라미터 갱신·테스트 라벨을 쓰지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백본은 동결 DINOv2-L/14(약 304M, 패치 14)이고, support 수 N은 1, 2, 4, 8, 16장이다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관측은 계층 {5, 11, 23}, 짧은 변 {448, 672, 896, 1120}, bag 4개 × 이미지당 256토큰으로 고정한다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결합은 q = 0.95와 λ = 0.125(Layer 5에만)이며, λ는 AD2 2-shot seed 0로 고른 뒤 고정했다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계산은 FP16 autocast, bank 256토큰/source이며, 선택적으로 연결 성분 최댓값 채움(CQ) 후처리를 쓴다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모든 실험은 seed 0·1·2와 고정 support manifest로 결정론적으로 실행된다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 등 ablation 실행 조건은 CQ99. 출처: PaperWorks/outlines/Outline_v18.md §3.6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569208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tIns="109728" rIns="182880" bIns="109728">
            <a:spAutoFit/>
          </a:bodyPr>
          <a:lstStyle/>
          <a:p>
            <a:r>
              <a:rPr lang="ko-KR" sz="15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학습되는 값 없음  </a:t>
            </a:r>
            <a:r>
              <a:rPr lang="ko-KR" sz="15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임계값·게이트·학습 가중치 없이, 정상 support에서 계산한 bank와 단위 c_m만 query 추론에 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 dirty="0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데이터 (표 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평가는 여러 조명이 섞인 MVTec AD 2 test_public이고, support는 regular 조명에서 고른다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Shift 1–3 조명은 support에 없던 변화 → 조명 변화 아래의 국소화를 함께 평가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test_private,mix는 대응 장면의 seen/unseen 조명을 섞은 별도 split (public·private 합집합 아님)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0967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지표는 AUPRO@0.05이며, 연속 점수 지표는 임계값 없이 점수 맵에서 바로 계산한다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설정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few-shot 평가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2test_public; 8 classes; 1/2/4/8/16 normal support images per class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Seed / 집계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4: 비교군은 seed 0–2 mean ± sample SD, Ours(linear0125)는 2·16-shot이 seed 0–2, 1·4·8-shot은 seed 0 단일값. 표 5: 모든 방법 seed 0 단일값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/ VisA 범위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 classes, VisA 12 classes; 1/2/4-shot 표는 §4.2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Primary metric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AUPRO@0.05 (%)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보조 metric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pAUROC@0.05, I-AUROC (%)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연속 score metric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AUPRO·pAUROC는 anomaly score map에서 계산; I-AUROC는 SuperAD/PatchCore와 동일하게 anomaly score map 상위 1% 평균(top-1% mean)을 기준으로 집계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F1 threshold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train/good 중 16-shot support 제외 후 매 8번째 이미지를 calibration에 사용; class별 calibration pixel score p95 × 1.421. Private GT 미사용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F1 oracle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label로 threshold를 선택하는 진단값; 운영 지표 표에는 포함하지 않음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비교군은 유효 입력을 1120으로 바꿔 다시 실행했고,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모든 방법은 같은 support 경로·query·evaluator 사용. FastRecon·RAD는 논문 식의 독립 구현, SuperAD는 공통 support 사용 (원 논문은 전체 train coreset) → 외부 비교는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feature layers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resolution · 추가 설정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 configuration)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(표 4)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1–16 shot 세 지표 모두 1위, 16-shot 3-seed AUPRO@0.05는 SuperAD보다 +4.17pp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AUPRO@0.05는 비교군 최고값 대비 +3.24–8.50pp (1-shot 최대). 비교군: seed 0–2 8-class macro의 mean ± sample SD, 1120 입력 FP32. ‡ ScopeAD: 2·16-shot 3-seed, 1·4·8-shot seed 0 단일값, FP16·4 해상도. † RegAD는 공식 STN 구조상 224. 굵게 = 최고, 밑줄 = 차상위. 출처: PaperWorks/outlines/Outline_v18.md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4074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Metric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(224)†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ScopeAD‡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54.81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73.32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74.47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56.03 ± 2.99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75.86 ± 0.59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74.93 ± 1.54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58.69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76.87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75.71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58.68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77.35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75.41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60.06 ± 0.88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77.61 ± 0.37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75.92 ± 0.82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비교 (표 5)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I-AUROC는 10개 조건 중 7개에서 1위, P-AUROC는 최고값과 0.04–1.36pp 이내다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 조건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단일, support hash 일치 클래스 macro (MVTec AD 15, VisA 12). 각 셀 I-AUROC / P-AUROC(전체 FPR). FastRecon = E9 DINOv2 기반 변형. linear0125 hash 재감사는 수집 단계 과제.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26920"/>
          <a:ext cx="10917936" cy="36758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u="sng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92.54 / 96.93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92.76 / 96.77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95.61 /97.87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96.99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96.76 /98.16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97.60 / 97.93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98.52 /98.38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u="sng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98.94 / 98.09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85.44 /98.09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u="sng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90.29 / 97.06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92.20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u="sng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92.94 / 98.02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94.19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u="sng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94.50 / 98.29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u="sng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95.01 / 98.25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(표 6)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Ours 행은 이전 게이트 설정의 제출 결과이며, linear0125로 같은 절차로 재제출해 교체해야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TESTpriv,mix. † Layer 5 β = 0.99 초과 잔차를 더한 이전 설정. ClassF1·SegF1 임계값: support 제외 train/good 8번째 간격 샘플 pixel p95 × 1.421 (private label 미사용). Full-data 행은 원 논문·리더보드 수치로 데이터 예산·백본·입력·후처리가 달라 순위화하지 않음. 출처: PaperWorks/outlines/Outline_v18.md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29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462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5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(a) Few-shot (16-shot)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64.80 / 62.49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76.38 / 77.52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34.84 / 30.68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Full-data Reference (출판/리더보드)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분포 변화 평가 (그림 2 · 표 7)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조명 strata(그림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ScopeAD 선은 게이트 결과라 사용하지 않음 → condition strata 집계를 켜고 재평가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비교군만 확보, Gaussian noise에서 PatchCore 74.03 / 83.66이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pAUROC@0.05. MVTec AD 15클래스, 16-shot, seed 0, severity 3, support는 깨끗한 이미지. † DINOv2 기반 프로젝트 변형(표 4의 fastrecon_paper와 다른 구성). 출처: PaperWorks/outlines/Outline_v18.md §4.3.2–4.3.3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74.03 / 83.66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85.74 / 90.82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82.35 / 88.90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83.68 /88.47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82.27 /87.86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(표 8)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어느 구성을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 / 결합: 단일 bank −2.09, 3계층 동일 가중 −1.36, MAD −1.05pp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bank는 같은 저장 float 수·코사인 거리 정의를 유지 → bank 구조 차이만 분리 (pAUROC −2.66pp)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AUPRO −0.40pp, pAUROC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top-1% mean 이미지 점수, 동일 support. 각 행은 Full에서 한 구성만 바꿈. 단일 seed 개발 비교.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3802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Score normalization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Full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77.65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데이터셋 · shot별 구성 소거 (표 8a)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= AUPRO@0.05 / pAUROC@0.05, MVTec AD·VisA = I-AUROC / P-AUROC(전체 FPR). seed 0 단일값. AD2 1/4/8-shot은 로컬 4090, 2/16-shot Full은 fusion sensitivity 실행의 동일 설정.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999488"/>
          <a:ext cx="10917936" cy="4087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 normalization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Equal-weight mean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가중치 민감도 (표 8b)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 + z23)/2, s = z5. FP16, 4-scale, cap256, q95, CQ99 고정,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68528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0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MVTec AD · VisA (표 8c)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q95는 MAD보다 모든 shot에서 I-AUROC가 높지만, 정규화 생략(none)보다는 0.07–1.06pp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MAD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I-AUROC +0.47 ~ +1.60pp, VisA +0.34 ~ +1.30pp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AD에서만 q95가 none보다 +0.09 ~ +0.18pp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각 셀 I-AUROC / P-AUROC. 출처: PaperWorks/outlines/Outline_v18.md §4.4.1 표 8c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3101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AD2 (표 8d)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AD2에서 q95는 MAD보다 AUPRO@0.05 +0.76–1.69pp 높고, none과는 −0.33 ~ +0.40pp로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none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평균 +0.02pp, pAUROC는 4개 shot에서 q95가 0.19–0.52pp 낮음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LOO-token vs LSO: AD2 AUPRO 59.45 vs 59.33 (2-shot), 59.55 vs 59.57 (16-shot) → LSO 우위 주장 안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/ I-AUROC. 4 해상도, cap256, 같은 support. none·q95 열은 dsba3 재실행으로 로컬 ablation과 소수 둘째 자리까지 일치 확인. 출처: PaperWorks/outlines/Outline_v18.md §4.4.1 표 8d, calibration support 제외 단위 대조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7767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 (AUPRO)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 (AUPRO)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총 bank 용량 통제 해상도 비교 (표 10)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총 토큰 수를 맞춰도 다해상도가 1120 단일보다 +2.52pp 높다 —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최고 해상도와 총 bank 용량만으로 다해상도 결합의 이득을 설명할 수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설정(E12, RSG3)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71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수 / Bag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AUPRO@0.05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pAUROC@0.05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AUPRO /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AUPRO /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59.15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+2.19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77.11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61.26 / 77.94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59.40 / 77.34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단일 · 다중 해상도 비교 (표 10a)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4개 해상도 결합은 최선의 단일 해상도보다 AUPRO@0.05가 +4.95pp(2-shot), +2.10pp(16-shot)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좋지 않음: 2-shot 최선 672, 16-shot 최선 1120 (1120 대비 2-shot +5.06pp)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달라,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같은 support, seed 0, full8. 각 셀 AUPRO@0.05 / pAUROC@0.05. 출처: PaperWorks/outlines/Outline_v18.md §4.4.3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35352"/>
          <a:ext cx="9509760" cy="29596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59.33 / 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59.57 / 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해상도 비교 (표 10b)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방법에서 4 해상도 결합이 두 데이터셋 · 두 shot의 I-AUROC와 P-AUROC 모두 1120 단일보다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이득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+1.23 / +0.53pp, VisA +5.27 / +1.60pp (2 / 16-shot)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총 bank 용량 효과는 분리하지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각 셀 I-AUROC / P-AUROC. 출처: PaperWorks/outlines/Outline_v18.md §4.4.3 표 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81072"/>
          <a:ext cx="9509760" cy="2456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 해상도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 해상도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척도 분위수 민감도 (표 11)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 = 0.80–0.999에서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낮고, 꼬리확률 변환·토큰별 로컬 척도도 두 shot에서 일관된 개선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12개 컴포넌트 q95 척도 차이 평균 약 1.8배(deep 사이 약 1.4배), 변동계수 0.18–0.24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잔차 게이트 분위수 β는 방법에서 제거. λ = 0.125 고정, seed 0, AD2. 후속: local-center 보정(AD2 2·16-shot, 강도 0.25/0.5) 검증 중, 확정 전에는 성능 기여로 기술하지 않음. 출처: PaperWorks/outlines/Outline_v18.md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27980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Default (2 / 16-shot)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59.33 / 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59.57 / 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효율 · 정성 분석 (표 12 · 12a · 그림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linear0125의 계산 비용과 정성 비교 그림은 아직 계측·작성하지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12·12a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게이트 설정 측정값은 제외, bank 벡터 수만 구성에서 계산 (16-shot, 컴포넌트당 4,096토큰)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3 사양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Regular·Shift 1·Gaussian noise 3행 × (Input, GT, SuperAD, PatchCore, ScopeAD, λ·z5)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SuperAD 측정 조건: AD2 full8 test_public, seed 0, 16-shot, DINOv2 ViT-L/14, FP32, batch 1. 구성 요소별 시간 분해도 linear0125에서 재계측 필요. 출처: PaperWorks/outlines/Outline_v18.md §4.5 표 12·12a, 그림 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1481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Arm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 / class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(ms)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Pooled mean / p95 (ms)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GPU fit / query (GiB)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component banks)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component banks)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tokens; count unspec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803.03 / 1,069.34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9.04 / 9.04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SummaryTable2"/>
          <p:cNvGraphicFramePr>
            <a:graphicFrameLocks noGrp="1"/>
          </p:cNvGraphicFramePr>
          <p:nvPr/>
        </p:nvGraphicFramePr>
        <p:xfrm>
          <a:off x="640080" y="4145280"/>
          <a:ext cx="10917936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Cap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(s/class)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(s/image)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클래스별 query p95 (s/image)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1024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다해상도와 관측별 bank는 서로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(37·36쪽)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(32쪽)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(35쪽)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41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tIns="109728" rIns="182880" bIns="109728">
            <a:spAutoFit/>
          </a:bodyPr>
          <a:lstStyle/>
          <a:p>
            <a:r>
              <a:rPr lang="ko-KR" sz="15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lang="ko-KR" sz="15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비중 조절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42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M3 · 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M3는 게이트 맵, 그림 3은 사양만 확정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Deep·Shallow·결합 맵으로 작성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37, 결합 31·35, 성능 27, 남은 항목 42.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연구 노트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Claim–evidence–status matrix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원고의 각 주장과 근거, 현재 지지 상태를 정리한 저자용 표 (Outline 부록 A.1 그대로)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Claim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핵심 근거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상태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원고 내 기술 원칙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보정이 MAD보다 높다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+0.76~+1.69pp 전 shot (표 8d); MVTec AD·VisA I-AUROC 전 shot (표 8c)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본문에서 사용하는 보정 우위의 범위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보정의 정규화 생략(none) 대비 성능 기여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−0.33~+0.40pp, pAUROC 4/5 shot에서 q95가 낮음 (표 8d); MVTec AD·VisA I-AUROC −0.07~−1.06pp (표 8c)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지지되지 않음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본문은 관측별 bank의 설계 요구와 MAD 대비 우위로 서술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정렬 후에도 shallow 기여량 제어가 필요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16-shotλ=1 54.02, λ=0.5 58.21, λ=0.125 59.57 (표 8b)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λ는 post-hoc 선택임을 명시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 이득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최선 단일 대비 AUPRO +4.95/+2.10pp(2/16-shot, 표 10a); MVTec AD·VisA I/P-AUROC 모두 상승(표 10b); 게이트 설정의 용량 통제 비교 +2.52pp(표 10)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 개발 비교에서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linear0125로 재실행해 교체 예정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λ=0.125 선택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public 2-shot seed 0 AUPRO로 선택(표 8b)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post-hoc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평가로 선택했음을 명시; 다른 데이터셋에서 재조정하지 않음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등 외부 비교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vs 55.89 (+4.17pp), 2-shot 56.03 vs 49.80 (+6.23pp) (표 4); MVTec AD·VisA Ours 3-seed는 표 5b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Ours는 seed 0 단일값임을 명시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private 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6의 64.80 / 62.49는 게이트 설정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후 교체; 본문 초록·결론에서는 인용하지 않음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shift·corruption 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7, 그림 2는 비움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미계측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12, 12a는 비움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82539</TotalTime>
  <Words>8596</Words>
  <Application>Microsoft Macintosh PowerPoint</Application>
  <PresentationFormat>와이드스크린</PresentationFormat>
  <Paragraphs>1330</Paragraphs>
  <Slides>42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8" baseType="lpstr">
      <vt:lpstr>NanumSquareOTF_ac Bold</vt:lpstr>
      <vt:lpstr>NanumSquareOTF_ac</vt:lpstr>
      <vt:lpstr>Wingdings</vt:lpstr>
      <vt:lpstr>NanumSquareOTF_ac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3168</cp:revision>
  <cp:lastPrinted>2025-06-23T01:58:10Z</cp:lastPrinted>
  <dcterms:created xsi:type="dcterms:W3CDTF">2021-02-06T07:11:19Z</dcterms:created>
  <dcterms:modified xsi:type="dcterms:W3CDTF">2026-10-12T06:55:39Z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